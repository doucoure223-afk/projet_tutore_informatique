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9" r:id="rId10"/>
  </p:sldIdLst>
  <p:sldSz cx="18288000" cy="10287000"/>
  <p:notesSz cx="6858000" cy="9144000"/>
  <p:embeddedFontLst>
    <p:embeddedFont>
      <p:font typeface="Etna Sans Serif" panose="020B0604020202020204" charset="0"/>
      <p:regular r:id="rId12"/>
    </p:embeddedFont>
    <p:embeddedFont>
      <p:font typeface="TT Fors" panose="020B0604020202020204" charset="0"/>
      <p:regular r:id="rId13"/>
    </p:embeddedFont>
    <p:embeddedFont>
      <p:font typeface="TT For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FF378-2DCC-4705-8C4E-D11E626075BE}" type="datetimeFigureOut">
              <a:rPr lang="fr-FR" smtClean="0"/>
              <a:t>17/10/2026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27CDD6-1D59-4D9B-8958-570AF0179E2A}" type="slidenum">
              <a:rPr lang="fr-FR" smtClean="0"/>
              <a:t>‹N°›</a:t>
            </a:fld>
            <a:endParaRPr lang="fr-FR"/>
          </a:p>
        </p:txBody>
      </p:sp>
    </p:spTree>
    <p:extLst>
      <p:ext uri="{BB962C8B-B14F-4D97-AF65-F5344CB8AC3E}">
        <p14:creationId xmlns:p14="http://schemas.microsoft.com/office/powerpoint/2010/main" val="3715485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réponse proposée, environ 20 secondes. Trois clics : 1 illustrer la protection de l’application ; 2 filtrer les saisies avant des requêtes préparées ; 3 expliquer le verdict et conserver des traces minimisées. L’assistant conversationnel est consultatif et ne décide pas du blocage. Le MLP est une analyse ciblée et bornée, pas une protection autonome. Les requêtes préparées restent la défense de base.</a:t>
            </a:r>
          </a:p>
        </p:txBody>
      </p:sp>
      <p:sp>
        <p:nvSpPr>
          <p:cNvPr id="4" name="Espace réservé du numéro de diapositive 3"/>
          <p:cNvSpPr>
            <a:spLocks noGrp="1"/>
          </p:cNvSpPr>
          <p:nvPr>
            <p:ph type="sldNum" sz="quarter" idx="5"/>
          </p:nvPr>
        </p:nvSpPr>
        <p:spPr/>
        <p:txBody>
          <a:bodyPr/>
          <a:lstStyle/>
          <a:p>
            <a:fld id="{FD27CDD6-1D59-4D9B-8958-570AF0179E2A}" type="slidenum">
              <a:rPr lang="fr-FR" smtClean="0"/>
              <a:t>3</a:t>
            </a:fld>
            <a:endParaRPr lang="fr-FR"/>
          </a:p>
        </p:txBody>
      </p:sp>
    </p:spTree>
    <p:extLst>
      <p:ext uri="{BB962C8B-B14F-4D97-AF65-F5344CB8AC3E}">
        <p14:creationId xmlns:p14="http://schemas.microsoft.com/office/powerpoint/2010/main" val="296116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Architecture, environ 40 secondes, quatre clics. 1 Le client transmet les paramètres à PHP ; une signature forte conduit directement à la décision. 2 Le MLP local est une branche ciblée : cas à examiner et présélection bornée des quatre premières valeurs non immédiatement bloquées. 3 En mode blocage, le filtre peut arrêter la requête et renvoyer HTTP 403 ; sinon l’application utilise une requête préparée avant MariaDB. En mode observation, le verdict SQLi est consigné sans ce blocage. 4 Le journal et la console reçoivent les traces minimisées. Les compteurs autorisés alimentent séparément LangGraph et Ollama, en lecture seule. Aucun chemin LLM vers le verdict ou la base. Sources : security/hybrid_analyzer.php, config/ai.php, ia/README.md, ia/ASSISTANT_LANGGRAPH.md.</a:t>
            </a:r>
          </a:p>
        </p:txBody>
      </p:sp>
      <p:sp>
        <p:nvSpPr>
          <p:cNvPr id="4" name="Espace réservé du numéro de diapositive 3"/>
          <p:cNvSpPr>
            <a:spLocks noGrp="1"/>
          </p:cNvSpPr>
          <p:nvPr>
            <p:ph type="sldNum" sz="quarter" idx="5"/>
          </p:nvPr>
        </p:nvSpPr>
        <p:spPr/>
        <p:txBody>
          <a:bodyPr/>
          <a:lstStyle/>
          <a:p>
            <a:fld id="{FD27CDD6-1D59-4D9B-8958-570AF0179E2A}" type="slidenum">
              <a:rPr lang="fr-FR" smtClean="0"/>
              <a:t>4</a:t>
            </a:fld>
            <a:endParaRPr lang="fr-FR"/>
          </a:p>
        </p:txBody>
      </p:sp>
    </p:spTree>
    <p:extLst>
      <p:ext uri="{BB962C8B-B14F-4D97-AF65-F5344CB8AC3E}">
        <p14:creationId xmlns:p14="http://schemas.microsoft.com/office/powerpoint/2010/main" val="530156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Site vulnérable, environ 20 secondes, quatre clics. Saisie HTTP ; concaténation dans une condition SQL ; exécution de ce SQL altéré ; retour des résultats. Ce scénario est fictif et pédagogique. Aucun SQL n’est exécuté pendant le diaporama. La syntaxe illustre une concaténation dangereuse, pas le code protégé de CyberShield.</a:t>
            </a:r>
          </a:p>
        </p:txBody>
      </p:sp>
      <p:sp>
        <p:nvSpPr>
          <p:cNvPr id="4" name="Espace réservé du numéro de diapositive 3"/>
          <p:cNvSpPr>
            <a:spLocks noGrp="1"/>
          </p:cNvSpPr>
          <p:nvPr>
            <p:ph type="sldNum" sz="quarter" idx="5"/>
          </p:nvPr>
        </p:nvSpPr>
        <p:spPr/>
        <p:txBody>
          <a:bodyPr/>
          <a:lstStyle/>
          <a:p>
            <a:fld id="{FD27CDD6-1D59-4D9B-8958-570AF0179E2A}" type="slidenum">
              <a:rPr lang="fr-FR" smtClean="0"/>
              <a:t>5</a:t>
            </a:fld>
            <a:endParaRPr lang="fr-FR"/>
          </a:p>
        </p:txBody>
      </p:sp>
    </p:spTree>
    <p:extLst>
      <p:ext uri="{BB962C8B-B14F-4D97-AF65-F5344CB8AC3E}">
        <p14:creationId xmlns:p14="http://schemas.microsoft.com/office/powerpoint/2010/main" val="3414925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Blocage par les règles, environ 25 secondes. La même saisie arrive par HTTP. La signature NUMERIC_BOOLEAN produit un score de règles de 90, supérieur au seuil de blocage de 80. La requête est arrêtée avant l’accès SQL. Le MLP n’est pas appelé pour cette signature forte. Le serveur retourne HTTP 403 et consigne une trace minimisée. Ces scores ne sont pas des probabilités. En mode observation, le signal SQLi est consigné sans ce blocage. Sources : security/detector.php, security/hybrid_analyzer.php, security/response_handler.php.</a:t>
            </a:r>
          </a:p>
        </p:txBody>
      </p:sp>
      <p:sp>
        <p:nvSpPr>
          <p:cNvPr id="4" name="Espace réservé du numéro de diapositive 3"/>
          <p:cNvSpPr>
            <a:spLocks noGrp="1"/>
          </p:cNvSpPr>
          <p:nvPr>
            <p:ph type="sldNum" sz="quarter" idx="5"/>
          </p:nvPr>
        </p:nvSpPr>
        <p:spPr/>
        <p:txBody>
          <a:bodyPr/>
          <a:lstStyle/>
          <a:p>
            <a:fld id="{FD27CDD6-1D59-4D9B-8958-570AF0179E2A}" type="slidenum">
              <a:rPr lang="fr-FR" smtClean="0"/>
              <a:t>6</a:t>
            </a:fld>
            <a:endParaRPr lang="fr-FR"/>
          </a:p>
        </p:txBody>
      </p:sp>
    </p:spTree>
    <p:extLst>
      <p:ext uri="{BB962C8B-B14F-4D97-AF65-F5344CB8AC3E}">
        <p14:creationId xmlns:p14="http://schemas.microsoft.com/office/powerpoint/2010/main" val="2397792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MLP, environ 25 secondes, quatre clics. Saisie fictive ambiguë, passage HTTP puis MLP local. Le filtre compare le score SQLi au seuil de 0,75. Présenter les deux issues conditionnelles : au moins 0,75, blocage HTTP 403 ; sous le seuil, poursuite avec une requête préparée. Aucun score n’a été mesuré pour cette saisie et aucun score n’est inventé. Le seuil n’est pas une probabilité de justesse ; le score est non calibré. Le modèle réalise une analyse ciblée et bornée, incluant la présélection des premières valeurs non immédiatement bloquées. L’assistant LLM ne décide pas. Sources : config/ai.php, security/hybrid_analyzer.php, ia/README.md.</a:t>
            </a:r>
          </a:p>
        </p:txBody>
      </p:sp>
      <p:sp>
        <p:nvSpPr>
          <p:cNvPr id="4" name="Espace réservé du numéro de diapositive 3"/>
          <p:cNvSpPr>
            <a:spLocks noGrp="1"/>
          </p:cNvSpPr>
          <p:nvPr>
            <p:ph type="sldNum" sz="quarter" idx="5"/>
          </p:nvPr>
        </p:nvSpPr>
        <p:spPr/>
        <p:txBody>
          <a:bodyPr/>
          <a:lstStyle/>
          <a:p>
            <a:fld id="{FD27CDD6-1D59-4D9B-8958-570AF0179E2A}" type="slidenum">
              <a:rPr lang="fr-FR" smtClean="0"/>
              <a:t>7</a:t>
            </a:fld>
            <a:endParaRPr lang="fr-FR"/>
          </a:p>
        </p:txBody>
      </p:sp>
    </p:spTree>
    <p:extLst>
      <p:ext uri="{BB962C8B-B14F-4D97-AF65-F5344CB8AC3E}">
        <p14:creationId xmlns:p14="http://schemas.microsoft.com/office/powerpoint/2010/main" val="1352557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Résultats, environ 25 secondes, trois clics. 775506 lignes strictement normales ou SQLi de SR-BH 2020, un honeypot WordPress et 12 jours. MLP v2 seul : F1 0.862153, rappel 0.859167, précision 0.86516, spécificité 0.93618. Faux positifs33518, faux négatifs35252, vrais positifs215059, vrais négatifs491677. Modèle et seuil0,75 non réglés sur cette capture. La politique de présélection du pipeline hybride a été choisie après diagnostic sur la même capture ; son F1 0,860560 et son rappel 0,856075 sont des mesures de développement, pas une confirmation indépendante après ce choix. Aucun test HTTP de charge n’est représenté ici. Le test public HttpParamsDataset norm/sqli de10051lignes donne F1 0,999170, sur la même famille de données que l’entraînement : pas une garantie de production. Sources : ia/models/honeypot_evaluation.json ; ia/models/external_evaluation.json ; ia/README.md. SHA256 du modèle local : 94777a563f51f7c357743afb2c257d0fcddbc79f3bd17d3484feab92fa38cb2e. Données : https://dataverse.harvard.edu/dataset.xhtml?persistentId=doi:10.7910/DVN/OGOIXX ; CC0 1.0. Repères ISO 9241-210:2019, ISO/IEC25010:2023,27001:2022,42001:2023, sans certification revendiquée. Pas de nouveau benchmark exécuté pour ce diaporama.</a:t>
            </a:r>
          </a:p>
        </p:txBody>
      </p:sp>
      <p:sp>
        <p:nvSpPr>
          <p:cNvPr id="4" name="Espace réservé du numéro de diapositive 3"/>
          <p:cNvSpPr>
            <a:spLocks noGrp="1"/>
          </p:cNvSpPr>
          <p:nvPr>
            <p:ph type="sldNum" sz="quarter" idx="5"/>
          </p:nvPr>
        </p:nvSpPr>
        <p:spPr/>
        <p:txBody>
          <a:bodyPr/>
          <a:lstStyle/>
          <a:p>
            <a:fld id="{FD27CDD6-1D59-4D9B-8958-570AF0179E2A}" type="slidenum">
              <a:rPr lang="fr-FR" smtClean="0"/>
              <a:t>8</a:t>
            </a:fld>
            <a:endParaRPr lang="fr-FR"/>
          </a:p>
        </p:txBody>
      </p:sp>
    </p:spTree>
    <p:extLst>
      <p:ext uri="{BB962C8B-B14F-4D97-AF65-F5344CB8AC3E}">
        <p14:creationId xmlns:p14="http://schemas.microsoft.com/office/powerpoint/2010/main" val="1549483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Conclusion, environ 20 secondes. Trois clics : valeur de la protection observable et locale ; étapes proposées d’un pilote en observation, d’une validation indépendante et d’un déploiement encadré ; demande d’un partenaire pour un premier pilote. Ces étapes sont à venir, aucun client pilote ni déploiement de production n’est revendiqué. Évaluer notamment les faux positifs et les performances sur un terrain représentatif. Aucun assistant LLM ne remplace le filtre ou les requêtes préparées.</a:t>
            </a:r>
          </a:p>
        </p:txBody>
      </p:sp>
      <p:sp>
        <p:nvSpPr>
          <p:cNvPr id="4" name="Espace réservé du numéro de diapositive 3"/>
          <p:cNvSpPr>
            <a:spLocks noGrp="1"/>
          </p:cNvSpPr>
          <p:nvPr>
            <p:ph type="sldNum" sz="quarter" idx="5"/>
          </p:nvPr>
        </p:nvSpPr>
        <p:spPr/>
        <p:txBody>
          <a:bodyPr/>
          <a:lstStyle/>
          <a:p>
            <a:fld id="{FD27CDD6-1D59-4D9B-8958-570AF0179E2A}" type="slidenum">
              <a:rPr lang="fr-FR" smtClean="0"/>
              <a:t>9</a:t>
            </a:fld>
            <a:endParaRPr lang="fr-FR"/>
          </a:p>
        </p:txBody>
      </p:sp>
    </p:spTree>
    <p:extLst>
      <p:ext uri="{BB962C8B-B14F-4D97-AF65-F5344CB8AC3E}">
        <p14:creationId xmlns:p14="http://schemas.microsoft.com/office/powerpoint/2010/main" val="3144401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8063014" y="7712357"/>
            <a:ext cx="9196286" cy="856956"/>
            <a:chOff x="0" y="0"/>
            <a:chExt cx="2422067" cy="225700"/>
          </a:xfrm>
        </p:grpSpPr>
        <p:sp>
          <p:nvSpPr>
            <p:cNvPr id="3" name="Freeform 3"/>
            <p:cNvSpPr/>
            <p:nvPr/>
          </p:nvSpPr>
          <p:spPr>
            <a:xfrm>
              <a:off x="0" y="0"/>
              <a:ext cx="2422067" cy="225700"/>
            </a:xfrm>
            <a:custGeom>
              <a:avLst/>
              <a:gdLst/>
              <a:ahLst/>
              <a:cxnLst/>
              <a:rect l="l" t="t" r="r" b="b"/>
              <a:pathLst>
                <a:path w="2422067" h="225700">
                  <a:moveTo>
                    <a:pt x="84185" y="0"/>
                  </a:moveTo>
                  <a:lnTo>
                    <a:pt x="2337882" y="0"/>
                  </a:lnTo>
                  <a:cubicBezTo>
                    <a:pt x="2360209" y="0"/>
                    <a:pt x="2381622" y="8869"/>
                    <a:pt x="2397410" y="24657"/>
                  </a:cubicBezTo>
                  <a:cubicBezTo>
                    <a:pt x="2413198" y="40445"/>
                    <a:pt x="2422067" y="61858"/>
                    <a:pt x="2422067" y="84185"/>
                  </a:cubicBezTo>
                  <a:lnTo>
                    <a:pt x="2422067" y="141515"/>
                  </a:lnTo>
                  <a:cubicBezTo>
                    <a:pt x="2422067" y="163842"/>
                    <a:pt x="2413198" y="185255"/>
                    <a:pt x="2397410" y="201043"/>
                  </a:cubicBezTo>
                  <a:cubicBezTo>
                    <a:pt x="2381622" y="216831"/>
                    <a:pt x="2360209" y="225700"/>
                    <a:pt x="2337882" y="225700"/>
                  </a:cubicBezTo>
                  <a:lnTo>
                    <a:pt x="84185" y="225700"/>
                  </a:lnTo>
                  <a:cubicBezTo>
                    <a:pt x="61858" y="225700"/>
                    <a:pt x="40445" y="216831"/>
                    <a:pt x="24657" y="201043"/>
                  </a:cubicBezTo>
                  <a:cubicBezTo>
                    <a:pt x="8869" y="185255"/>
                    <a:pt x="0" y="163842"/>
                    <a:pt x="0" y="141515"/>
                  </a:cubicBezTo>
                  <a:lnTo>
                    <a:pt x="0" y="84185"/>
                  </a:lnTo>
                  <a:cubicBezTo>
                    <a:pt x="0" y="61858"/>
                    <a:pt x="8869" y="40445"/>
                    <a:pt x="24657" y="24657"/>
                  </a:cubicBezTo>
                  <a:cubicBezTo>
                    <a:pt x="40445" y="8869"/>
                    <a:pt x="61858" y="0"/>
                    <a:pt x="84185" y="0"/>
                  </a:cubicBezTo>
                  <a:close/>
                </a:path>
              </a:pathLst>
            </a:custGeom>
            <a:solidFill>
              <a:srgbClr val="2657C1"/>
            </a:solidFill>
          </p:spPr>
        </p:sp>
        <p:sp>
          <p:nvSpPr>
            <p:cNvPr id="4" name="TextBox 4"/>
            <p:cNvSpPr txBox="1"/>
            <p:nvPr/>
          </p:nvSpPr>
          <p:spPr>
            <a:xfrm>
              <a:off x="0" y="-47625"/>
              <a:ext cx="2422067" cy="273325"/>
            </a:xfrm>
            <a:prstGeom prst="rect">
              <a:avLst/>
            </a:prstGeom>
          </p:spPr>
          <p:txBody>
            <a:bodyPr lIns="50800" tIns="50800" rIns="50800" bIns="50800" rtlCol="0" anchor="ctr"/>
            <a:lstStyle/>
            <a:p>
              <a:pPr algn="ctr">
                <a:lnSpc>
                  <a:spcPts val="3151"/>
                </a:lnSpc>
              </a:pPr>
              <a:endParaRPr/>
            </a:p>
          </p:txBody>
        </p:sp>
      </p:grpSp>
      <p:sp>
        <p:nvSpPr>
          <p:cNvPr id="5" name="Freeform 5"/>
          <p:cNvSpPr/>
          <p:nvPr/>
        </p:nvSpPr>
        <p:spPr>
          <a:xfrm>
            <a:off x="829408" y="1338895"/>
            <a:ext cx="6454967" cy="8076003"/>
          </a:xfrm>
          <a:custGeom>
            <a:avLst/>
            <a:gdLst/>
            <a:ahLst/>
            <a:cxnLst/>
            <a:rect l="l" t="t" r="r" b="b"/>
            <a:pathLst>
              <a:path w="6454967" h="8076003">
                <a:moveTo>
                  <a:pt x="0" y="0"/>
                </a:moveTo>
                <a:lnTo>
                  <a:pt x="6454967" y="0"/>
                </a:lnTo>
                <a:lnTo>
                  <a:pt x="6454967" y="8076003"/>
                </a:lnTo>
                <a:lnTo>
                  <a:pt x="0" y="80760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7259300" y="900322"/>
            <a:ext cx="2486513" cy="2486513"/>
          </a:xfrm>
          <a:custGeom>
            <a:avLst/>
            <a:gdLst/>
            <a:ahLst/>
            <a:cxnLst/>
            <a:rect l="l" t="t" r="r" b="b"/>
            <a:pathLst>
              <a:path w="2486513" h="2486513">
                <a:moveTo>
                  <a:pt x="0" y="0"/>
                </a:moveTo>
                <a:lnTo>
                  <a:pt x="2486513" y="0"/>
                </a:lnTo>
                <a:lnTo>
                  <a:pt x="2486513" y="2486513"/>
                </a:lnTo>
                <a:lnTo>
                  <a:pt x="0" y="2486513"/>
                </a:lnTo>
                <a:lnTo>
                  <a:pt x="0" y="0"/>
                </a:lnTo>
                <a:close/>
              </a:path>
            </a:pathLst>
          </a:custGeom>
          <a:blipFill>
            <a:blip r:embed="rId4"/>
            <a:stretch>
              <a:fillRect/>
            </a:stretch>
          </a:blipFill>
        </p:spPr>
      </p:sp>
      <p:sp>
        <p:nvSpPr>
          <p:cNvPr id="7" name="TextBox 7"/>
          <p:cNvSpPr txBox="1"/>
          <p:nvPr/>
        </p:nvSpPr>
        <p:spPr>
          <a:xfrm>
            <a:off x="8063014" y="2483356"/>
            <a:ext cx="9196286" cy="4961315"/>
          </a:xfrm>
          <a:prstGeom prst="rect">
            <a:avLst/>
          </a:prstGeom>
        </p:spPr>
        <p:txBody>
          <a:bodyPr lIns="0" tIns="0" rIns="0" bIns="0" rtlCol="0" anchor="t">
            <a:spAutoFit/>
          </a:bodyPr>
          <a:lstStyle/>
          <a:p>
            <a:pPr algn="l">
              <a:lnSpc>
                <a:spcPts val="18940"/>
              </a:lnSpc>
            </a:pPr>
            <a:r>
              <a:rPr lang="en-US" sz="19525" spc="-195">
                <a:solidFill>
                  <a:srgbClr val="2657C1"/>
                </a:solidFill>
                <a:latin typeface="Etna Sans Serif"/>
                <a:ea typeface="Etna Sans Serif"/>
                <a:cs typeface="Etna Sans Serif"/>
                <a:sym typeface="Etna Sans Serif"/>
              </a:rPr>
              <a:t>Cyber</a:t>
            </a:r>
          </a:p>
          <a:p>
            <a:pPr algn="l">
              <a:lnSpc>
                <a:spcPts val="18940"/>
              </a:lnSpc>
            </a:pPr>
            <a:r>
              <a:rPr lang="en-US" sz="19525" spc="-195">
                <a:solidFill>
                  <a:srgbClr val="2657C1"/>
                </a:solidFill>
                <a:latin typeface="Etna Sans Serif"/>
                <a:ea typeface="Etna Sans Serif"/>
                <a:cs typeface="Etna Sans Serif"/>
                <a:sym typeface="Etna Sans Serif"/>
              </a:rPr>
              <a:t>Shield</a:t>
            </a:r>
          </a:p>
        </p:txBody>
      </p:sp>
      <p:sp>
        <p:nvSpPr>
          <p:cNvPr id="8" name="Freeform 8"/>
          <p:cNvSpPr/>
          <p:nvPr/>
        </p:nvSpPr>
        <p:spPr>
          <a:xfrm>
            <a:off x="-1686627" y="8759894"/>
            <a:ext cx="4029515" cy="4029515"/>
          </a:xfrm>
          <a:custGeom>
            <a:avLst/>
            <a:gdLst/>
            <a:ahLst/>
            <a:cxnLst/>
            <a:rect l="l" t="t" r="r" b="b"/>
            <a:pathLst>
              <a:path w="4029515" h="4029515">
                <a:moveTo>
                  <a:pt x="0" y="0"/>
                </a:moveTo>
                <a:lnTo>
                  <a:pt x="4029515" y="0"/>
                </a:lnTo>
                <a:lnTo>
                  <a:pt x="4029515" y="4029515"/>
                </a:lnTo>
                <a:lnTo>
                  <a:pt x="0" y="4029515"/>
                </a:lnTo>
                <a:lnTo>
                  <a:pt x="0" y="0"/>
                </a:lnTo>
                <a:close/>
              </a:path>
            </a:pathLst>
          </a:custGeom>
          <a:blipFill>
            <a:blip r:embed="rId4"/>
            <a:stretch>
              <a:fillRect/>
            </a:stretch>
          </a:blipFill>
        </p:spPr>
      </p:sp>
      <p:sp>
        <p:nvSpPr>
          <p:cNvPr id="9" name="Freeform 9"/>
          <p:cNvSpPr/>
          <p:nvPr/>
        </p:nvSpPr>
        <p:spPr>
          <a:xfrm>
            <a:off x="16053186" y="3386835"/>
            <a:ext cx="776370" cy="776370"/>
          </a:xfrm>
          <a:custGeom>
            <a:avLst/>
            <a:gdLst/>
            <a:ahLst/>
            <a:cxnLst/>
            <a:rect l="l" t="t" r="r" b="b"/>
            <a:pathLst>
              <a:path w="776370" h="776370">
                <a:moveTo>
                  <a:pt x="0" y="0"/>
                </a:moveTo>
                <a:lnTo>
                  <a:pt x="776369" y="0"/>
                </a:lnTo>
                <a:lnTo>
                  <a:pt x="776369" y="776370"/>
                </a:lnTo>
                <a:lnTo>
                  <a:pt x="0" y="7763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a:off x="16527499" y="8569313"/>
            <a:ext cx="3521003" cy="3521003"/>
          </a:xfrm>
          <a:custGeom>
            <a:avLst/>
            <a:gdLst/>
            <a:ahLst/>
            <a:cxnLst/>
            <a:rect l="l" t="t" r="r" b="b"/>
            <a:pathLst>
              <a:path w="3521003" h="3521003">
                <a:moveTo>
                  <a:pt x="0" y="0"/>
                </a:moveTo>
                <a:lnTo>
                  <a:pt x="3521002" y="0"/>
                </a:lnTo>
                <a:lnTo>
                  <a:pt x="3521002" y="3521003"/>
                </a:lnTo>
                <a:lnTo>
                  <a:pt x="0" y="352100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0" y="0"/>
            <a:ext cx="18288000" cy="213007"/>
            <a:chOff x="0" y="0"/>
            <a:chExt cx="4816593" cy="56101"/>
          </a:xfrm>
        </p:grpSpPr>
        <p:sp>
          <p:nvSpPr>
            <p:cNvPr id="12" name="Freeform 12"/>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sp>
        <p:sp>
          <p:nvSpPr>
            <p:cNvPr id="13" name="TextBox 13"/>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14" name="TextBox 14"/>
          <p:cNvSpPr txBox="1"/>
          <p:nvPr/>
        </p:nvSpPr>
        <p:spPr>
          <a:xfrm>
            <a:off x="1028700" y="726850"/>
            <a:ext cx="3166518" cy="298159"/>
          </a:xfrm>
          <a:prstGeom prst="rect">
            <a:avLst/>
          </a:prstGeom>
        </p:spPr>
        <p:txBody>
          <a:bodyPr lIns="0" tIns="0" rIns="0" bIns="0" rtlCol="0" anchor="t">
            <a:spAutoFit/>
          </a:bodyPr>
          <a:lstStyle/>
          <a:p>
            <a:pPr algn="l">
              <a:lnSpc>
                <a:spcPts val="2182"/>
              </a:lnSpc>
            </a:pPr>
            <a:r>
              <a:rPr lang="en-US" sz="2250" b="1">
                <a:solidFill>
                  <a:srgbClr val="2657C1"/>
                </a:solidFill>
                <a:latin typeface="TT Fors Bold"/>
                <a:ea typeface="TT Fors Bold"/>
                <a:cs typeface="TT Fors Bold"/>
                <a:sym typeface="TT Fors Bold"/>
              </a:rPr>
              <a:t>CYBERSHIELD AI</a:t>
            </a:r>
          </a:p>
        </p:txBody>
      </p:sp>
      <p:sp>
        <p:nvSpPr>
          <p:cNvPr id="15" name="TextBox 15"/>
          <p:cNvSpPr txBox="1"/>
          <p:nvPr/>
        </p:nvSpPr>
        <p:spPr>
          <a:xfrm>
            <a:off x="9144000" y="631600"/>
            <a:ext cx="1662550" cy="394403"/>
          </a:xfrm>
          <a:prstGeom prst="rect">
            <a:avLst/>
          </a:prstGeom>
        </p:spPr>
        <p:txBody>
          <a:bodyPr lIns="0" tIns="0" rIns="0" bIns="0" rtlCol="0" anchor="t">
            <a:spAutoFit/>
          </a:bodyPr>
          <a:lstStyle/>
          <a:p>
            <a:pPr marL="0" lvl="0" indent="0" algn="l">
              <a:lnSpc>
                <a:spcPts val="3151"/>
              </a:lnSpc>
              <a:spcBef>
                <a:spcPct val="0"/>
              </a:spcBef>
            </a:pPr>
            <a:r>
              <a:rPr lang="en-US" sz="2251" b="1">
                <a:solidFill>
                  <a:srgbClr val="2657C1"/>
                </a:solidFill>
                <a:latin typeface="TT Fors Bold" panose="020B0604020202020204" charset="0"/>
                <a:ea typeface="TT Fors Bold"/>
                <a:cs typeface="TT Fors Bold"/>
                <a:sym typeface="TT Fors Bold"/>
              </a:rPr>
              <a:t>Projet</a:t>
            </a:r>
          </a:p>
        </p:txBody>
      </p:sp>
      <p:sp>
        <p:nvSpPr>
          <p:cNvPr id="16" name="TextBox 16"/>
          <p:cNvSpPr txBox="1"/>
          <p:nvPr/>
        </p:nvSpPr>
        <p:spPr>
          <a:xfrm>
            <a:off x="11362447" y="633813"/>
            <a:ext cx="1907082"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Solution</a:t>
            </a:r>
          </a:p>
        </p:txBody>
      </p:sp>
      <p:sp>
        <p:nvSpPr>
          <p:cNvPr id="17" name="TextBox 17"/>
          <p:cNvSpPr txBox="1"/>
          <p:nvPr/>
        </p:nvSpPr>
        <p:spPr>
          <a:xfrm>
            <a:off x="13726729" y="631600"/>
            <a:ext cx="1916881"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Résultats</a:t>
            </a:r>
          </a:p>
        </p:txBody>
      </p:sp>
      <p:sp>
        <p:nvSpPr>
          <p:cNvPr id="18" name="TextBox 18"/>
          <p:cNvSpPr txBox="1"/>
          <p:nvPr/>
        </p:nvSpPr>
        <p:spPr>
          <a:xfrm>
            <a:off x="16053186" y="633813"/>
            <a:ext cx="1206114"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Suite</a:t>
            </a:r>
          </a:p>
        </p:txBody>
      </p:sp>
      <p:sp>
        <p:nvSpPr>
          <p:cNvPr id="19" name="TextBox 19"/>
          <p:cNvSpPr txBox="1"/>
          <p:nvPr/>
        </p:nvSpPr>
        <p:spPr>
          <a:xfrm>
            <a:off x="8188275" y="7739246"/>
            <a:ext cx="8945763" cy="742639"/>
          </a:xfrm>
          <a:prstGeom prst="rect">
            <a:avLst/>
          </a:prstGeom>
        </p:spPr>
        <p:txBody>
          <a:bodyPr lIns="0" tIns="0" rIns="0" bIns="0" rtlCol="0" anchor="t">
            <a:spAutoFit/>
          </a:bodyPr>
          <a:lstStyle/>
          <a:p>
            <a:pPr marL="0" lvl="0" indent="0" algn="ctr">
              <a:lnSpc>
                <a:spcPts val="6025"/>
              </a:lnSpc>
              <a:spcBef>
                <a:spcPct val="0"/>
              </a:spcBef>
            </a:pPr>
            <a:r>
              <a:rPr lang="en-US" sz="4303" b="1">
                <a:solidFill>
                  <a:srgbClr val="F7F7F7"/>
                </a:solidFill>
                <a:latin typeface="TT Fors Bold"/>
                <a:ea typeface="TT Fors Bold"/>
                <a:cs typeface="TT Fors Bold"/>
                <a:sym typeface="TT Fors Bold"/>
              </a:rPr>
              <a:t>Repérer. Expliquer. Protéger.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840822">
            <a:off x="9037818" y="2629329"/>
            <a:ext cx="8967916" cy="6326457"/>
          </a:xfrm>
          <a:custGeom>
            <a:avLst/>
            <a:gdLst/>
            <a:ahLst/>
            <a:cxnLst/>
            <a:rect l="l" t="t" r="r" b="b"/>
            <a:pathLst>
              <a:path w="8967916" h="6326457">
                <a:moveTo>
                  <a:pt x="0" y="0"/>
                </a:moveTo>
                <a:lnTo>
                  <a:pt x="8967916" y="0"/>
                </a:lnTo>
                <a:lnTo>
                  <a:pt x="8967916" y="6326457"/>
                </a:lnTo>
                <a:lnTo>
                  <a:pt x="0" y="63264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432612" y="1073634"/>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4"/>
            <a:stretch>
              <a:fillRect/>
            </a:stretch>
          </a:blipFill>
        </p:spPr>
      </p:sp>
      <p:sp>
        <p:nvSpPr>
          <p:cNvPr id="4" name="Freeform 4"/>
          <p:cNvSpPr/>
          <p:nvPr/>
        </p:nvSpPr>
        <p:spPr>
          <a:xfrm>
            <a:off x="-1686627" y="7947934"/>
            <a:ext cx="4841475" cy="4841475"/>
          </a:xfrm>
          <a:custGeom>
            <a:avLst/>
            <a:gdLst/>
            <a:ahLst/>
            <a:cxnLst/>
            <a:rect l="l" t="t" r="r" b="b"/>
            <a:pathLst>
              <a:path w="4841475" h="4841475">
                <a:moveTo>
                  <a:pt x="0" y="0"/>
                </a:moveTo>
                <a:lnTo>
                  <a:pt x="4841475" y="0"/>
                </a:lnTo>
                <a:lnTo>
                  <a:pt x="4841475" y="4841475"/>
                </a:lnTo>
                <a:lnTo>
                  <a:pt x="0" y="4841475"/>
                </a:lnTo>
                <a:lnTo>
                  <a:pt x="0" y="0"/>
                </a:lnTo>
                <a:close/>
              </a:path>
            </a:pathLst>
          </a:custGeom>
          <a:blipFill>
            <a:blip r:embed="rId4"/>
            <a:stretch>
              <a:fillRect/>
            </a:stretch>
          </a:blipFill>
        </p:spPr>
      </p:sp>
      <p:sp>
        <p:nvSpPr>
          <p:cNvPr id="5" name="Freeform 5"/>
          <p:cNvSpPr/>
          <p:nvPr/>
        </p:nvSpPr>
        <p:spPr>
          <a:xfrm>
            <a:off x="16656243" y="6428614"/>
            <a:ext cx="776370" cy="776370"/>
          </a:xfrm>
          <a:custGeom>
            <a:avLst/>
            <a:gdLst/>
            <a:ahLst/>
            <a:cxnLst/>
            <a:rect l="l" t="t" r="r" b="b"/>
            <a:pathLst>
              <a:path w="776370" h="776370">
                <a:moveTo>
                  <a:pt x="0" y="0"/>
                </a:moveTo>
                <a:lnTo>
                  <a:pt x="776369" y="0"/>
                </a:lnTo>
                <a:lnTo>
                  <a:pt x="776369" y="776370"/>
                </a:lnTo>
                <a:lnTo>
                  <a:pt x="0" y="7763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5166681" y="8062234"/>
            <a:ext cx="4185238" cy="4185238"/>
          </a:xfrm>
          <a:custGeom>
            <a:avLst/>
            <a:gdLst/>
            <a:ahLst/>
            <a:cxnLst/>
            <a:rect l="l" t="t" r="r" b="b"/>
            <a:pathLst>
              <a:path w="4185238" h="4185238">
                <a:moveTo>
                  <a:pt x="0" y="0"/>
                </a:moveTo>
                <a:lnTo>
                  <a:pt x="4185238" y="0"/>
                </a:lnTo>
                <a:lnTo>
                  <a:pt x="4185238" y="4185238"/>
                </a:lnTo>
                <a:lnTo>
                  <a:pt x="0" y="418523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0" y="0"/>
            <a:ext cx="18288000" cy="213007"/>
            <a:chOff x="0" y="0"/>
            <a:chExt cx="4816593" cy="56101"/>
          </a:xfrm>
        </p:grpSpPr>
        <p:sp>
          <p:nvSpPr>
            <p:cNvPr id="8" name="Freeform 8"/>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sp>
        <p:sp>
          <p:nvSpPr>
            <p:cNvPr id="9" name="TextBox 9"/>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10" name="TextBox 10"/>
          <p:cNvSpPr txBox="1"/>
          <p:nvPr/>
        </p:nvSpPr>
        <p:spPr>
          <a:xfrm>
            <a:off x="1028700" y="726850"/>
            <a:ext cx="3166518" cy="298159"/>
          </a:xfrm>
          <a:prstGeom prst="rect">
            <a:avLst/>
          </a:prstGeom>
        </p:spPr>
        <p:txBody>
          <a:bodyPr lIns="0" tIns="0" rIns="0" bIns="0" rtlCol="0" anchor="t">
            <a:spAutoFit/>
          </a:bodyPr>
          <a:lstStyle/>
          <a:p>
            <a:pPr algn="l">
              <a:lnSpc>
                <a:spcPts val="2182"/>
              </a:lnSpc>
            </a:pPr>
            <a:r>
              <a:rPr lang="en-US" sz="2250" b="1">
                <a:solidFill>
                  <a:srgbClr val="2657C1"/>
                </a:solidFill>
                <a:latin typeface="TT Fors Bold"/>
                <a:ea typeface="TT Fors Bold"/>
                <a:cs typeface="TT Fors Bold"/>
                <a:sym typeface="TT Fors Bold"/>
              </a:rPr>
              <a:t>CYBERSHIELD AI</a:t>
            </a:r>
          </a:p>
        </p:txBody>
      </p:sp>
      <p:sp>
        <p:nvSpPr>
          <p:cNvPr id="11" name="TextBox 11"/>
          <p:cNvSpPr txBox="1"/>
          <p:nvPr/>
        </p:nvSpPr>
        <p:spPr>
          <a:xfrm>
            <a:off x="9144000" y="631600"/>
            <a:ext cx="1662550"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Projet</a:t>
            </a:r>
          </a:p>
        </p:txBody>
      </p:sp>
      <p:sp>
        <p:nvSpPr>
          <p:cNvPr id="12" name="TextBox 12"/>
          <p:cNvSpPr txBox="1"/>
          <p:nvPr/>
        </p:nvSpPr>
        <p:spPr>
          <a:xfrm>
            <a:off x="1028700" y="2015567"/>
            <a:ext cx="9190668" cy="2762134"/>
          </a:xfrm>
          <a:prstGeom prst="rect">
            <a:avLst/>
          </a:prstGeom>
        </p:spPr>
        <p:txBody>
          <a:bodyPr lIns="0" tIns="0" rIns="0" bIns="0" rtlCol="0" anchor="t">
            <a:spAutoFit/>
          </a:bodyPr>
          <a:lstStyle/>
          <a:p>
            <a:pPr algn="l">
              <a:lnSpc>
                <a:spcPts val="10595"/>
              </a:lnSpc>
            </a:pPr>
            <a:r>
              <a:rPr lang="en-US" sz="10922" spc="-109">
                <a:solidFill>
                  <a:srgbClr val="2657C1"/>
                </a:solidFill>
                <a:latin typeface="Etna Sans Serif"/>
                <a:ea typeface="Etna Sans Serif"/>
                <a:cs typeface="Etna Sans Serif"/>
                <a:sym typeface="Etna Sans Serif"/>
              </a:rPr>
              <a:t>Le risque</a:t>
            </a:r>
          </a:p>
          <a:p>
            <a:pPr algn="l">
              <a:lnSpc>
                <a:spcPts val="10595"/>
              </a:lnSpc>
            </a:pPr>
            <a:r>
              <a:rPr lang="en-US" sz="10922" spc="-109">
                <a:solidFill>
                  <a:srgbClr val="2657C1"/>
                </a:solidFill>
                <a:latin typeface="Etna Sans Serif"/>
                <a:ea typeface="Etna Sans Serif"/>
                <a:cs typeface="Etna Sans Serif"/>
                <a:sym typeface="Etna Sans Serif"/>
              </a:rPr>
              <a:t>SQLi</a:t>
            </a:r>
          </a:p>
        </p:txBody>
      </p:sp>
      <p:sp>
        <p:nvSpPr>
          <p:cNvPr id="13" name="TextBox 13"/>
          <p:cNvSpPr txBox="1"/>
          <p:nvPr/>
        </p:nvSpPr>
        <p:spPr>
          <a:xfrm>
            <a:off x="1028700" y="4991374"/>
            <a:ext cx="8946575" cy="1475404"/>
          </a:xfrm>
          <a:prstGeom prst="rect">
            <a:avLst/>
          </a:prstGeom>
        </p:spPr>
        <p:txBody>
          <a:bodyPr lIns="0" tIns="0" rIns="0" bIns="0" rtlCol="0" anchor="t">
            <a:spAutoFit/>
          </a:bodyPr>
          <a:lstStyle/>
          <a:p>
            <a:pPr marL="0" lvl="0" indent="0" algn="just">
              <a:lnSpc>
                <a:spcPts val="2940"/>
              </a:lnSpc>
              <a:spcBef>
                <a:spcPct val="0"/>
              </a:spcBef>
            </a:pPr>
            <a:r>
              <a:rPr lang="fr-FR" sz="2100">
                <a:solidFill>
                  <a:srgbClr val="2657C1"/>
                </a:solidFill>
                <a:latin typeface="TT Fors"/>
                <a:ea typeface="TT Fors"/>
                <a:cs typeface="TT Fors"/>
                <a:sym typeface="TT Fors"/>
              </a:rPr>
              <a:t>Une donnée reçue par formulaire peut modifier une requête SQL si le code la concatène. Une seule entrée peut alors élargir les résultats ou contourner une condition.</a:t>
            </a:r>
          </a:p>
          <a:p>
            <a:pPr marL="0" lvl="0" indent="0" algn="just">
              <a:lnSpc>
                <a:spcPts val="2940"/>
              </a:lnSpc>
              <a:spcBef>
                <a:spcPct val="0"/>
              </a:spcBef>
            </a:pPr>
            <a:r>
              <a:rPr lang="fr-FR" sz="2100">
                <a:solidFill>
                  <a:srgbClr val="2657C1"/>
                </a:solidFill>
                <a:latin typeface="TT Fors"/>
                <a:ea typeface="TT Fors"/>
                <a:cs typeface="TT Fors"/>
                <a:sym typeface="TT Fors"/>
              </a:rPr>
              <a:t>CyberShield intervient avant l’accès SQL et rend la décision visible.</a:t>
            </a:r>
            <a:endParaRPr lang="en-US" sz="2100">
              <a:solidFill>
                <a:srgbClr val="2657C1"/>
              </a:solidFill>
              <a:latin typeface="TT Fors"/>
              <a:ea typeface="TT Fors"/>
              <a:cs typeface="TT Fors"/>
              <a:sym typeface="TT Fors"/>
            </a:endParaRPr>
          </a:p>
        </p:txBody>
      </p:sp>
      <p:sp>
        <p:nvSpPr>
          <p:cNvPr id="14" name="TextBox 14"/>
          <p:cNvSpPr txBox="1"/>
          <p:nvPr/>
        </p:nvSpPr>
        <p:spPr>
          <a:xfrm>
            <a:off x="13726729" y="631600"/>
            <a:ext cx="1916881"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Résultats</a:t>
            </a:r>
          </a:p>
        </p:txBody>
      </p:sp>
      <p:sp>
        <p:nvSpPr>
          <p:cNvPr id="15" name="TextBox 15"/>
          <p:cNvSpPr txBox="1"/>
          <p:nvPr/>
        </p:nvSpPr>
        <p:spPr>
          <a:xfrm>
            <a:off x="16053186" y="633813"/>
            <a:ext cx="1206114"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Suite</a:t>
            </a:r>
          </a:p>
        </p:txBody>
      </p:sp>
      <p:sp>
        <p:nvSpPr>
          <p:cNvPr id="16" name="TextBox 16"/>
          <p:cNvSpPr txBox="1"/>
          <p:nvPr/>
        </p:nvSpPr>
        <p:spPr>
          <a:xfrm>
            <a:off x="11362447" y="633813"/>
            <a:ext cx="1907082" cy="394403"/>
          </a:xfrm>
          <a:prstGeom prst="rect">
            <a:avLst/>
          </a:prstGeom>
        </p:spPr>
        <p:txBody>
          <a:bodyPr lIns="0" tIns="0" rIns="0" bIns="0" rtlCol="0" anchor="t">
            <a:spAutoFit/>
          </a:bodyPr>
          <a:lstStyle/>
          <a:p>
            <a:pPr marL="0" lvl="0" indent="0" algn="l">
              <a:lnSpc>
                <a:spcPts val="3151"/>
              </a:lnSpc>
              <a:spcBef>
                <a:spcPct val="0"/>
              </a:spcBef>
            </a:pPr>
            <a:r>
              <a:rPr lang="en-US" sz="2251" b="1">
                <a:solidFill>
                  <a:srgbClr val="2657C1"/>
                </a:solidFill>
                <a:latin typeface="TT Fors Bold" panose="020B0604020202020204" charset="0"/>
                <a:ea typeface="TT Fors Bold"/>
                <a:cs typeface="TT Fors Bold"/>
                <a:sym typeface="TT Fors Bold"/>
              </a:rPr>
              <a:t>Solution</a:t>
            </a:r>
          </a:p>
        </p:txBody>
      </p:sp>
      <p:sp>
        <p:nvSpPr>
          <p:cNvPr id="17" name="Freeform 17"/>
          <p:cNvSpPr/>
          <p:nvPr/>
        </p:nvSpPr>
        <p:spPr>
          <a:xfrm>
            <a:off x="8051418" y="8165718"/>
            <a:ext cx="1332228" cy="1332228"/>
          </a:xfrm>
          <a:custGeom>
            <a:avLst/>
            <a:gdLst/>
            <a:ahLst/>
            <a:cxnLst/>
            <a:rect l="l" t="t" r="r" b="b"/>
            <a:pathLst>
              <a:path w="1332228" h="1332228">
                <a:moveTo>
                  <a:pt x="0" y="0"/>
                </a:moveTo>
                <a:lnTo>
                  <a:pt x="1332229" y="0"/>
                </a:lnTo>
                <a:lnTo>
                  <a:pt x="1332229" y="1332229"/>
                </a:lnTo>
                <a:lnTo>
                  <a:pt x="0" y="13322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569722" y="1476128"/>
            <a:ext cx="1874878" cy="1874878"/>
          </a:xfrm>
          <a:custGeom>
            <a:avLst/>
            <a:gdLst/>
            <a:ahLst/>
            <a:cxnLst/>
            <a:rect l="l" t="t" r="r" b="b"/>
            <a:pathLst>
              <a:path w="1874878" h="1874878">
                <a:moveTo>
                  <a:pt x="0" y="0"/>
                </a:moveTo>
                <a:lnTo>
                  <a:pt x="1874879" y="0"/>
                </a:lnTo>
                <a:lnTo>
                  <a:pt x="1874879" y="1874878"/>
                </a:lnTo>
                <a:lnTo>
                  <a:pt x="0" y="1874878"/>
                </a:lnTo>
                <a:lnTo>
                  <a:pt x="0" y="0"/>
                </a:lnTo>
                <a:close/>
              </a:path>
            </a:pathLst>
          </a:custGeom>
          <a:blipFill>
            <a:blip r:embed="rId3"/>
            <a:stretch>
              <a:fillRect/>
            </a:stretch>
          </a:blipFill>
        </p:spPr>
      </p:sp>
      <p:sp>
        <p:nvSpPr>
          <p:cNvPr id="3" name="Freeform 3"/>
          <p:cNvSpPr/>
          <p:nvPr/>
        </p:nvSpPr>
        <p:spPr>
          <a:xfrm>
            <a:off x="-2660529" y="8870115"/>
            <a:ext cx="4841475" cy="4841475"/>
          </a:xfrm>
          <a:custGeom>
            <a:avLst/>
            <a:gdLst/>
            <a:ahLst/>
            <a:cxnLst/>
            <a:rect l="l" t="t" r="r" b="b"/>
            <a:pathLst>
              <a:path w="4841475" h="4841475">
                <a:moveTo>
                  <a:pt x="0" y="0"/>
                </a:moveTo>
                <a:lnTo>
                  <a:pt x="4841476" y="0"/>
                </a:lnTo>
                <a:lnTo>
                  <a:pt x="4841476" y="4841475"/>
                </a:lnTo>
                <a:lnTo>
                  <a:pt x="0" y="4841475"/>
                </a:lnTo>
                <a:lnTo>
                  <a:pt x="0" y="0"/>
                </a:lnTo>
                <a:close/>
              </a:path>
            </a:pathLst>
          </a:custGeom>
          <a:blipFill>
            <a:blip r:embed="rId3"/>
            <a:stretch>
              <a:fillRect/>
            </a:stretch>
          </a:blipFill>
        </p:spPr>
      </p:sp>
      <p:sp>
        <p:nvSpPr>
          <p:cNvPr id="4" name="Freeform 4"/>
          <p:cNvSpPr/>
          <p:nvPr/>
        </p:nvSpPr>
        <p:spPr>
          <a:xfrm>
            <a:off x="6168312" y="2244543"/>
            <a:ext cx="776370" cy="776370"/>
          </a:xfrm>
          <a:custGeom>
            <a:avLst/>
            <a:gdLst/>
            <a:ahLst/>
            <a:cxnLst/>
            <a:rect l="l" t="t" r="r" b="b"/>
            <a:pathLst>
              <a:path w="776370" h="776370">
                <a:moveTo>
                  <a:pt x="0" y="0"/>
                </a:moveTo>
                <a:lnTo>
                  <a:pt x="776370" y="0"/>
                </a:lnTo>
                <a:lnTo>
                  <a:pt x="776370" y="776370"/>
                </a:lnTo>
                <a:lnTo>
                  <a:pt x="0" y="7763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6053186" y="8429388"/>
            <a:ext cx="4185238" cy="4185238"/>
          </a:xfrm>
          <a:custGeom>
            <a:avLst/>
            <a:gdLst/>
            <a:ahLst/>
            <a:cxnLst/>
            <a:rect l="l" t="t" r="r" b="b"/>
            <a:pathLst>
              <a:path w="4185238" h="4185238">
                <a:moveTo>
                  <a:pt x="0" y="0"/>
                </a:moveTo>
                <a:lnTo>
                  <a:pt x="4185237" y="0"/>
                </a:lnTo>
                <a:lnTo>
                  <a:pt x="4185237" y="4185238"/>
                </a:lnTo>
                <a:lnTo>
                  <a:pt x="0" y="41852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9" name="anim_illustration"/>
          <p:cNvSpPr/>
          <p:nvPr/>
        </p:nvSpPr>
        <p:spPr>
          <a:xfrm>
            <a:off x="1738020" y="1487898"/>
            <a:ext cx="5206662" cy="8158587"/>
          </a:xfrm>
          <a:custGeom>
            <a:avLst/>
            <a:gdLst/>
            <a:ahLst/>
            <a:cxnLst/>
            <a:rect l="l" t="t" r="r" b="b"/>
            <a:pathLst>
              <a:path w="5206662" h="8158587">
                <a:moveTo>
                  <a:pt x="0" y="0"/>
                </a:moveTo>
                <a:lnTo>
                  <a:pt x="5206662" y="0"/>
                </a:lnTo>
                <a:lnTo>
                  <a:pt x="5206662" y="8158587"/>
                </a:lnTo>
                <a:lnTo>
                  <a:pt x="0" y="81585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p:cNvSpPr txBox="1"/>
          <p:nvPr/>
        </p:nvSpPr>
        <p:spPr>
          <a:xfrm>
            <a:off x="1028700" y="726850"/>
            <a:ext cx="3166518" cy="298159"/>
          </a:xfrm>
          <a:prstGeom prst="rect">
            <a:avLst/>
          </a:prstGeom>
        </p:spPr>
        <p:txBody>
          <a:bodyPr lIns="0" tIns="0" rIns="0" bIns="0" rtlCol="0" anchor="t">
            <a:spAutoFit/>
          </a:bodyPr>
          <a:lstStyle/>
          <a:p>
            <a:pPr algn="l">
              <a:lnSpc>
                <a:spcPts val="2182"/>
              </a:lnSpc>
            </a:pPr>
            <a:r>
              <a:rPr lang="en-US" sz="2250" b="1">
                <a:solidFill>
                  <a:srgbClr val="2657C1"/>
                </a:solidFill>
                <a:latin typeface="TT Fors Bold"/>
                <a:ea typeface="TT Fors Bold"/>
                <a:cs typeface="TT Fors Bold"/>
                <a:sym typeface="TT Fors Bold"/>
              </a:rPr>
              <a:t>CYBERSHIELD AI</a:t>
            </a:r>
          </a:p>
        </p:txBody>
      </p:sp>
      <p:sp>
        <p:nvSpPr>
          <p:cNvPr id="12" name="TextBox 12"/>
          <p:cNvSpPr txBox="1"/>
          <p:nvPr/>
        </p:nvSpPr>
        <p:spPr>
          <a:xfrm>
            <a:off x="9144000" y="631600"/>
            <a:ext cx="1662550"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Projet</a:t>
            </a:r>
          </a:p>
        </p:txBody>
      </p:sp>
      <p:sp>
        <p:nvSpPr>
          <p:cNvPr id="13" name="anim_heading"/>
          <p:cNvSpPr txBox="1"/>
          <p:nvPr/>
        </p:nvSpPr>
        <p:spPr>
          <a:xfrm>
            <a:off x="8068632" y="3047996"/>
            <a:ext cx="9190668" cy="2762134"/>
          </a:xfrm>
          <a:prstGeom prst="rect">
            <a:avLst/>
          </a:prstGeom>
        </p:spPr>
        <p:txBody>
          <a:bodyPr lIns="0" tIns="0" rIns="0" bIns="0" rtlCol="0" anchor="t">
            <a:spAutoFit/>
          </a:bodyPr>
          <a:lstStyle/>
          <a:p>
            <a:pPr algn="l">
              <a:lnSpc>
                <a:spcPts val="10595"/>
              </a:lnSpc>
            </a:pPr>
            <a:r>
              <a:rPr lang="en-US" sz="10922" spc="-109">
                <a:solidFill>
                  <a:srgbClr val="2657C1"/>
                </a:solidFill>
                <a:latin typeface="Etna Sans Serif"/>
                <a:ea typeface="Etna Sans Serif"/>
                <a:cs typeface="Etna Sans Serif"/>
                <a:sym typeface="Etna Sans Serif"/>
              </a:rPr>
              <a:t>Protection</a:t>
            </a:r>
          </a:p>
          <a:p>
            <a:pPr algn="l">
              <a:lnSpc>
                <a:spcPts val="10595"/>
              </a:lnSpc>
            </a:pPr>
            <a:r>
              <a:rPr lang="en-US" sz="10922" spc="-109">
                <a:solidFill>
                  <a:srgbClr val="2657C1"/>
                </a:solidFill>
                <a:latin typeface="Etna Sans Serif"/>
                <a:ea typeface="Etna Sans Serif"/>
                <a:cs typeface="Etna Sans Serif"/>
                <a:sym typeface="Etna Sans Serif"/>
              </a:rPr>
              <a:t>CyberShield</a:t>
            </a:r>
          </a:p>
        </p:txBody>
      </p:sp>
      <p:sp>
        <p:nvSpPr>
          <p:cNvPr id="14" name="TextBox 14"/>
          <p:cNvSpPr txBox="1"/>
          <p:nvPr/>
        </p:nvSpPr>
        <p:spPr>
          <a:xfrm>
            <a:off x="13726729" y="631600"/>
            <a:ext cx="1916881"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Résultats</a:t>
            </a:r>
          </a:p>
        </p:txBody>
      </p:sp>
      <p:sp>
        <p:nvSpPr>
          <p:cNvPr id="15" name="TextBox 15"/>
          <p:cNvSpPr txBox="1"/>
          <p:nvPr/>
        </p:nvSpPr>
        <p:spPr>
          <a:xfrm>
            <a:off x="16053186" y="633813"/>
            <a:ext cx="1206114"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Suite</a:t>
            </a:r>
          </a:p>
        </p:txBody>
      </p:sp>
      <p:sp>
        <p:nvSpPr>
          <p:cNvPr id="16" name="TextBox 16"/>
          <p:cNvSpPr txBox="1"/>
          <p:nvPr/>
        </p:nvSpPr>
        <p:spPr>
          <a:xfrm>
            <a:off x="11362447" y="633813"/>
            <a:ext cx="1907082" cy="394403"/>
          </a:xfrm>
          <a:prstGeom prst="rect">
            <a:avLst/>
          </a:prstGeom>
        </p:spPr>
        <p:txBody>
          <a:bodyPr lIns="0" tIns="0" rIns="0" bIns="0" rtlCol="0" anchor="t">
            <a:spAutoFit/>
          </a:bodyPr>
          <a:lstStyle/>
          <a:p>
            <a:pPr marL="0" lvl="0" indent="0" algn="l">
              <a:lnSpc>
                <a:spcPts val="3151"/>
              </a:lnSpc>
              <a:spcBef>
                <a:spcPct val="0"/>
              </a:spcBef>
            </a:pPr>
            <a:r>
              <a:rPr lang="en-US" sz="2251" b="1">
                <a:solidFill>
                  <a:srgbClr val="2657C1"/>
                </a:solidFill>
                <a:latin typeface="TT Fors Bold" panose="020B0604020202020204" charset="0"/>
                <a:ea typeface="TT Fors Bold"/>
                <a:cs typeface="TT Fors Bold"/>
                <a:sym typeface="TT Fors Bold"/>
              </a:rPr>
              <a:t>Solution</a:t>
            </a:r>
          </a:p>
        </p:txBody>
      </p:sp>
      <p:grpSp>
        <p:nvGrpSpPr>
          <p:cNvPr id="20" name="anim_benefit_1">
            <a:extLst>
              <a:ext uri="{FF2B5EF4-FFF2-40B4-BE49-F238E27FC236}">
                <a16:creationId xmlns:a16="http://schemas.microsoft.com/office/drawing/2014/main" id="{654F7011-AE02-9B99-9B6D-E66B82D33AA3}"/>
              </a:ext>
            </a:extLst>
          </p:cNvPr>
          <p:cNvGrpSpPr/>
          <p:nvPr/>
        </p:nvGrpSpPr>
        <p:grpSpPr>
          <a:xfrm>
            <a:off x="8068632" y="6334005"/>
            <a:ext cx="9062767" cy="618462"/>
            <a:chOff x="8068632" y="6334005"/>
            <a:chExt cx="9062767" cy="618462"/>
          </a:xfrm>
        </p:grpSpPr>
        <p:sp>
          <p:nvSpPr>
            <p:cNvPr id="10" name="Freeform 10"/>
            <p:cNvSpPr/>
            <p:nvPr/>
          </p:nvSpPr>
          <p:spPr>
            <a:xfrm>
              <a:off x="8068632" y="6334005"/>
              <a:ext cx="611715" cy="618462"/>
            </a:xfrm>
            <a:custGeom>
              <a:avLst/>
              <a:gdLst/>
              <a:ahLst/>
              <a:cxnLst/>
              <a:rect l="l" t="t" r="r" b="b"/>
              <a:pathLst>
                <a:path w="611715" h="618462">
                  <a:moveTo>
                    <a:pt x="0" y="0"/>
                  </a:moveTo>
                  <a:lnTo>
                    <a:pt x="611714" y="0"/>
                  </a:lnTo>
                  <a:lnTo>
                    <a:pt x="611714" y="618462"/>
                  </a:lnTo>
                  <a:lnTo>
                    <a:pt x="0" y="6184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7" name="TextBox 17"/>
            <p:cNvSpPr txBox="1"/>
            <p:nvPr/>
          </p:nvSpPr>
          <p:spPr>
            <a:xfrm>
              <a:off x="9016099" y="6373996"/>
              <a:ext cx="8115300" cy="481330"/>
            </a:xfrm>
            <a:prstGeom prst="rect">
              <a:avLst/>
            </a:prstGeom>
          </p:spPr>
          <p:txBody>
            <a:bodyPr lIns="0" tIns="0" rIns="0" bIns="0" rtlCol="0" anchor="t">
              <a:spAutoFit/>
            </a:bodyPr>
            <a:lstStyle/>
            <a:p>
              <a:pPr marL="0" lvl="0" indent="0" algn="l">
                <a:lnSpc>
                  <a:spcPts val="3919"/>
                </a:lnSpc>
                <a:spcBef>
                  <a:spcPct val="0"/>
                </a:spcBef>
              </a:pPr>
              <a:r>
                <a:rPr lang="fr-FR" sz="2799">
                  <a:solidFill>
                    <a:srgbClr val="2657C1"/>
                  </a:solidFill>
                  <a:latin typeface="TT Fors"/>
                  <a:ea typeface="TT Fors"/>
                  <a:cs typeface="TT Fors"/>
                  <a:sym typeface="TT Fors"/>
                </a:rPr>
                <a:t>Filtrer avant les requêtes préparées</a:t>
              </a:r>
              <a:endParaRPr lang="en-US" sz="2799">
                <a:solidFill>
                  <a:srgbClr val="2657C1"/>
                </a:solidFill>
                <a:latin typeface="TT Fors"/>
                <a:ea typeface="TT Fors"/>
                <a:cs typeface="TT Fors"/>
                <a:sym typeface="TT Fors"/>
              </a:endParaRPr>
            </a:p>
          </p:txBody>
        </p:sp>
      </p:grpSp>
      <p:grpSp>
        <p:nvGrpSpPr>
          <p:cNvPr id="21" name="anim_benefit_2">
            <a:extLst>
              <a:ext uri="{FF2B5EF4-FFF2-40B4-BE49-F238E27FC236}">
                <a16:creationId xmlns:a16="http://schemas.microsoft.com/office/drawing/2014/main" id="{749B531C-ED02-BD54-A0EE-B61152D6A949}"/>
              </a:ext>
            </a:extLst>
          </p:cNvPr>
          <p:cNvGrpSpPr/>
          <p:nvPr/>
        </p:nvGrpSpPr>
        <p:grpSpPr>
          <a:xfrm>
            <a:off x="8068632" y="7381697"/>
            <a:ext cx="9062767" cy="618462"/>
            <a:chOff x="8068632" y="7381697"/>
            <a:chExt cx="9062767" cy="618462"/>
          </a:xfrm>
        </p:grpSpPr>
        <p:sp>
          <p:nvSpPr>
            <p:cNvPr id="18" name="Freeform 18"/>
            <p:cNvSpPr/>
            <p:nvPr/>
          </p:nvSpPr>
          <p:spPr>
            <a:xfrm>
              <a:off x="8068632" y="7381697"/>
              <a:ext cx="611715" cy="618462"/>
            </a:xfrm>
            <a:custGeom>
              <a:avLst/>
              <a:gdLst/>
              <a:ahLst/>
              <a:cxnLst/>
              <a:rect l="l" t="t" r="r" b="b"/>
              <a:pathLst>
                <a:path w="611715" h="618462">
                  <a:moveTo>
                    <a:pt x="0" y="0"/>
                  </a:moveTo>
                  <a:lnTo>
                    <a:pt x="611714" y="0"/>
                  </a:lnTo>
                  <a:lnTo>
                    <a:pt x="611714" y="618461"/>
                  </a:lnTo>
                  <a:lnTo>
                    <a:pt x="0" y="61846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TextBox 19"/>
            <p:cNvSpPr txBox="1"/>
            <p:nvPr/>
          </p:nvSpPr>
          <p:spPr>
            <a:xfrm>
              <a:off x="9016099" y="7421687"/>
              <a:ext cx="8115300" cy="481330"/>
            </a:xfrm>
            <a:prstGeom prst="rect">
              <a:avLst/>
            </a:prstGeom>
          </p:spPr>
          <p:txBody>
            <a:bodyPr lIns="0" tIns="0" rIns="0" bIns="0" rtlCol="0" anchor="t">
              <a:spAutoFit/>
            </a:bodyPr>
            <a:lstStyle/>
            <a:p>
              <a:pPr marL="0" lvl="0" indent="0" algn="l">
                <a:lnSpc>
                  <a:spcPts val="3919"/>
                </a:lnSpc>
                <a:spcBef>
                  <a:spcPct val="0"/>
                </a:spcBef>
              </a:pPr>
              <a:r>
                <a:rPr lang="fr-FR" sz="2799">
                  <a:solidFill>
                    <a:srgbClr val="2657C1"/>
                  </a:solidFill>
                  <a:latin typeface="TT Fors"/>
                  <a:ea typeface="TT Fors"/>
                  <a:cs typeface="TT Fors"/>
                  <a:sym typeface="TT Fors"/>
                </a:rPr>
                <a:t>Expliquer les décisions et les traces</a:t>
              </a:r>
              <a:endParaRPr lang="en-US" sz="2799">
                <a:solidFill>
                  <a:srgbClr val="2657C1"/>
                </a:solidFill>
                <a:latin typeface="TT Fors"/>
                <a:ea typeface="TT Fors"/>
                <a:cs typeface="TT Fors"/>
                <a:sym typeface="TT Fors"/>
              </a:endParaRPr>
            </a:p>
          </p:txBody>
        </p:sp>
      </p:grpSp>
    </p:spTree>
  </p:cSld>
  <p:clrMapOvr>
    <a:masterClrMapping/>
  </p:clrMapOvr>
  <mc:AlternateContent xmlns:mc="http://schemas.openxmlformats.org/markup-compatibility/2006">
    <mc:Choice xmlns:p14="http://schemas.microsoft.com/office/powerpoint/2010/main" Requires="p14">
      <p:transition p14:dur="40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par>
                                <p:cTn id="8" presetID="0" presetClass="entr" presetSubtype="0" accel="22000" decel="25000" fill="hold" grpId="1" nodeType="withEffect">
                                  <p:stCondLst>
                                    <p:cond delay="0"/>
                                  </p:stCondLst>
                                  <p:childTnLst>
                                    <p:set>
                                      <p:cBhvr>
                                        <p:cTn id="9" dur="1" fill="hold">
                                          <p:stCondLst>
                                            <p:cond delay="449"/>
                                          </p:stCondLst>
                                        </p:cTn>
                                        <p:tgtEl>
                                          <p:spTgt spid="13"/>
                                        </p:tgtEl>
                                        <p:attrNameLst>
                                          <p:attrName>style.visibility</p:attrName>
                                        </p:attrNameLst>
                                      </p:cBhvr>
                                      <p:to>
                                        <p:strVal val="visible"/>
                                      </p:to>
                                    </p:set>
                                    <p:animMotion origin="layout" path="M 0 0.01111111 L 0 0 E" pathEditMode="relative">
                                      <p:cBhvr from="" to="">
                                        <p:cTn id="10" dur="450" fill="hold">
                                          <p:stCondLst>
                                            <p:cond delay="0"/>
                                          </p:stCondLst>
                                        </p:cTn>
                                        <p:tgtEl>
                                          <p:spTgt spid="1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50"/>
                                        <p:tgtEl>
                                          <p:spTgt spid="9"/>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9"/>
                                        </p:tgtEl>
                                        <p:attrNameLst>
                                          <p:attrName>style.visibility</p:attrName>
                                        </p:attrNameLst>
                                      </p:cBhvr>
                                      <p:to>
                                        <p:strVal val="visible"/>
                                      </p:to>
                                    </p:set>
                                    <p:animMotion origin="layout" path="M 0 0.01111111 L 0 0 E" pathEditMode="relative">
                                      <p:cBhvr from="" to="">
                                        <p:cTn id="18" dur="450" fill="hold">
                                          <p:stCondLst>
                                            <p:cond delay="0"/>
                                          </p:stCondLst>
                                        </p:cTn>
                                        <p:tgtEl>
                                          <p:spTgt spid="9"/>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left)">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left)">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053959" y="1105977"/>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sp>
      <p:sp>
        <p:nvSpPr>
          <p:cNvPr id="3" name="Freeform 3"/>
          <p:cNvSpPr/>
          <p:nvPr/>
        </p:nvSpPr>
        <p:spPr>
          <a:xfrm>
            <a:off x="-2122733" y="9258300"/>
            <a:ext cx="3457291" cy="3457291"/>
          </a:xfrm>
          <a:custGeom>
            <a:avLst/>
            <a:gdLst/>
            <a:ahLst/>
            <a:cxnLst/>
            <a:rect l="l" t="t" r="r" b="b"/>
            <a:pathLst>
              <a:path w="3457291" h="3457291">
                <a:moveTo>
                  <a:pt x="0" y="0"/>
                </a:moveTo>
                <a:lnTo>
                  <a:pt x="3457290" y="0"/>
                </a:lnTo>
                <a:lnTo>
                  <a:pt x="3457290" y="3457291"/>
                </a:lnTo>
                <a:lnTo>
                  <a:pt x="0" y="3457291"/>
                </a:lnTo>
                <a:lnTo>
                  <a:pt x="0" y="0"/>
                </a:lnTo>
                <a:close/>
              </a:path>
            </a:pathLst>
          </a:custGeom>
          <a:blipFill>
            <a:blip r:embed="rId3"/>
            <a:stretch>
              <a:fillRect/>
            </a:stretch>
          </a:blipFill>
        </p:spPr>
      </p:sp>
      <p:sp>
        <p:nvSpPr>
          <p:cNvPr id="4" name="Freeform 4"/>
          <p:cNvSpPr/>
          <p:nvPr/>
        </p:nvSpPr>
        <p:spPr>
          <a:xfrm>
            <a:off x="15255426" y="2459293"/>
            <a:ext cx="776370" cy="776370"/>
          </a:xfrm>
          <a:custGeom>
            <a:avLst/>
            <a:gdLst/>
            <a:ahLst/>
            <a:cxnLst/>
            <a:rect l="l" t="t" r="r" b="b"/>
            <a:pathLst>
              <a:path w="776370" h="776370">
                <a:moveTo>
                  <a:pt x="0" y="0"/>
                </a:moveTo>
                <a:lnTo>
                  <a:pt x="776369" y="0"/>
                </a:lnTo>
                <a:lnTo>
                  <a:pt x="776369" y="776370"/>
                </a:lnTo>
                <a:lnTo>
                  <a:pt x="0" y="7763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7053959" y="9048133"/>
            <a:ext cx="3070508" cy="3070508"/>
          </a:xfrm>
          <a:custGeom>
            <a:avLst/>
            <a:gdLst/>
            <a:ahLst/>
            <a:cxnLst/>
            <a:rect l="l" t="t" r="r" b="b"/>
            <a:pathLst>
              <a:path w="3070508" h="3070508">
                <a:moveTo>
                  <a:pt x="0" y="0"/>
                </a:moveTo>
                <a:lnTo>
                  <a:pt x="3070508" y="0"/>
                </a:lnTo>
                <a:lnTo>
                  <a:pt x="3070508" y="3070508"/>
                </a:lnTo>
                <a:lnTo>
                  <a:pt x="0" y="30705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9" name="TextBox 9"/>
          <p:cNvSpPr txBox="1"/>
          <p:nvPr/>
        </p:nvSpPr>
        <p:spPr>
          <a:xfrm>
            <a:off x="1028700" y="726850"/>
            <a:ext cx="3166518" cy="298159"/>
          </a:xfrm>
          <a:prstGeom prst="rect">
            <a:avLst/>
          </a:prstGeom>
        </p:spPr>
        <p:txBody>
          <a:bodyPr lIns="0" tIns="0" rIns="0" bIns="0" rtlCol="0" anchor="t">
            <a:spAutoFit/>
          </a:bodyPr>
          <a:lstStyle/>
          <a:p>
            <a:pPr algn="l">
              <a:lnSpc>
                <a:spcPts val="2182"/>
              </a:lnSpc>
            </a:pPr>
            <a:r>
              <a:rPr lang="en-US" sz="2250" b="1">
                <a:solidFill>
                  <a:srgbClr val="2657C1"/>
                </a:solidFill>
                <a:latin typeface="TT Fors Bold"/>
                <a:ea typeface="TT Fors Bold"/>
                <a:cs typeface="TT Fors Bold"/>
                <a:sym typeface="TT Fors Bold"/>
              </a:rPr>
              <a:t>CYBERSHIELD AI</a:t>
            </a:r>
          </a:p>
        </p:txBody>
      </p:sp>
      <p:sp>
        <p:nvSpPr>
          <p:cNvPr id="10" name="TextBox 10"/>
          <p:cNvSpPr txBox="1"/>
          <p:nvPr/>
        </p:nvSpPr>
        <p:spPr>
          <a:xfrm>
            <a:off x="9144000" y="631600"/>
            <a:ext cx="1662550"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Projet</a:t>
            </a:r>
          </a:p>
        </p:txBody>
      </p:sp>
      <p:sp>
        <p:nvSpPr>
          <p:cNvPr id="11" name="anim_heading"/>
          <p:cNvSpPr txBox="1"/>
          <p:nvPr/>
        </p:nvSpPr>
        <p:spPr>
          <a:xfrm>
            <a:off x="1028700" y="1681529"/>
            <a:ext cx="13026266" cy="1142872"/>
          </a:xfrm>
          <a:prstGeom prst="rect">
            <a:avLst/>
          </a:prstGeom>
        </p:spPr>
        <p:txBody>
          <a:bodyPr lIns="0" tIns="0" rIns="0" bIns="0" rtlCol="0" anchor="t">
            <a:spAutoFit/>
          </a:bodyPr>
          <a:lstStyle/>
          <a:p>
            <a:pPr algn="l">
              <a:lnSpc>
                <a:spcPts val="8535"/>
              </a:lnSpc>
            </a:pPr>
            <a:r>
              <a:rPr lang="en-US" sz="8799" spc="-87">
                <a:solidFill>
                  <a:srgbClr val="2657C1"/>
                </a:solidFill>
                <a:latin typeface="Etna Sans Serif"/>
                <a:ea typeface="Etna Sans Serif"/>
                <a:cs typeface="Etna Sans Serif"/>
                <a:sym typeface="Etna Sans Serif"/>
              </a:rPr>
              <a:t>Architecture</a:t>
            </a:r>
          </a:p>
        </p:txBody>
      </p:sp>
      <p:sp>
        <p:nvSpPr>
          <p:cNvPr id="12" name="TextBox 12"/>
          <p:cNvSpPr txBox="1"/>
          <p:nvPr/>
        </p:nvSpPr>
        <p:spPr>
          <a:xfrm>
            <a:off x="13726729" y="631600"/>
            <a:ext cx="1916881"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Résultats</a:t>
            </a:r>
          </a:p>
        </p:txBody>
      </p:sp>
      <p:sp>
        <p:nvSpPr>
          <p:cNvPr id="13" name="TextBox 13"/>
          <p:cNvSpPr txBox="1"/>
          <p:nvPr/>
        </p:nvSpPr>
        <p:spPr>
          <a:xfrm>
            <a:off x="16053186" y="633813"/>
            <a:ext cx="1206114"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Suite</a:t>
            </a:r>
          </a:p>
        </p:txBody>
      </p:sp>
      <p:sp>
        <p:nvSpPr>
          <p:cNvPr id="14" name="TextBox 14"/>
          <p:cNvSpPr txBox="1"/>
          <p:nvPr/>
        </p:nvSpPr>
        <p:spPr>
          <a:xfrm>
            <a:off x="11362447" y="633813"/>
            <a:ext cx="1907082" cy="394403"/>
          </a:xfrm>
          <a:prstGeom prst="rect">
            <a:avLst/>
          </a:prstGeom>
        </p:spPr>
        <p:txBody>
          <a:bodyPr lIns="0" tIns="0" rIns="0" bIns="0" rtlCol="0" anchor="t">
            <a:spAutoFit/>
          </a:bodyPr>
          <a:lstStyle/>
          <a:p>
            <a:pPr marL="0" lvl="0" indent="0" algn="l">
              <a:lnSpc>
                <a:spcPts val="3151"/>
              </a:lnSpc>
              <a:spcBef>
                <a:spcPct val="0"/>
              </a:spcBef>
            </a:pPr>
            <a:r>
              <a:rPr lang="en-US" sz="2251" b="1">
                <a:solidFill>
                  <a:srgbClr val="2657C1"/>
                </a:solidFill>
                <a:latin typeface="TT Fors Bold" panose="020B0604020202020204" charset="0"/>
                <a:ea typeface="TT Fors Bold"/>
                <a:cs typeface="TT Fors Bold"/>
                <a:sym typeface="TT Fors Bold"/>
              </a:rPr>
              <a:t>Solution</a:t>
            </a:r>
          </a:p>
        </p:txBody>
      </p:sp>
      <p:grpSp>
        <p:nvGrpSpPr>
          <p:cNvPr id="15" name="anim_request">
            <a:extLst>
              <a:ext uri="{FF2B5EF4-FFF2-40B4-BE49-F238E27FC236}">
                <a16:creationId xmlns:a16="http://schemas.microsoft.com/office/drawing/2014/main" id="{86317ACD-1326-D138-D081-199558B4DBE7}"/>
              </a:ext>
            </a:extLst>
          </p:cNvPr>
          <p:cNvGrpSpPr/>
          <p:nvPr/>
        </p:nvGrpSpPr>
        <p:grpSpPr>
          <a:xfrm>
            <a:off x="1285875" y="3333750"/>
            <a:ext cx="7143750" cy="1428750"/>
            <a:chOff x="1285875" y="3333750"/>
            <a:chExt cx="7143750" cy="1428750"/>
          </a:xfrm>
        </p:grpSpPr>
        <p:sp>
          <p:nvSpPr>
            <p:cNvPr id="2001" name="client_frame">
              <a:extLst>
                <a:ext uri="{FF2B5EF4-FFF2-40B4-BE49-F238E27FC236}">
                  <a16:creationId xmlns:a16="http://schemas.microsoft.com/office/drawing/2014/main" id="{C79B5D6D-9E30-4965-8CDA-2BEE548EA49E}"/>
                </a:ext>
              </a:extLst>
            </p:cNvPr>
            <p:cNvSpPr>
              <a:spLocks/>
            </p:cNvSpPr>
            <p:nvPr/>
          </p:nvSpPr>
          <p:spPr>
            <a:xfrm>
              <a:off x="1285875" y="3333750"/>
              <a:ext cx="2428875" cy="1428750"/>
            </a:xfrm>
            <a:prstGeom prst="rect">
              <a:avLst/>
            </a:prstGeom>
            <a:solidFill>
              <a:srgbClr val="F7F7F7"/>
            </a:solidFill>
            <a:ln w="19050">
              <a:solidFill>
                <a:srgbClr val="2657C1"/>
              </a:solidFill>
              <a:prstDash val="solid"/>
            </a:ln>
          </p:spPr>
        </p:sp>
        <p:sp>
          <p:nvSpPr>
            <p:cNvPr id="2002" name="client_title">
              <a:extLst>
                <a:ext uri="{FF2B5EF4-FFF2-40B4-BE49-F238E27FC236}">
                  <a16:creationId xmlns:a16="http://schemas.microsoft.com/office/drawing/2014/main" id="{5CC443BE-AEEC-4BF4-BFBB-A3A678B0697A}"/>
                </a:ext>
              </a:extLst>
            </p:cNvPr>
            <p:cNvSpPr>
              <a:spLocks/>
            </p:cNvSpPr>
            <p:nvPr/>
          </p:nvSpPr>
          <p:spPr>
            <a:xfrm>
              <a:off x="1438275" y="3467100"/>
              <a:ext cx="2124075" cy="552450"/>
            </a:xfrm>
            <a:prstGeom prst="rect">
              <a:avLst/>
            </a:prstGeom>
            <a:noFill/>
            <a:ln w="9525">
              <a:noFill/>
              <a:prstDash val="solid"/>
            </a:ln>
          </p:spPr>
          <p:txBody>
            <a:bodyPr wrap="square" lIns="0" tIns="0" rIns="0" bIns="0" anchor="ctr">
              <a:noAutofit/>
            </a:bodyPr>
            <a:lstStyle>
              <a:defPPr algn="ctr">
                <a:defRPr sz="2325">
                  <a:solidFill>
                    <a:srgbClr val="2657C1"/>
                  </a:solidFill>
                  <a:latin typeface="TT Fors Bold"/>
                  <a:ea typeface="TT Fors Bold"/>
                  <a:cs typeface="TT Fors Bold"/>
                </a:defRPr>
              </a:defPPr>
            </a:lstStyle>
            <a:p>
              <a:pPr algn="ctr">
                <a:defRPr sz="2325">
                  <a:solidFill>
                    <a:srgbClr val="2657C1"/>
                  </a:solidFill>
                  <a:latin typeface="TT Fors Bold"/>
                  <a:ea typeface="TT Fors Bold"/>
                  <a:cs typeface="TT Fors Bold"/>
                </a:defRPr>
              </a:pPr>
              <a:r>
                <a:rPr sz="2325">
                  <a:solidFill>
                    <a:srgbClr val="2657C1"/>
                  </a:solidFill>
                  <a:latin typeface="TT Fors Bold"/>
                  <a:ea typeface="TT Fors Bold"/>
                  <a:cs typeface="TT Fors Bold"/>
                </a:rPr>
                <a:t>Client web</a:t>
              </a:r>
            </a:p>
          </p:txBody>
        </p:sp>
        <p:sp>
          <p:nvSpPr>
            <p:cNvPr id="2003" name="client_desc">
              <a:extLst>
                <a:ext uri="{FF2B5EF4-FFF2-40B4-BE49-F238E27FC236}">
                  <a16:creationId xmlns:a16="http://schemas.microsoft.com/office/drawing/2014/main" id="{F9B87DEF-F0DB-4F18-B101-4E8B8CB6C9A8}"/>
                </a:ext>
              </a:extLst>
            </p:cNvPr>
            <p:cNvSpPr>
              <a:spLocks/>
            </p:cNvSpPr>
            <p:nvPr/>
          </p:nvSpPr>
          <p:spPr>
            <a:xfrm>
              <a:off x="1428750" y="4076700"/>
              <a:ext cx="2143125" cy="6096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Paramètre HTTP</a:t>
              </a:r>
            </a:p>
          </p:txBody>
        </p:sp>
        <p:sp>
          <p:nvSpPr>
            <p:cNvPr id="2004" name="rules_frame">
              <a:extLst>
                <a:ext uri="{FF2B5EF4-FFF2-40B4-BE49-F238E27FC236}">
                  <a16:creationId xmlns:a16="http://schemas.microsoft.com/office/drawing/2014/main" id="{F61C51B4-0403-4EB2-BD64-8885E4043BD4}"/>
                </a:ext>
              </a:extLst>
            </p:cNvPr>
            <p:cNvSpPr>
              <a:spLocks/>
            </p:cNvSpPr>
            <p:nvPr/>
          </p:nvSpPr>
          <p:spPr>
            <a:xfrm>
              <a:off x="5191125" y="3333750"/>
              <a:ext cx="3238500" cy="1428750"/>
            </a:xfrm>
            <a:prstGeom prst="rect">
              <a:avLst/>
            </a:prstGeom>
            <a:solidFill>
              <a:srgbClr val="F7F7F7"/>
            </a:solidFill>
            <a:ln w="19050">
              <a:solidFill>
                <a:srgbClr val="2657C1"/>
              </a:solidFill>
              <a:prstDash val="solid"/>
            </a:ln>
          </p:spPr>
        </p:sp>
        <p:sp>
          <p:nvSpPr>
            <p:cNvPr id="2005" name="rules_title">
              <a:extLst>
                <a:ext uri="{FF2B5EF4-FFF2-40B4-BE49-F238E27FC236}">
                  <a16:creationId xmlns:a16="http://schemas.microsoft.com/office/drawing/2014/main" id="{4392E6FF-9302-4862-AE8E-342A2D328FCE}"/>
                </a:ext>
              </a:extLst>
            </p:cNvPr>
            <p:cNvSpPr>
              <a:spLocks/>
            </p:cNvSpPr>
            <p:nvPr/>
          </p:nvSpPr>
          <p:spPr>
            <a:xfrm>
              <a:off x="5343525" y="3467100"/>
              <a:ext cx="2933700" cy="552450"/>
            </a:xfrm>
            <a:prstGeom prst="rect">
              <a:avLst/>
            </a:prstGeom>
            <a:noFill/>
            <a:ln w="9525">
              <a:noFill/>
              <a:prstDash val="solid"/>
            </a:ln>
          </p:spPr>
          <p:txBody>
            <a:bodyPr wrap="square" lIns="0" tIns="0" rIns="0" bIns="0" anchor="ctr">
              <a:noAutofit/>
            </a:bodyPr>
            <a:lstStyle>
              <a:defPPr algn="ctr">
                <a:defRPr sz="2325">
                  <a:solidFill>
                    <a:srgbClr val="2657C1"/>
                  </a:solidFill>
                  <a:latin typeface="TT Fors Bold"/>
                  <a:ea typeface="TT Fors Bold"/>
                  <a:cs typeface="TT Fors Bold"/>
                </a:defRPr>
              </a:defPPr>
            </a:lstStyle>
            <a:p>
              <a:pPr algn="ctr">
                <a:defRPr sz="2325">
                  <a:solidFill>
                    <a:srgbClr val="2657C1"/>
                  </a:solidFill>
                  <a:latin typeface="TT Fors Bold"/>
                  <a:ea typeface="TT Fors Bold"/>
                  <a:cs typeface="TT Fors Bold"/>
                </a:defRPr>
              </a:pPr>
              <a:r>
                <a:rPr sz="2325">
                  <a:solidFill>
                    <a:srgbClr val="2657C1"/>
                  </a:solidFill>
                  <a:latin typeface="TT Fors Bold"/>
                  <a:ea typeface="TT Fors Bold"/>
                  <a:cs typeface="TT Fors Bold"/>
                </a:rPr>
                <a:t>PHP + règles</a:t>
              </a:r>
            </a:p>
          </p:txBody>
        </p:sp>
        <p:sp>
          <p:nvSpPr>
            <p:cNvPr id="2006" name="rules_desc">
              <a:extLst>
                <a:ext uri="{FF2B5EF4-FFF2-40B4-BE49-F238E27FC236}">
                  <a16:creationId xmlns:a16="http://schemas.microsoft.com/office/drawing/2014/main" id="{E77B7833-A4D4-4A0E-A428-18DEBAEE484C}"/>
                </a:ext>
              </a:extLst>
            </p:cNvPr>
            <p:cNvSpPr>
              <a:spLocks/>
            </p:cNvSpPr>
            <p:nvPr/>
          </p:nvSpPr>
          <p:spPr>
            <a:xfrm>
              <a:off x="5334000" y="4076700"/>
              <a:ext cx="2952750" cy="6096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Signatures SQLi</a:t>
              </a:r>
            </a:p>
          </p:txBody>
        </p:sp>
        <p:sp>
          <p:nvSpPr>
            <p:cNvPr id="2007" name="request_rail">
              <a:extLst>
                <a:ext uri="{FF2B5EF4-FFF2-40B4-BE49-F238E27FC236}">
                  <a16:creationId xmlns:a16="http://schemas.microsoft.com/office/drawing/2014/main" id="{DA602083-0038-44A7-AACD-D75CE909EC93}"/>
                </a:ext>
              </a:extLst>
            </p:cNvPr>
            <p:cNvSpPr>
              <a:spLocks/>
            </p:cNvSpPr>
            <p:nvPr/>
          </p:nvSpPr>
          <p:spPr>
            <a:xfrm>
              <a:off x="3886200" y="3981450"/>
              <a:ext cx="1095375" cy="152400"/>
            </a:xfrm>
            <a:prstGeom prst="rightArrow">
              <a:avLst/>
            </a:prstGeom>
            <a:solidFill>
              <a:srgbClr val="2657C1"/>
            </a:solidFill>
            <a:ln w="9525">
              <a:noFill/>
              <a:prstDash val="solid"/>
            </a:ln>
          </p:spPr>
        </p:sp>
      </p:grpSp>
      <p:sp>
        <p:nvSpPr>
          <p:cNvPr id="2008" name="anim_http">
            <a:extLst>
              <a:ext uri="{FF2B5EF4-FFF2-40B4-BE49-F238E27FC236}">
                <a16:creationId xmlns:a16="http://schemas.microsoft.com/office/drawing/2014/main" id="{CF68590F-E177-472F-89E3-1D96A547A19B}"/>
              </a:ext>
            </a:extLst>
          </p:cNvPr>
          <p:cNvSpPr>
            <a:spLocks/>
          </p:cNvSpPr>
          <p:nvPr/>
        </p:nvSpPr>
        <p:spPr>
          <a:xfrm>
            <a:off x="3838575" y="3838575"/>
            <a:ext cx="1000125" cy="438150"/>
          </a:xfrm>
          <a:prstGeom prst="rect">
            <a:avLst/>
          </a:prstGeom>
          <a:solidFill>
            <a:srgbClr val="F7F7F7"/>
          </a:solidFill>
          <a:ln w="13335">
            <a:solidFill>
              <a:srgbClr val="2657C1"/>
            </a:solidFill>
            <a:prstDash val="solid"/>
          </a:ln>
        </p:spPr>
        <p:txBody>
          <a:bodyPr wrap="square" lIns="28575" tIns="28575" rIns="28575" bIns="28575"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HTTP</a:t>
            </a:r>
          </a:p>
        </p:txBody>
      </p:sp>
      <p:grpSp>
        <p:nvGrpSpPr>
          <p:cNvPr id="16" name="anim_decision">
            <a:extLst>
              <a:ext uri="{FF2B5EF4-FFF2-40B4-BE49-F238E27FC236}">
                <a16:creationId xmlns:a16="http://schemas.microsoft.com/office/drawing/2014/main" id="{0045F3C9-567F-1617-FB63-FD271EEA7A54}"/>
              </a:ext>
            </a:extLst>
          </p:cNvPr>
          <p:cNvGrpSpPr/>
          <p:nvPr/>
        </p:nvGrpSpPr>
        <p:grpSpPr>
          <a:xfrm>
            <a:off x="8639175" y="2971800"/>
            <a:ext cx="5219700" cy="1790700"/>
            <a:chOff x="8639175" y="2971800"/>
            <a:chExt cx="5219700" cy="1790700"/>
          </a:xfrm>
        </p:grpSpPr>
        <p:sp>
          <p:nvSpPr>
            <p:cNvPr id="2009" name="decision_frame">
              <a:extLst>
                <a:ext uri="{FF2B5EF4-FFF2-40B4-BE49-F238E27FC236}">
                  <a16:creationId xmlns:a16="http://schemas.microsoft.com/office/drawing/2014/main" id="{838F89B7-190C-4065-BC71-363B76CCC47E}"/>
                </a:ext>
              </a:extLst>
            </p:cNvPr>
            <p:cNvSpPr>
              <a:spLocks/>
            </p:cNvSpPr>
            <p:nvPr/>
          </p:nvSpPr>
          <p:spPr>
            <a:xfrm>
              <a:off x="10620375" y="3333750"/>
              <a:ext cx="3238500" cy="1428750"/>
            </a:xfrm>
            <a:prstGeom prst="rect">
              <a:avLst/>
            </a:prstGeom>
            <a:solidFill>
              <a:srgbClr val="F7F7F7"/>
            </a:solidFill>
            <a:ln w="19050">
              <a:solidFill>
                <a:srgbClr val="2657C1"/>
              </a:solidFill>
              <a:prstDash val="solid"/>
            </a:ln>
          </p:spPr>
        </p:sp>
        <p:sp>
          <p:nvSpPr>
            <p:cNvPr id="2010" name="decision_title">
              <a:extLst>
                <a:ext uri="{FF2B5EF4-FFF2-40B4-BE49-F238E27FC236}">
                  <a16:creationId xmlns:a16="http://schemas.microsoft.com/office/drawing/2014/main" id="{6BD2E0B0-E6CB-4AD5-B051-2B83FF9014C6}"/>
                </a:ext>
              </a:extLst>
            </p:cNvPr>
            <p:cNvSpPr>
              <a:spLocks/>
            </p:cNvSpPr>
            <p:nvPr/>
          </p:nvSpPr>
          <p:spPr>
            <a:xfrm>
              <a:off x="10772775" y="3467100"/>
              <a:ext cx="2933700" cy="552450"/>
            </a:xfrm>
            <a:prstGeom prst="rect">
              <a:avLst/>
            </a:prstGeom>
            <a:noFill/>
            <a:ln w="9525">
              <a:noFill/>
              <a:prstDash val="solid"/>
            </a:ln>
          </p:spPr>
          <p:txBody>
            <a:bodyPr wrap="square" lIns="0" tIns="0" rIns="0" bIns="0" anchor="ctr">
              <a:noAutofit/>
            </a:bodyPr>
            <a:lstStyle>
              <a:defPPr algn="ctr">
                <a:defRPr sz="2325">
                  <a:solidFill>
                    <a:srgbClr val="2657C1"/>
                  </a:solidFill>
                  <a:latin typeface="TT Fors Bold"/>
                  <a:ea typeface="TT Fors Bold"/>
                  <a:cs typeface="TT Fors Bold"/>
                </a:defRPr>
              </a:defPPr>
            </a:lstStyle>
            <a:p>
              <a:pPr algn="ctr">
                <a:defRPr sz="2325">
                  <a:solidFill>
                    <a:srgbClr val="2657C1"/>
                  </a:solidFill>
                  <a:latin typeface="TT Fors Bold"/>
                  <a:ea typeface="TT Fors Bold"/>
                  <a:cs typeface="TT Fors Bold"/>
                </a:defRPr>
              </a:pPr>
              <a:r>
                <a:rPr sz="2325">
                  <a:solidFill>
                    <a:srgbClr val="2657C1"/>
                  </a:solidFill>
                  <a:latin typeface="TT Fors Bold"/>
                  <a:ea typeface="TT Fors Bold"/>
                  <a:cs typeface="TT Fors Bold"/>
                </a:rPr>
                <a:t>Décision du filtre</a:t>
              </a:r>
            </a:p>
          </p:txBody>
        </p:sp>
        <p:sp>
          <p:nvSpPr>
            <p:cNvPr id="2011" name="decision_desc">
              <a:extLst>
                <a:ext uri="{FF2B5EF4-FFF2-40B4-BE49-F238E27FC236}">
                  <a16:creationId xmlns:a16="http://schemas.microsoft.com/office/drawing/2014/main" id="{64D7EF12-0FDA-4D04-BD42-2C900C5C0103}"/>
                </a:ext>
              </a:extLst>
            </p:cNvPr>
            <p:cNvSpPr>
              <a:spLocks/>
            </p:cNvSpPr>
            <p:nvPr/>
          </p:nvSpPr>
          <p:spPr>
            <a:xfrm>
              <a:off x="10763250" y="4076700"/>
              <a:ext cx="2952750" cy="6096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Blocage / observation</a:t>
              </a:r>
            </a:p>
          </p:txBody>
        </p:sp>
        <p:sp>
          <p:nvSpPr>
            <p:cNvPr id="2012" name="decision_rail">
              <a:extLst>
                <a:ext uri="{FF2B5EF4-FFF2-40B4-BE49-F238E27FC236}">
                  <a16:creationId xmlns:a16="http://schemas.microsoft.com/office/drawing/2014/main" id="{43CE60D5-9E68-48AF-8075-B04C8CB46D1C}"/>
                </a:ext>
              </a:extLst>
            </p:cNvPr>
            <p:cNvSpPr>
              <a:spLocks/>
            </p:cNvSpPr>
            <p:nvPr/>
          </p:nvSpPr>
          <p:spPr>
            <a:xfrm>
              <a:off x="8639175" y="3981450"/>
              <a:ext cx="1781175" cy="152400"/>
            </a:xfrm>
            <a:prstGeom prst="rightArrow">
              <a:avLst/>
            </a:prstGeom>
            <a:solidFill>
              <a:srgbClr val="2657C1"/>
            </a:solidFill>
            <a:ln w="9525">
              <a:noFill/>
              <a:prstDash val="solid"/>
            </a:ln>
          </p:spPr>
        </p:sp>
        <p:sp>
          <p:nvSpPr>
            <p:cNvPr id="2013" name="direct_label">
              <a:extLst>
                <a:ext uri="{FF2B5EF4-FFF2-40B4-BE49-F238E27FC236}">
                  <a16:creationId xmlns:a16="http://schemas.microsoft.com/office/drawing/2014/main" id="{5570A58B-5107-42DF-8EC2-DB64608D26C5}"/>
                </a:ext>
              </a:extLst>
            </p:cNvPr>
            <p:cNvSpPr>
              <a:spLocks/>
            </p:cNvSpPr>
            <p:nvPr/>
          </p:nvSpPr>
          <p:spPr>
            <a:xfrm>
              <a:off x="8648700" y="2971800"/>
              <a:ext cx="1885950" cy="361950"/>
            </a:xfrm>
            <a:prstGeom prst="rect">
              <a:avLst/>
            </a:prstGeom>
            <a:noFill/>
            <a:ln w="9525">
              <a:noFill/>
              <a:prstDash val="solid"/>
            </a:ln>
          </p:spPr>
          <p:txBody>
            <a:bodyPr wrap="square" lIns="0" tIns="0" rIns="0" bIns="0" anchor="ctr">
              <a:noAutofit/>
            </a:bodyPr>
            <a:lstStyle>
              <a:defPPr algn="ctr">
                <a:defRPr sz="1725">
                  <a:solidFill>
                    <a:srgbClr val="2657C1"/>
                  </a:solidFill>
                  <a:latin typeface="TT Fors"/>
                  <a:ea typeface="TT Fors"/>
                  <a:cs typeface="TT Fors"/>
                </a:defRPr>
              </a:defPPr>
            </a:lstStyle>
            <a:p>
              <a:pPr algn="ctr">
                <a:defRPr sz="1725">
                  <a:solidFill>
                    <a:srgbClr val="2657C1"/>
                  </a:solidFill>
                  <a:latin typeface="TT Fors"/>
                  <a:ea typeface="TT Fors"/>
                  <a:cs typeface="TT Fors"/>
                </a:defRPr>
              </a:pPr>
              <a:r>
                <a:rPr sz="1725">
                  <a:solidFill>
                    <a:srgbClr val="2657C1"/>
                  </a:solidFill>
                  <a:latin typeface="TT Fors"/>
                  <a:ea typeface="TT Fors"/>
                  <a:cs typeface="TT Fors"/>
                </a:rPr>
                <a:t>Signature forte</a:t>
              </a:r>
            </a:p>
          </p:txBody>
        </p:sp>
      </p:grpSp>
      <p:grpSp>
        <p:nvGrpSpPr>
          <p:cNvPr id="17" name="anim_mlp">
            <a:extLst>
              <a:ext uri="{FF2B5EF4-FFF2-40B4-BE49-F238E27FC236}">
                <a16:creationId xmlns:a16="http://schemas.microsoft.com/office/drawing/2014/main" id="{EB8EF989-9219-2C8D-E607-3D26DD0E4986}"/>
              </a:ext>
            </a:extLst>
          </p:cNvPr>
          <p:cNvGrpSpPr/>
          <p:nvPr/>
        </p:nvGrpSpPr>
        <p:grpSpPr>
          <a:xfrm>
            <a:off x="5191125" y="4057650"/>
            <a:ext cx="4248150" cy="3457575"/>
            <a:chOff x="5191125" y="4057650"/>
            <a:chExt cx="4248150" cy="3457575"/>
          </a:xfrm>
        </p:grpSpPr>
        <p:sp>
          <p:nvSpPr>
            <p:cNvPr id="2014" name="mlp_frame">
              <a:extLst>
                <a:ext uri="{FF2B5EF4-FFF2-40B4-BE49-F238E27FC236}">
                  <a16:creationId xmlns:a16="http://schemas.microsoft.com/office/drawing/2014/main" id="{0CD7751A-41EA-41BD-B526-E8ED9758B3AA}"/>
                </a:ext>
              </a:extLst>
            </p:cNvPr>
            <p:cNvSpPr>
              <a:spLocks/>
            </p:cNvSpPr>
            <p:nvPr/>
          </p:nvSpPr>
          <p:spPr>
            <a:xfrm>
              <a:off x="5191125" y="6191250"/>
              <a:ext cx="3238500" cy="1323975"/>
            </a:xfrm>
            <a:prstGeom prst="rect">
              <a:avLst/>
            </a:prstGeom>
            <a:solidFill>
              <a:srgbClr val="E7EEFC"/>
            </a:solidFill>
            <a:ln w="19050">
              <a:solidFill>
                <a:srgbClr val="2657C1"/>
              </a:solidFill>
              <a:prstDash val="solid"/>
            </a:ln>
          </p:spPr>
        </p:sp>
        <p:sp>
          <p:nvSpPr>
            <p:cNvPr id="2015" name="mlp_title">
              <a:extLst>
                <a:ext uri="{FF2B5EF4-FFF2-40B4-BE49-F238E27FC236}">
                  <a16:creationId xmlns:a16="http://schemas.microsoft.com/office/drawing/2014/main" id="{5BCF9B2B-E707-42B7-8FEA-4E4198F7765F}"/>
                </a:ext>
              </a:extLst>
            </p:cNvPr>
            <p:cNvSpPr>
              <a:spLocks/>
            </p:cNvSpPr>
            <p:nvPr/>
          </p:nvSpPr>
          <p:spPr>
            <a:xfrm>
              <a:off x="5343525" y="6324600"/>
              <a:ext cx="2933700" cy="552450"/>
            </a:xfrm>
            <a:prstGeom prst="rect">
              <a:avLst/>
            </a:prstGeom>
            <a:noFill/>
            <a:ln w="9525">
              <a:noFill/>
              <a:prstDash val="solid"/>
            </a:ln>
          </p:spPr>
          <p:txBody>
            <a:bodyPr wrap="square" lIns="0" tIns="0" rIns="0" bIns="0" anchor="ctr">
              <a:noAutofit/>
            </a:bodyPr>
            <a:lstStyle>
              <a:defPPr algn="ctr">
                <a:defRPr sz="2325">
                  <a:solidFill>
                    <a:srgbClr val="2657C1"/>
                  </a:solidFill>
                  <a:latin typeface="TT Fors Bold"/>
                  <a:ea typeface="TT Fors Bold"/>
                  <a:cs typeface="TT Fors Bold"/>
                </a:defRPr>
              </a:defPPr>
            </a:lstStyle>
            <a:p>
              <a:pPr algn="ctr">
                <a:defRPr sz="2325">
                  <a:solidFill>
                    <a:srgbClr val="2657C1"/>
                  </a:solidFill>
                  <a:latin typeface="TT Fors Bold"/>
                  <a:ea typeface="TT Fors Bold"/>
                  <a:cs typeface="TT Fors Bold"/>
                </a:defRPr>
              </a:pPr>
              <a:r>
                <a:rPr sz="2325">
                  <a:solidFill>
                    <a:srgbClr val="2657C1"/>
                  </a:solidFill>
                  <a:latin typeface="TT Fors Bold"/>
                  <a:ea typeface="TT Fors Bold"/>
                  <a:cs typeface="TT Fors Bold"/>
                </a:rPr>
                <a:t>MLP local</a:t>
              </a:r>
            </a:p>
          </p:txBody>
        </p:sp>
        <p:sp>
          <p:nvSpPr>
            <p:cNvPr id="2016" name="mlp_desc">
              <a:extLst>
                <a:ext uri="{FF2B5EF4-FFF2-40B4-BE49-F238E27FC236}">
                  <a16:creationId xmlns:a16="http://schemas.microsoft.com/office/drawing/2014/main" id="{89920698-D21C-440E-A22D-CF6B53343DDD}"/>
                </a:ext>
              </a:extLst>
            </p:cNvPr>
            <p:cNvSpPr>
              <a:spLocks/>
            </p:cNvSpPr>
            <p:nvPr/>
          </p:nvSpPr>
          <p:spPr>
            <a:xfrm>
              <a:off x="5334000" y="6934200"/>
              <a:ext cx="2952750" cy="504825"/>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Analyse ciblée et bornée</a:t>
              </a:r>
            </a:p>
          </p:txBody>
        </p:sp>
        <p:sp>
          <p:nvSpPr>
            <p:cNvPr id="2017" name="mlp_call">
              <a:extLst>
                <a:ext uri="{FF2B5EF4-FFF2-40B4-BE49-F238E27FC236}">
                  <a16:creationId xmlns:a16="http://schemas.microsoft.com/office/drawing/2014/main" id="{89B962EB-B4CB-4A96-B729-A19D78D69A07}"/>
                </a:ext>
              </a:extLst>
            </p:cNvPr>
            <p:cNvSpPr>
              <a:spLocks/>
            </p:cNvSpPr>
            <p:nvPr/>
          </p:nvSpPr>
          <p:spPr>
            <a:xfrm>
              <a:off x="6734175" y="5048250"/>
              <a:ext cx="152400" cy="876300"/>
            </a:xfrm>
            <a:prstGeom prst="downArrow">
              <a:avLst/>
            </a:prstGeom>
            <a:solidFill>
              <a:srgbClr val="2657C1"/>
            </a:solidFill>
            <a:ln w="9525">
              <a:noFill/>
              <a:prstDash val="solid"/>
            </a:ln>
          </p:spPr>
        </p:sp>
        <p:sp>
          <p:nvSpPr>
            <p:cNvPr id="2018" name="optional">
              <a:extLst>
                <a:ext uri="{FF2B5EF4-FFF2-40B4-BE49-F238E27FC236}">
                  <a16:creationId xmlns:a16="http://schemas.microsoft.com/office/drawing/2014/main" id="{66234C20-AA30-4CC6-B551-ECABDDF279C2}"/>
                </a:ext>
              </a:extLst>
            </p:cNvPr>
            <p:cNvSpPr>
              <a:spLocks/>
            </p:cNvSpPr>
            <p:nvPr/>
          </p:nvSpPr>
          <p:spPr>
            <a:xfrm>
              <a:off x="7143750" y="5219700"/>
              <a:ext cx="1952625" cy="371475"/>
            </a:xfrm>
            <a:prstGeom prst="rect">
              <a:avLst/>
            </a:prstGeom>
            <a:noFill/>
            <a:ln w="9525">
              <a:noFill/>
              <a:prstDash val="solid"/>
            </a:ln>
          </p:spPr>
          <p:txBody>
            <a:bodyPr wrap="square" lIns="0" tIns="0" rIns="0" bIns="0" anchor="ctr">
              <a:noAutofit/>
            </a:bodyPr>
            <a:lstStyle>
              <a:defPPr algn="l">
                <a:defRPr sz="1800">
                  <a:solidFill>
                    <a:srgbClr val="2657C1"/>
                  </a:solidFill>
                  <a:latin typeface="TT Fors"/>
                  <a:ea typeface="TT Fors"/>
                  <a:cs typeface="TT Fors"/>
                </a:defRPr>
              </a:defPPr>
            </a:lstStyle>
            <a:p>
              <a:pPr algn="l">
                <a:defRPr sz="1800">
                  <a:solidFill>
                    <a:srgbClr val="2657C1"/>
                  </a:solidFill>
                  <a:latin typeface="TT Fors"/>
                  <a:ea typeface="TT Fors"/>
                  <a:cs typeface="TT Fors"/>
                </a:defRPr>
              </a:pPr>
              <a:r>
                <a:rPr sz="1800">
                  <a:solidFill>
                    <a:srgbClr val="2657C1"/>
                  </a:solidFill>
                  <a:latin typeface="TT Fors"/>
                  <a:ea typeface="TT Fors"/>
                  <a:cs typeface="TT Fors"/>
                </a:rPr>
                <a:t>Si sollicité</a:t>
              </a:r>
            </a:p>
          </p:txBody>
        </p:sp>
        <p:sp>
          <p:nvSpPr>
            <p:cNvPr id="2019" name="mlp_back_a">
              <a:extLst>
                <a:ext uri="{FF2B5EF4-FFF2-40B4-BE49-F238E27FC236}">
                  <a16:creationId xmlns:a16="http://schemas.microsoft.com/office/drawing/2014/main" id="{151DBFA3-6D37-4092-95E4-6D12BE8B2480}"/>
                </a:ext>
              </a:extLst>
            </p:cNvPr>
            <p:cNvSpPr>
              <a:spLocks/>
            </p:cNvSpPr>
            <p:nvPr/>
          </p:nvSpPr>
          <p:spPr>
            <a:xfrm>
              <a:off x="8591550" y="6848475"/>
              <a:ext cx="847725" cy="0"/>
            </a:xfrm>
            <a:prstGeom prst="line">
              <a:avLst/>
            </a:prstGeom>
            <a:noFill/>
            <a:ln w="19050">
              <a:solidFill>
                <a:srgbClr val="2657C1"/>
              </a:solidFill>
              <a:prstDash val="solid"/>
            </a:ln>
          </p:spPr>
        </p:sp>
        <p:sp>
          <p:nvSpPr>
            <p:cNvPr id="2020" name="mlp_back_b">
              <a:extLst>
                <a:ext uri="{FF2B5EF4-FFF2-40B4-BE49-F238E27FC236}">
                  <a16:creationId xmlns:a16="http://schemas.microsoft.com/office/drawing/2014/main" id="{464150DE-A826-4B8A-8790-DBEB30F683BB}"/>
                </a:ext>
              </a:extLst>
            </p:cNvPr>
            <p:cNvSpPr>
              <a:spLocks/>
            </p:cNvSpPr>
            <p:nvPr/>
          </p:nvSpPr>
          <p:spPr>
            <a:xfrm>
              <a:off x="9439275" y="4057650"/>
              <a:ext cx="0" cy="2790825"/>
            </a:xfrm>
            <a:prstGeom prst="line">
              <a:avLst/>
            </a:prstGeom>
            <a:noFill/>
            <a:ln w="19050">
              <a:solidFill>
                <a:srgbClr val="2657C1"/>
              </a:solidFill>
              <a:prstDash val="solid"/>
            </a:ln>
          </p:spPr>
        </p:sp>
      </p:grpSp>
      <p:sp>
        <p:nvSpPr>
          <p:cNvPr id="2021" name="anim_score">
            <a:extLst>
              <a:ext uri="{FF2B5EF4-FFF2-40B4-BE49-F238E27FC236}">
                <a16:creationId xmlns:a16="http://schemas.microsoft.com/office/drawing/2014/main" id="{F96ECE02-B596-4742-8AF7-DE79E362EC00}"/>
              </a:ext>
            </a:extLst>
          </p:cNvPr>
          <p:cNvSpPr>
            <a:spLocks/>
          </p:cNvSpPr>
          <p:nvPr/>
        </p:nvSpPr>
        <p:spPr>
          <a:xfrm>
            <a:off x="8943975" y="6629400"/>
            <a:ext cx="1000125" cy="438150"/>
          </a:xfrm>
          <a:prstGeom prst="rect">
            <a:avLst/>
          </a:prstGeom>
          <a:solidFill>
            <a:srgbClr val="F7F7F7"/>
          </a:solidFill>
          <a:ln w="13335">
            <a:solidFill>
              <a:srgbClr val="2657C1"/>
            </a:solidFill>
            <a:prstDash val="solid"/>
          </a:ln>
        </p:spPr>
        <p:txBody>
          <a:bodyPr wrap="square" lIns="28575" tIns="28575" rIns="28575" bIns="28575"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Score</a:t>
            </a:r>
          </a:p>
        </p:txBody>
      </p:sp>
      <p:grpSp>
        <p:nvGrpSpPr>
          <p:cNvPr id="18" name="anim_outcomes">
            <a:extLst>
              <a:ext uri="{FF2B5EF4-FFF2-40B4-BE49-F238E27FC236}">
                <a16:creationId xmlns:a16="http://schemas.microsoft.com/office/drawing/2014/main" id="{CE6F75EB-796D-BDDC-89EC-24B8C748EBC8}"/>
              </a:ext>
            </a:extLst>
          </p:cNvPr>
          <p:cNvGrpSpPr/>
          <p:nvPr/>
        </p:nvGrpSpPr>
        <p:grpSpPr>
          <a:xfrm>
            <a:off x="10048875" y="3352800"/>
            <a:ext cx="7334250" cy="4162425"/>
            <a:chOff x="10048875" y="3352800"/>
            <a:chExt cx="7334250" cy="4162425"/>
          </a:xfrm>
        </p:grpSpPr>
        <p:sp>
          <p:nvSpPr>
            <p:cNvPr id="2022" name="choice_down">
              <a:extLst>
                <a:ext uri="{FF2B5EF4-FFF2-40B4-BE49-F238E27FC236}">
                  <a16:creationId xmlns:a16="http://schemas.microsoft.com/office/drawing/2014/main" id="{63BB7A78-7AE1-494D-9207-AB11AC7F6A4F}"/>
                </a:ext>
              </a:extLst>
            </p:cNvPr>
            <p:cNvSpPr>
              <a:spLocks/>
            </p:cNvSpPr>
            <p:nvPr/>
          </p:nvSpPr>
          <p:spPr>
            <a:xfrm>
              <a:off x="12239625" y="4886325"/>
              <a:ext cx="0" cy="638175"/>
            </a:xfrm>
            <a:prstGeom prst="line">
              <a:avLst/>
            </a:prstGeom>
            <a:noFill/>
            <a:ln w="19050">
              <a:solidFill>
                <a:srgbClr val="2657C1"/>
              </a:solidFill>
              <a:prstDash val="solid"/>
            </a:ln>
          </p:spPr>
        </p:sp>
        <p:sp>
          <p:nvSpPr>
            <p:cNvPr id="2023" name="choice_rail">
              <a:extLst>
                <a:ext uri="{FF2B5EF4-FFF2-40B4-BE49-F238E27FC236}">
                  <a16:creationId xmlns:a16="http://schemas.microsoft.com/office/drawing/2014/main" id="{A48FD743-7905-425D-ADA8-375E0B5A0FFB}"/>
                </a:ext>
              </a:extLst>
            </p:cNvPr>
            <p:cNvSpPr>
              <a:spLocks/>
            </p:cNvSpPr>
            <p:nvPr/>
          </p:nvSpPr>
          <p:spPr>
            <a:xfrm>
              <a:off x="11334750" y="5524500"/>
              <a:ext cx="2286000" cy="0"/>
            </a:xfrm>
            <a:prstGeom prst="line">
              <a:avLst/>
            </a:prstGeom>
            <a:noFill/>
            <a:ln w="19050">
              <a:solidFill>
                <a:srgbClr val="2657C1"/>
              </a:solidFill>
              <a:prstDash val="solid"/>
            </a:ln>
          </p:spPr>
        </p:sp>
        <p:sp>
          <p:nvSpPr>
            <p:cNvPr id="2024" name="block_in">
              <a:extLst>
                <a:ext uri="{FF2B5EF4-FFF2-40B4-BE49-F238E27FC236}">
                  <a16:creationId xmlns:a16="http://schemas.microsoft.com/office/drawing/2014/main" id="{9A247BFA-4B91-4223-9BC4-5183CFD1F6D9}"/>
                </a:ext>
              </a:extLst>
            </p:cNvPr>
            <p:cNvSpPr>
              <a:spLocks/>
            </p:cNvSpPr>
            <p:nvPr/>
          </p:nvSpPr>
          <p:spPr>
            <a:xfrm>
              <a:off x="11258550" y="5686425"/>
              <a:ext cx="152400" cy="361950"/>
            </a:xfrm>
            <a:prstGeom prst="downArrow">
              <a:avLst/>
            </a:prstGeom>
            <a:solidFill>
              <a:srgbClr val="C44945"/>
            </a:solidFill>
            <a:ln w="9525">
              <a:noFill/>
              <a:prstDash val="solid"/>
            </a:ln>
          </p:spPr>
        </p:sp>
        <p:sp>
          <p:nvSpPr>
            <p:cNvPr id="2025" name="allow_down">
              <a:extLst>
                <a:ext uri="{FF2B5EF4-FFF2-40B4-BE49-F238E27FC236}">
                  <a16:creationId xmlns:a16="http://schemas.microsoft.com/office/drawing/2014/main" id="{ADEB3373-4A47-4B3F-9A26-C567C6A9A76D}"/>
                </a:ext>
              </a:extLst>
            </p:cNvPr>
            <p:cNvSpPr>
              <a:spLocks/>
            </p:cNvSpPr>
            <p:nvPr/>
          </p:nvSpPr>
          <p:spPr>
            <a:xfrm>
              <a:off x="13620750" y="5524500"/>
              <a:ext cx="0" cy="1323975"/>
            </a:xfrm>
            <a:prstGeom prst="line">
              <a:avLst/>
            </a:prstGeom>
            <a:noFill/>
            <a:ln w="19050">
              <a:solidFill>
                <a:srgbClr val="2657C1"/>
              </a:solidFill>
              <a:prstDash val="solid"/>
            </a:ln>
          </p:spPr>
        </p:sp>
        <p:sp>
          <p:nvSpPr>
            <p:cNvPr id="2026" name="allow_in">
              <a:extLst>
                <a:ext uri="{FF2B5EF4-FFF2-40B4-BE49-F238E27FC236}">
                  <a16:creationId xmlns:a16="http://schemas.microsoft.com/office/drawing/2014/main" id="{0898BF61-DCA8-40CB-822A-AF123B047B3B}"/>
                </a:ext>
              </a:extLst>
            </p:cNvPr>
            <p:cNvSpPr>
              <a:spLocks/>
            </p:cNvSpPr>
            <p:nvPr/>
          </p:nvSpPr>
          <p:spPr>
            <a:xfrm>
              <a:off x="13620750" y="6781800"/>
              <a:ext cx="190500" cy="133350"/>
            </a:xfrm>
            <a:prstGeom prst="rightArrow">
              <a:avLst/>
            </a:prstGeom>
            <a:solidFill>
              <a:srgbClr val="2657C1"/>
            </a:solidFill>
            <a:ln w="9525">
              <a:noFill/>
              <a:prstDash val="solid"/>
            </a:ln>
          </p:spPr>
        </p:sp>
        <p:sp>
          <p:nvSpPr>
            <p:cNvPr id="2027" name="block_frame">
              <a:extLst>
                <a:ext uri="{FF2B5EF4-FFF2-40B4-BE49-F238E27FC236}">
                  <a16:creationId xmlns:a16="http://schemas.microsoft.com/office/drawing/2014/main" id="{6328A9C0-7890-4AB9-9657-0ED429B06CD3}"/>
                </a:ext>
              </a:extLst>
            </p:cNvPr>
            <p:cNvSpPr>
              <a:spLocks/>
            </p:cNvSpPr>
            <p:nvPr/>
          </p:nvSpPr>
          <p:spPr>
            <a:xfrm>
              <a:off x="10048875" y="6191250"/>
              <a:ext cx="2667000" cy="1323975"/>
            </a:xfrm>
            <a:prstGeom prst="rect">
              <a:avLst/>
            </a:prstGeom>
            <a:solidFill>
              <a:srgbClr val="FCECEA"/>
            </a:solidFill>
            <a:ln w="19050">
              <a:solidFill>
                <a:srgbClr val="C44945"/>
              </a:solidFill>
              <a:prstDash val="solid"/>
            </a:ln>
          </p:spPr>
        </p:sp>
        <p:sp>
          <p:nvSpPr>
            <p:cNvPr id="2028" name="block_title">
              <a:extLst>
                <a:ext uri="{FF2B5EF4-FFF2-40B4-BE49-F238E27FC236}">
                  <a16:creationId xmlns:a16="http://schemas.microsoft.com/office/drawing/2014/main" id="{E32CAB31-CA75-4F69-85B7-35CD182BE801}"/>
                </a:ext>
              </a:extLst>
            </p:cNvPr>
            <p:cNvSpPr>
              <a:spLocks/>
            </p:cNvSpPr>
            <p:nvPr/>
          </p:nvSpPr>
          <p:spPr>
            <a:xfrm>
              <a:off x="10201275" y="6324600"/>
              <a:ext cx="2362200" cy="552450"/>
            </a:xfrm>
            <a:prstGeom prst="rect">
              <a:avLst/>
            </a:prstGeom>
            <a:noFill/>
            <a:ln w="9525">
              <a:noFill/>
              <a:prstDash val="solid"/>
            </a:ln>
          </p:spPr>
          <p:txBody>
            <a:bodyPr wrap="square" lIns="0" tIns="0" rIns="0" bIns="0" anchor="ctr">
              <a:noAutofit/>
            </a:bodyPr>
            <a:lstStyle>
              <a:defPPr algn="ctr">
                <a:defRPr sz="2325">
                  <a:solidFill>
                    <a:srgbClr val="C44945"/>
                  </a:solidFill>
                  <a:latin typeface="TT Fors Bold"/>
                  <a:ea typeface="TT Fors Bold"/>
                  <a:cs typeface="TT Fors Bold"/>
                </a:defRPr>
              </a:defPPr>
            </a:lstStyle>
            <a:p>
              <a:pPr algn="ctr">
                <a:defRPr sz="2325">
                  <a:solidFill>
                    <a:srgbClr val="C44945"/>
                  </a:solidFill>
                  <a:latin typeface="TT Fors Bold"/>
                  <a:ea typeface="TT Fors Bold"/>
                  <a:cs typeface="TT Fors Bold"/>
                </a:defRPr>
              </a:pPr>
              <a:r>
                <a:rPr sz="2325">
                  <a:solidFill>
                    <a:srgbClr val="C44945"/>
                  </a:solidFill>
                  <a:latin typeface="TT Fors Bold"/>
                  <a:ea typeface="TT Fors Bold"/>
                  <a:cs typeface="TT Fors Bold"/>
                </a:rPr>
                <a:t>HTTP 403</a:t>
              </a:r>
            </a:p>
          </p:txBody>
        </p:sp>
        <p:sp>
          <p:nvSpPr>
            <p:cNvPr id="2029" name="block_desc">
              <a:extLst>
                <a:ext uri="{FF2B5EF4-FFF2-40B4-BE49-F238E27FC236}">
                  <a16:creationId xmlns:a16="http://schemas.microsoft.com/office/drawing/2014/main" id="{1D0F87A0-73E5-48E0-B4C6-C8F679F1F2F3}"/>
                </a:ext>
              </a:extLst>
            </p:cNvPr>
            <p:cNvSpPr>
              <a:spLocks/>
            </p:cNvSpPr>
            <p:nvPr/>
          </p:nvSpPr>
          <p:spPr>
            <a:xfrm>
              <a:off x="10191750" y="6934200"/>
              <a:ext cx="2381250" cy="504825"/>
            </a:xfrm>
            <a:prstGeom prst="rect">
              <a:avLst/>
            </a:prstGeom>
            <a:noFill/>
            <a:ln w="9525">
              <a:noFill/>
              <a:prstDash val="solid"/>
            </a:ln>
          </p:spPr>
          <p:txBody>
            <a:bodyPr wrap="square" lIns="0" tIns="0" rIns="0" bIns="0" anchor="ctr">
              <a:noAutofit/>
            </a:bodyPr>
            <a:lstStyle>
              <a:defPPr algn="ctr">
                <a:defRPr sz="1875">
                  <a:solidFill>
                    <a:srgbClr val="C44945"/>
                  </a:solidFill>
                  <a:latin typeface="TT Fors"/>
                  <a:ea typeface="TT Fors"/>
                  <a:cs typeface="TT Fors"/>
                </a:defRPr>
              </a:defPPr>
            </a:lstStyle>
            <a:p>
              <a:pPr algn="ctr">
                <a:defRPr sz="1875">
                  <a:solidFill>
                    <a:srgbClr val="C44945"/>
                  </a:solidFill>
                  <a:latin typeface="TT Fors"/>
                  <a:ea typeface="TT Fors"/>
                  <a:cs typeface="TT Fors"/>
                </a:defRPr>
              </a:pPr>
              <a:r>
                <a:rPr sz="1875">
                  <a:solidFill>
                    <a:srgbClr val="C44945"/>
                  </a:solidFill>
                  <a:latin typeface="TT Fors"/>
                  <a:ea typeface="TT Fors"/>
                  <a:cs typeface="TT Fors"/>
                </a:rPr>
                <a:t>Requête arrêtée</a:t>
              </a:r>
            </a:p>
          </p:txBody>
        </p:sp>
        <p:sp>
          <p:nvSpPr>
            <p:cNvPr id="2030" name="prepared_frame">
              <a:extLst>
                <a:ext uri="{FF2B5EF4-FFF2-40B4-BE49-F238E27FC236}">
                  <a16:creationId xmlns:a16="http://schemas.microsoft.com/office/drawing/2014/main" id="{C1061D06-04FA-4282-9690-868C8A6DF43B}"/>
                </a:ext>
              </a:extLst>
            </p:cNvPr>
            <p:cNvSpPr>
              <a:spLocks/>
            </p:cNvSpPr>
            <p:nvPr/>
          </p:nvSpPr>
          <p:spPr>
            <a:xfrm>
              <a:off x="13858875" y="6191250"/>
              <a:ext cx="3524250" cy="1323975"/>
            </a:xfrm>
            <a:prstGeom prst="rect">
              <a:avLst/>
            </a:prstGeom>
            <a:solidFill>
              <a:srgbClr val="F7F7F7"/>
            </a:solidFill>
            <a:ln w="19050">
              <a:solidFill>
                <a:srgbClr val="2657C1"/>
              </a:solidFill>
              <a:prstDash val="solid"/>
            </a:ln>
          </p:spPr>
        </p:sp>
        <p:sp>
          <p:nvSpPr>
            <p:cNvPr id="2031" name="prepared_title">
              <a:extLst>
                <a:ext uri="{FF2B5EF4-FFF2-40B4-BE49-F238E27FC236}">
                  <a16:creationId xmlns:a16="http://schemas.microsoft.com/office/drawing/2014/main" id="{E3C30D65-6AEC-449B-9AAB-E6E8923814C8}"/>
                </a:ext>
              </a:extLst>
            </p:cNvPr>
            <p:cNvSpPr>
              <a:spLocks/>
            </p:cNvSpPr>
            <p:nvPr/>
          </p:nvSpPr>
          <p:spPr>
            <a:xfrm>
              <a:off x="14011275" y="6324600"/>
              <a:ext cx="3219450" cy="552450"/>
            </a:xfrm>
            <a:prstGeom prst="rect">
              <a:avLst/>
            </a:prstGeom>
            <a:noFill/>
            <a:ln w="9525">
              <a:noFill/>
              <a:prstDash val="solid"/>
            </a:ln>
          </p:spPr>
          <p:txBody>
            <a:bodyPr wrap="square" lIns="0" tIns="0" rIns="0" bIns="0" anchor="ctr">
              <a:noAutofit/>
            </a:bodyPr>
            <a:lstStyle>
              <a:defPPr algn="ctr">
                <a:defRPr sz="2325">
                  <a:solidFill>
                    <a:srgbClr val="2657C1"/>
                  </a:solidFill>
                  <a:latin typeface="TT Fors Bold"/>
                  <a:ea typeface="TT Fors Bold"/>
                  <a:cs typeface="TT Fors Bold"/>
                </a:defRPr>
              </a:defPPr>
            </a:lstStyle>
            <a:p>
              <a:pPr algn="ctr">
                <a:defRPr sz="2325">
                  <a:solidFill>
                    <a:srgbClr val="2657C1"/>
                  </a:solidFill>
                  <a:latin typeface="TT Fors Bold"/>
                  <a:ea typeface="TT Fors Bold"/>
                  <a:cs typeface="TT Fors Bold"/>
                </a:defRPr>
              </a:pPr>
              <a:r>
                <a:rPr sz="2325">
                  <a:solidFill>
                    <a:srgbClr val="2657C1"/>
                  </a:solidFill>
                  <a:latin typeface="TT Fors Bold"/>
                  <a:ea typeface="TT Fors Bold"/>
                  <a:cs typeface="TT Fors Bold"/>
                </a:rPr>
                <a:t>Requête préparée</a:t>
              </a:r>
            </a:p>
          </p:txBody>
        </p:sp>
        <p:sp>
          <p:nvSpPr>
            <p:cNvPr id="2032" name="prepared_desc">
              <a:extLst>
                <a:ext uri="{FF2B5EF4-FFF2-40B4-BE49-F238E27FC236}">
                  <a16:creationId xmlns:a16="http://schemas.microsoft.com/office/drawing/2014/main" id="{6F297AD6-E43C-4555-B49F-49DFD94BC4A8}"/>
                </a:ext>
              </a:extLst>
            </p:cNvPr>
            <p:cNvSpPr>
              <a:spLocks/>
            </p:cNvSpPr>
            <p:nvPr/>
          </p:nvSpPr>
          <p:spPr>
            <a:xfrm>
              <a:off x="14001750" y="6934200"/>
              <a:ext cx="3238500" cy="504825"/>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SQL séparé des valeurs</a:t>
              </a:r>
            </a:p>
          </p:txBody>
        </p:sp>
        <p:sp>
          <p:nvSpPr>
            <p:cNvPr id="2033" name="db_in">
              <a:extLst>
                <a:ext uri="{FF2B5EF4-FFF2-40B4-BE49-F238E27FC236}">
                  <a16:creationId xmlns:a16="http://schemas.microsoft.com/office/drawing/2014/main" id="{932E1A17-7391-4580-9F0E-4E9B34702014}"/>
                </a:ext>
              </a:extLst>
            </p:cNvPr>
            <p:cNvSpPr>
              <a:spLocks/>
            </p:cNvSpPr>
            <p:nvPr/>
          </p:nvSpPr>
          <p:spPr>
            <a:xfrm>
              <a:off x="15621000" y="4991100"/>
              <a:ext cx="152400" cy="1000125"/>
            </a:xfrm>
            <a:prstGeom prst="upArrow">
              <a:avLst/>
            </a:prstGeom>
            <a:solidFill>
              <a:srgbClr val="2657C1"/>
            </a:solidFill>
            <a:ln w="9525">
              <a:noFill/>
              <a:prstDash val="solid"/>
            </a:ln>
          </p:spPr>
        </p:sp>
        <p:sp>
          <p:nvSpPr>
            <p:cNvPr id="2034" name="database">
              <a:extLst>
                <a:ext uri="{FF2B5EF4-FFF2-40B4-BE49-F238E27FC236}">
                  <a16:creationId xmlns:a16="http://schemas.microsoft.com/office/drawing/2014/main" id="{70AD0023-7AA4-4C89-AB00-D3EF9819F10A}"/>
                </a:ext>
              </a:extLst>
            </p:cNvPr>
            <p:cNvSpPr>
              <a:spLocks/>
            </p:cNvSpPr>
            <p:nvPr/>
          </p:nvSpPr>
          <p:spPr>
            <a:xfrm>
              <a:off x="14887575" y="3352800"/>
              <a:ext cx="2381250" cy="1419225"/>
            </a:xfrm>
            <a:prstGeom prst="can">
              <a:avLst/>
            </a:prstGeom>
            <a:solidFill>
              <a:srgbClr val="F7F7F7"/>
            </a:solidFill>
            <a:ln w="19050">
              <a:solidFill>
                <a:srgbClr val="2657C1"/>
              </a:solidFill>
              <a:prstDash val="solid"/>
            </a:ln>
          </p:spPr>
        </p:sp>
        <p:sp>
          <p:nvSpPr>
            <p:cNvPr id="2035" name="db_label">
              <a:extLst>
                <a:ext uri="{FF2B5EF4-FFF2-40B4-BE49-F238E27FC236}">
                  <a16:creationId xmlns:a16="http://schemas.microsoft.com/office/drawing/2014/main" id="{8159E345-3614-410C-A400-4BCE70A80E2C}"/>
                </a:ext>
              </a:extLst>
            </p:cNvPr>
            <p:cNvSpPr>
              <a:spLocks/>
            </p:cNvSpPr>
            <p:nvPr/>
          </p:nvSpPr>
          <p:spPr>
            <a:xfrm>
              <a:off x="15173325" y="3724275"/>
              <a:ext cx="1809750" cy="581025"/>
            </a:xfrm>
            <a:prstGeom prst="rect">
              <a:avLst/>
            </a:prstGeom>
            <a:noFill/>
            <a:ln w="9525">
              <a:noFill/>
              <a:prstDash val="solid"/>
            </a:ln>
          </p:spPr>
          <p:txBody>
            <a:bodyPr wrap="square" lIns="0" tIns="0" rIns="0" bIns="0" anchor="ctr">
              <a:noAutofit/>
            </a:bodyPr>
            <a:lstStyle>
              <a:defPPr algn="ctr">
                <a:defRPr sz="2325">
                  <a:solidFill>
                    <a:srgbClr val="2657C1"/>
                  </a:solidFill>
                  <a:latin typeface="TT Fors Bold"/>
                  <a:ea typeface="TT Fors Bold"/>
                  <a:cs typeface="TT Fors Bold"/>
                </a:defRPr>
              </a:defPPr>
            </a:lstStyle>
            <a:p>
              <a:pPr algn="ctr">
                <a:defRPr sz="2325">
                  <a:solidFill>
                    <a:srgbClr val="2657C1"/>
                  </a:solidFill>
                  <a:latin typeface="TT Fors Bold"/>
                  <a:ea typeface="TT Fors Bold"/>
                  <a:cs typeface="TT Fors Bold"/>
                </a:defRPr>
              </a:pPr>
              <a:r>
                <a:rPr sz="2325">
                  <a:solidFill>
                    <a:srgbClr val="2657C1"/>
                  </a:solidFill>
                  <a:latin typeface="TT Fors Bold"/>
                  <a:ea typeface="TT Fors Bold"/>
                  <a:cs typeface="TT Fors Bold"/>
                </a:rPr>
                <a:t>MariaDB</a:t>
              </a:r>
            </a:p>
          </p:txBody>
        </p:sp>
        <p:sp>
          <p:nvSpPr>
            <p:cNvPr id="2036" name="yes_label">
              <a:extLst>
                <a:ext uri="{FF2B5EF4-FFF2-40B4-BE49-F238E27FC236}">
                  <a16:creationId xmlns:a16="http://schemas.microsoft.com/office/drawing/2014/main" id="{2296524E-D0BF-4B10-8684-E54D93668C62}"/>
                </a:ext>
              </a:extLst>
            </p:cNvPr>
            <p:cNvSpPr>
              <a:spLocks/>
            </p:cNvSpPr>
            <p:nvPr/>
          </p:nvSpPr>
          <p:spPr>
            <a:xfrm>
              <a:off x="10287000" y="5591175"/>
              <a:ext cx="1809750" cy="381000"/>
            </a:xfrm>
            <a:prstGeom prst="rect">
              <a:avLst/>
            </a:prstGeom>
            <a:noFill/>
            <a:ln w="9525">
              <a:noFill/>
              <a:prstDash val="solid"/>
            </a:ln>
          </p:spPr>
          <p:txBody>
            <a:bodyPr wrap="square" lIns="0" tIns="0" rIns="0" bIns="0" anchor="ctr">
              <a:noAutofit/>
            </a:bodyPr>
            <a:lstStyle>
              <a:defPPr algn="ctr">
                <a:defRPr sz="1725">
                  <a:solidFill>
                    <a:srgbClr val="C44945"/>
                  </a:solidFill>
                  <a:latin typeface="TT Fors"/>
                  <a:ea typeface="TT Fors"/>
                  <a:cs typeface="TT Fors"/>
                </a:defRPr>
              </a:defPPr>
            </a:lstStyle>
            <a:p>
              <a:pPr algn="ctr">
                <a:defRPr sz="1725">
                  <a:solidFill>
                    <a:srgbClr val="C44945"/>
                  </a:solidFill>
                  <a:latin typeface="TT Fors"/>
                  <a:ea typeface="TT Fors"/>
                  <a:cs typeface="TT Fors"/>
                </a:defRPr>
              </a:pPr>
              <a:r>
                <a:rPr sz="1725">
                  <a:solidFill>
                    <a:srgbClr val="C44945"/>
                  </a:solidFill>
                  <a:latin typeface="TT Fors"/>
                  <a:ea typeface="TT Fors"/>
                  <a:cs typeface="TT Fors"/>
                </a:rPr>
                <a:t>Blocage</a:t>
              </a:r>
            </a:p>
          </p:txBody>
        </p:sp>
        <p:sp>
          <p:nvSpPr>
            <p:cNvPr id="2037" name="no_label">
              <a:extLst>
                <a:ext uri="{FF2B5EF4-FFF2-40B4-BE49-F238E27FC236}">
                  <a16:creationId xmlns:a16="http://schemas.microsoft.com/office/drawing/2014/main" id="{ECF853A9-FB15-4DEC-B4F6-2CB13EA45271}"/>
                </a:ext>
              </a:extLst>
            </p:cNvPr>
            <p:cNvSpPr>
              <a:spLocks/>
            </p:cNvSpPr>
            <p:nvPr/>
          </p:nvSpPr>
          <p:spPr>
            <a:xfrm>
              <a:off x="13954125" y="5695950"/>
              <a:ext cx="1609725" cy="381000"/>
            </a:xfrm>
            <a:prstGeom prst="rect">
              <a:avLst/>
            </a:prstGeom>
            <a:noFill/>
            <a:ln w="9525">
              <a:noFill/>
              <a:prstDash val="solid"/>
            </a:ln>
          </p:spPr>
          <p:txBody>
            <a:bodyPr wrap="square" lIns="0" tIns="0" rIns="0" bIns="0" anchor="ctr">
              <a:noAutofit/>
            </a:bodyPr>
            <a:lstStyle>
              <a:defPPr algn="ctr">
                <a:defRPr sz="1725">
                  <a:solidFill>
                    <a:srgbClr val="2657C1"/>
                  </a:solidFill>
                  <a:latin typeface="TT Fors"/>
                  <a:ea typeface="TT Fors"/>
                  <a:cs typeface="TT Fors"/>
                </a:defRPr>
              </a:defPPr>
            </a:lstStyle>
            <a:p>
              <a:pPr algn="ctr">
                <a:defRPr sz="1725">
                  <a:solidFill>
                    <a:srgbClr val="2657C1"/>
                  </a:solidFill>
                  <a:latin typeface="TT Fors"/>
                  <a:ea typeface="TT Fors"/>
                  <a:cs typeface="TT Fors"/>
                </a:defRPr>
              </a:pPr>
              <a:r>
                <a:rPr sz="1725">
                  <a:solidFill>
                    <a:srgbClr val="2657C1"/>
                  </a:solidFill>
                  <a:latin typeface="TT Fors"/>
                  <a:ea typeface="TT Fors"/>
                  <a:cs typeface="TT Fors"/>
                </a:rPr>
                <a:t>Poursuite</a:t>
              </a:r>
            </a:p>
          </p:txBody>
        </p:sp>
      </p:grpSp>
      <p:grpSp>
        <p:nvGrpSpPr>
          <p:cNvPr id="19" name="anim_trace">
            <a:extLst>
              <a:ext uri="{FF2B5EF4-FFF2-40B4-BE49-F238E27FC236}">
                <a16:creationId xmlns:a16="http://schemas.microsoft.com/office/drawing/2014/main" id="{2A7A7F7E-3ED8-F3A0-3974-75CA2A1C19E9}"/>
              </a:ext>
            </a:extLst>
          </p:cNvPr>
          <p:cNvGrpSpPr/>
          <p:nvPr/>
        </p:nvGrpSpPr>
        <p:grpSpPr>
          <a:xfrm>
            <a:off x="1285875" y="4800600"/>
            <a:ext cx="9334500" cy="4391025"/>
            <a:chOff x="1285875" y="4800600"/>
            <a:chExt cx="9334500" cy="4391025"/>
          </a:xfrm>
        </p:grpSpPr>
        <p:sp>
          <p:nvSpPr>
            <p:cNvPr id="2038" name="trace_frame">
              <a:extLst>
                <a:ext uri="{FF2B5EF4-FFF2-40B4-BE49-F238E27FC236}">
                  <a16:creationId xmlns:a16="http://schemas.microsoft.com/office/drawing/2014/main" id="{0A8D36D4-6ECD-4F4E-ABA3-F31E1B772B84}"/>
                </a:ext>
              </a:extLst>
            </p:cNvPr>
            <p:cNvSpPr>
              <a:spLocks/>
            </p:cNvSpPr>
            <p:nvPr/>
          </p:nvSpPr>
          <p:spPr>
            <a:xfrm>
              <a:off x="1285875" y="8143875"/>
              <a:ext cx="7143750" cy="1047750"/>
            </a:xfrm>
            <a:prstGeom prst="rect">
              <a:avLst/>
            </a:prstGeom>
            <a:solidFill>
              <a:srgbClr val="E7EEFC"/>
            </a:solidFill>
            <a:ln w="19050">
              <a:solidFill>
                <a:srgbClr val="2657C1"/>
              </a:solidFill>
              <a:prstDash val="solid"/>
            </a:ln>
          </p:spPr>
        </p:sp>
        <p:sp>
          <p:nvSpPr>
            <p:cNvPr id="2039" name="trace_title">
              <a:extLst>
                <a:ext uri="{FF2B5EF4-FFF2-40B4-BE49-F238E27FC236}">
                  <a16:creationId xmlns:a16="http://schemas.microsoft.com/office/drawing/2014/main" id="{99542C9E-952F-4634-BCB0-59FF0EC75151}"/>
                </a:ext>
              </a:extLst>
            </p:cNvPr>
            <p:cNvSpPr>
              <a:spLocks/>
            </p:cNvSpPr>
            <p:nvPr/>
          </p:nvSpPr>
          <p:spPr>
            <a:xfrm>
              <a:off x="1438275" y="8277225"/>
              <a:ext cx="6838950" cy="552450"/>
            </a:xfrm>
            <a:prstGeom prst="rect">
              <a:avLst/>
            </a:prstGeom>
            <a:noFill/>
            <a:ln w="9525">
              <a:noFill/>
              <a:prstDash val="solid"/>
            </a:ln>
          </p:spPr>
          <p:txBody>
            <a:bodyPr wrap="square" lIns="0" tIns="0" rIns="0" bIns="0" anchor="ctr">
              <a:noAutofit/>
            </a:bodyPr>
            <a:lstStyle>
              <a:defPPr algn="ctr">
                <a:defRPr sz="2325">
                  <a:solidFill>
                    <a:srgbClr val="2657C1"/>
                  </a:solidFill>
                  <a:latin typeface="TT Fors Bold"/>
                  <a:ea typeface="TT Fors Bold"/>
                  <a:cs typeface="TT Fors Bold"/>
                </a:defRPr>
              </a:defPPr>
            </a:lstStyle>
            <a:p>
              <a:pPr algn="ctr">
                <a:defRPr sz="2325">
                  <a:solidFill>
                    <a:srgbClr val="2657C1"/>
                  </a:solidFill>
                  <a:latin typeface="TT Fors Bold"/>
                  <a:ea typeface="TT Fors Bold"/>
                  <a:cs typeface="TT Fors Bold"/>
                </a:defRPr>
              </a:pPr>
              <a:r>
                <a:rPr sz="2325">
                  <a:solidFill>
                    <a:srgbClr val="2657C1"/>
                  </a:solidFill>
                  <a:latin typeface="TT Fors Bold"/>
                  <a:ea typeface="TT Fors Bold"/>
                  <a:cs typeface="TT Fors Bold"/>
                </a:rPr>
                <a:t>Journal + console</a:t>
              </a:r>
            </a:p>
          </p:txBody>
        </p:sp>
        <p:sp>
          <p:nvSpPr>
            <p:cNvPr id="2040" name="trace_desc">
              <a:extLst>
                <a:ext uri="{FF2B5EF4-FFF2-40B4-BE49-F238E27FC236}">
                  <a16:creationId xmlns:a16="http://schemas.microsoft.com/office/drawing/2014/main" id="{D35B8123-C813-49F9-9426-2DDA0E05196D}"/>
                </a:ext>
              </a:extLst>
            </p:cNvPr>
            <p:cNvSpPr>
              <a:spLocks/>
            </p:cNvSpPr>
            <p:nvPr/>
          </p:nvSpPr>
          <p:spPr>
            <a:xfrm>
              <a:off x="1428750" y="8886825"/>
              <a:ext cx="6858000" cy="2286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Métadonnées minimisées</a:t>
              </a:r>
            </a:p>
          </p:txBody>
        </p:sp>
        <p:sp>
          <p:nvSpPr>
            <p:cNvPr id="2041" name="trace_a">
              <a:extLst>
                <a:ext uri="{FF2B5EF4-FFF2-40B4-BE49-F238E27FC236}">
                  <a16:creationId xmlns:a16="http://schemas.microsoft.com/office/drawing/2014/main" id="{0599232F-90AE-4D83-ADB4-06D5B7B85A74}"/>
                </a:ext>
              </a:extLst>
            </p:cNvPr>
            <p:cNvSpPr>
              <a:spLocks/>
            </p:cNvSpPr>
            <p:nvPr/>
          </p:nvSpPr>
          <p:spPr>
            <a:xfrm>
              <a:off x="9582150" y="4800600"/>
              <a:ext cx="1038225" cy="0"/>
            </a:xfrm>
            <a:prstGeom prst="line">
              <a:avLst/>
            </a:prstGeom>
            <a:noFill/>
            <a:ln w="19050">
              <a:solidFill>
                <a:srgbClr val="9FB6E5"/>
              </a:solidFill>
              <a:prstDash val="solid"/>
            </a:ln>
          </p:spPr>
        </p:sp>
        <p:sp>
          <p:nvSpPr>
            <p:cNvPr id="2042" name="trace_b">
              <a:extLst>
                <a:ext uri="{FF2B5EF4-FFF2-40B4-BE49-F238E27FC236}">
                  <a16:creationId xmlns:a16="http://schemas.microsoft.com/office/drawing/2014/main" id="{8572F19A-7C27-48B7-87AD-F70B7CB4029A}"/>
                </a:ext>
              </a:extLst>
            </p:cNvPr>
            <p:cNvSpPr>
              <a:spLocks/>
            </p:cNvSpPr>
            <p:nvPr/>
          </p:nvSpPr>
          <p:spPr>
            <a:xfrm>
              <a:off x="9582150" y="4800600"/>
              <a:ext cx="0" cy="3857625"/>
            </a:xfrm>
            <a:prstGeom prst="line">
              <a:avLst/>
            </a:prstGeom>
            <a:noFill/>
            <a:ln w="19050">
              <a:solidFill>
                <a:srgbClr val="9FB6E5"/>
              </a:solidFill>
              <a:prstDash val="solid"/>
            </a:ln>
          </p:spPr>
        </p:sp>
        <p:sp>
          <p:nvSpPr>
            <p:cNvPr id="2043" name="trace_c">
              <a:extLst>
                <a:ext uri="{FF2B5EF4-FFF2-40B4-BE49-F238E27FC236}">
                  <a16:creationId xmlns:a16="http://schemas.microsoft.com/office/drawing/2014/main" id="{1A7CAA73-3760-4D56-83FA-A2F4174A94E8}"/>
                </a:ext>
              </a:extLst>
            </p:cNvPr>
            <p:cNvSpPr>
              <a:spLocks/>
            </p:cNvSpPr>
            <p:nvPr/>
          </p:nvSpPr>
          <p:spPr>
            <a:xfrm>
              <a:off x="8639175" y="8591550"/>
              <a:ext cx="942975" cy="133350"/>
            </a:xfrm>
            <a:prstGeom prst="leftArrow">
              <a:avLst/>
            </a:prstGeom>
            <a:solidFill>
              <a:srgbClr val="9FB6E5"/>
            </a:solidFill>
            <a:ln w="9525">
              <a:noFill/>
              <a:prstDash val="solid"/>
            </a:ln>
          </p:spPr>
        </p:sp>
      </p:grpSp>
      <p:grpSp>
        <p:nvGrpSpPr>
          <p:cNvPr id="20" name="anim_assistant">
            <a:extLst>
              <a:ext uri="{FF2B5EF4-FFF2-40B4-BE49-F238E27FC236}">
                <a16:creationId xmlns:a16="http://schemas.microsoft.com/office/drawing/2014/main" id="{A2277CFF-827B-2BB5-1C21-619E8BCC0AAB}"/>
              </a:ext>
            </a:extLst>
          </p:cNvPr>
          <p:cNvGrpSpPr/>
          <p:nvPr/>
        </p:nvGrpSpPr>
        <p:grpSpPr>
          <a:xfrm>
            <a:off x="10553700" y="8048625"/>
            <a:ext cx="6715125" cy="942975"/>
            <a:chOff x="10553700" y="8048625"/>
            <a:chExt cx="6715125" cy="942975"/>
          </a:xfrm>
        </p:grpSpPr>
        <p:sp>
          <p:nvSpPr>
            <p:cNvPr id="2044" name="assistant_title">
              <a:extLst>
                <a:ext uri="{FF2B5EF4-FFF2-40B4-BE49-F238E27FC236}">
                  <a16:creationId xmlns:a16="http://schemas.microsoft.com/office/drawing/2014/main" id="{54250203-4D97-4A7A-AE3B-DB111E17A6C1}"/>
                </a:ext>
              </a:extLst>
            </p:cNvPr>
            <p:cNvSpPr>
              <a:spLocks/>
            </p:cNvSpPr>
            <p:nvPr/>
          </p:nvSpPr>
          <p:spPr>
            <a:xfrm>
              <a:off x="10553700" y="8048625"/>
              <a:ext cx="6715125" cy="381000"/>
            </a:xfrm>
            <a:prstGeom prst="rect">
              <a:avLst/>
            </a:prstGeom>
            <a:noFill/>
            <a:ln w="9525">
              <a:noFill/>
              <a:prstDash val="solid"/>
            </a:ln>
          </p:spPr>
          <p:txBody>
            <a:bodyPr wrap="square" lIns="0" tIns="0" rIns="0" bIns="0" anchor="ctr">
              <a:noAutofit/>
            </a:bodyPr>
            <a:lstStyle>
              <a:defPPr algn="l">
                <a:defRPr sz="1800">
                  <a:solidFill>
                    <a:srgbClr val="2657C1"/>
                  </a:solidFill>
                  <a:latin typeface="TT Fors Bold"/>
                  <a:ea typeface="TT Fors Bold"/>
                  <a:cs typeface="TT Fors Bold"/>
                </a:defRPr>
              </a:defPPr>
            </a:lstStyle>
            <a:p>
              <a:pPr algn="l">
                <a:defRPr sz="1800">
                  <a:solidFill>
                    <a:srgbClr val="2657C1"/>
                  </a:solidFill>
                  <a:latin typeface="TT Fors Bold"/>
                  <a:ea typeface="TT Fors Bold"/>
                  <a:cs typeface="TT Fors Bold"/>
                </a:defRPr>
              </a:pPr>
              <a:r>
                <a:rPr sz="1800">
                  <a:solidFill>
                    <a:srgbClr val="2657C1"/>
                  </a:solidFill>
                  <a:latin typeface="TT Fors Bold"/>
                  <a:ea typeface="TT Fors Bold"/>
                  <a:cs typeface="TT Fors Bold"/>
                </a:rPr>
                <a:t>ASSISTANT CONSULTATIF</a:t>
              </a:r>
            </a:p>
          </p:txBody>
        </p:sp>
        <p:sp>
          <p:nvSpPr>
            <p:cNvPr id="2045" name="assistant_context">
              <a:extLst>
                <a:ext uri="{FF2B5EF4-FFF2-40B4-BE49-F238E27FC236}">
                  <a16:creationId xmlns:a16="http://schemas.microsoft.com/office/drawing/2014/main" id="{8307CBD4-5D24-4196-9F14-16F255BCD04B}"/>
                </a:ext>
              </a:extLst>
            </p:cNvPr>
            <p:cNvSpPr>
              <a:spLocks/>
            </p:cNvSpPr>
            <p:nvPr/>
          </p:nvSpPr>
          <p:spPr>
            <a:xfrm>
              <a:off x="10553700" y="8610600"/>
              <a:ext cx="2333625" cy="381000"/>
            </a:xfrm>
            <a:prstGeom prst="rect">
              <a:avLst/>
            </a:prstGeom>
            <a:noFill/>
            <a:ln w="9525">
              <a:noFill/>
              <a:prstDash val="solid"/>
            </a:ln>
          </p:spPr>
          <p:txBody>
            <a:bodyPr wrap="square" lIns="0" tIns="0" rIns="0" bIns="0" anchor="ctr">
              <a:noAutofit/>
            </a:bodyPr>
            <a:lstStyle>
              <a:defPPr algn="l">
                <a:defRPr sz="1725">
                  <a:solidFill>
                    <a:srgbClr val="2657C1"/>
                  </a:solidFill>
                  <a:latin typeface="TT Fors"/>
                  <a:ea typeface="TT Fors"/>
                  <a:cs typeface="TT Fors"/>
                </a:defRPr>
              </a:defPPr>
            </a:lstStyle>
            <a:p>
              <a:pPr algn="l">
                <a:defRPr sz="1725">
                  <a:solidFill>
                    <a:srgbClr val="2657C1"/>
                  </a:solidFill>
                  <a:latin typeface="TT Fors"/>
                  <a:ea typeface="TT Fors"/>
                  <a:cs typeface="TT Fors"/>
                </a:defRPr>
              </a:pPr>
              <a:r>
                <a:rPr sz="1725">
                  <a:solidFill>
                    <a:srgbClr val="2657C1"/>
                  </a:solidFill>
                  <a:latin typeface="TT Fors"/>
                  <a:ea typeface="TT Fors"/>
                  <a:cs typeface="TT Fors"/>
                </a:rPr>
                <a:t>Compteurs autorisés</a:t>
              </a:r>
            </a:p>
          </p:txBody>
        </p:sp>
        <p:sp>
          <p:nvSpPr>
            <p:cNvPr id="2046" name="assistant_a">
              <a:extLst>
                <a:ext uri="{FF2B5EF4-FFF2-40B4-BE49-F238E27FC236}">
                  <a16:creationId xmlns:a16="http://schemas.microsoft.com/office/drawing/2014/main" id="{C9215D90-3E46-4AE6-8F03-7768426B9F68}"/>
                </a:ext>
              </a:extLst>
            </p:cNvPr>
            <p:cNvSpPr>
              <a:spLocks/>
            </p:cNvSpPr>
            <p:nvPr/>
          </p:nvSpPr>
          <p:spPr>
            <a:xfrm>
              <a:off x="12944475" y="8715375"/>
              <a:ext cx="428625" cy="114300"/>
            </a:xfrm>
            <a:prstGeom prst="rightArrow">
              <a:avLst/>
            </a:prstGeom>
            <a:solidFill>
              <a:srgbClr val="9FB6E5"/>
            </a:solidFill>
            <a:ln w="9525">
              <a:noFill/>
              <a:prstDash val="solid"/>
            </a:ln>
          </p:spPr>
        </p:sp>
        <p:sp>
          <p:nvSpPr>
            <p:cNvPr id="2047" name="langgraph">
              <a:extLst>
                <a:ext uri="{FF2B5EF4-FFF2-40B4-BE49-F238E27FC236}">
                  <a16:creationId xmlns:a16="http://schemas.microsoft.com/office/drawing/2014/main" id="{DE274CA8-F0B0-4C6F-A749-E58F7947B473}"/>
                </a:ext>
              </a:extLst>
            </p:cNvPr>
            <p:cNvSpPr>
              <a:spLocks/>
            </p:cNvSpPr>
            <p:nvPr/>
          </p:nvSpPr>
          <p:spPr>
            <a:xfrm>
              <a:off x="13506450" y="8610600"/>
              <a:ext cx="1685925" cy="381000"/>
            </a:xfrm>
            <a:prstGeom prst="rect">
              <a:avLst/>
            </a:prstGeom>
            <a:noFill/>
            <a:ln w="9525">
              <a:noFill/>
              <a:prstDash val="solid"/>
            </a:ln>
          </p:spPr>
          <p:txBody>
            <a:bodyPr wrap="square" lIns="0" tIns="0" rIns="0" bIns="0" anchor="ctr">
              <a:noAutofit/>
            </a:bodyPr>
            <a:lstStyle>
              <a:defPPr algn="l">
                <a:defRPr sz="1725">
                  <a:solidFill>
                    <a:srgbClr val="2657C1"/>
                  </a:solidFill>
                  <a:latin typeface="TT Fors"/>
                  <a:ea typeface="TT Fors"/>
                  <a:cs typeface="TT Fors"/>
                </a:defRPr>
              </a:defPPr>
            </a:lstStyle>
            <a:p>
              <a:pPr algn="l">
                <a:defRPr sz="1725">
                  <a:solidFill>
                    <a:srgbClr val="2657C1"/>
                  </a:solidFill>
                  <a:latin typeface="TT Fors"/>
                  <a:ea typeface="TT Fors"/>
                  <a:cs typeface="TT Fors"/>
                </a:defRPr>
              </a:pPr>
              <a:r>
                <a:rPr sz="1725">
                  <a:solidFill>
                    <a:srgbClr val="2657C1"/>
                  </a:solidFill>
                  <a:latin typeface="TT Fors"/>
                  <a:ea typeface="TT Fors"/>
                  <a:cs typeface="TT Fors"/>
                </a:rPr>
                <a:t>LangGraph</a:t>
              </a:r>
            </a:p>
          </p:txBody>
        </p:sp>
        <p:sp>
          <p:nvSpPr>
            <p:cNvPr id="2048" name="assistant_b">
              <a:extLst>
                <a:ext uri="{FF2B5EF4-FFF2-40B4-BE49-F238E27FC236}">
                  <a16:creationId xmlns:a16="http://schemas.microsoft.com/office/drawing/2014/main" id="{F89753ED-76F7-4CDD-89A1-E072D3C16ECB}"/>
                </a:ext>
              </a:extLst>
            </p:cNvPr>
            <p:cNvSpPr>
              <a:spLocks/>
            </p:cNvSpPr>
            <p:nvPr/>
          </p:nvSpPr>
          <p:spPr>
            <a:xfrm>
              <a:off x="15230475" y="8715375"/>
              <a:ext cx="428625" cy="114300"/>
            </a:xfrm>
            <a:prstGeom prst="rightArrow">
              <a:avLst/>
            </a:prstGeom>
            <a:solidFill>
              <a:srgbClr val="9FB6E5"/>
            </a:solidFill>
            <a:ln w="9525">
              <a:noFill/>
              <a:prstDash val="solid"/>
            </a:ln>
          </p:spPr>
        </p:sp>
        <p:sp>
          <p:nvSpPr>
            <p:cNvPr id="2049" name="ollama">
              <a:extLst>
                <a:ext uri="{FF2B5EF4-FFF2-40B4-BE49-F238E27FC236}">
                  <a16:creationId xmlns:a16="http://schemas.microsoft.com/office/drawing/2014/main" id="{A93E6396-EEB5-4CEF-AD42-9806EB002602}"/>
                </a:ext>
              </a:extLst>
            </p:cNvPr>
            <p:cNvSpPr>
              <a:spLocks/>
            </p:cNvSpPr>
            <p:nvPr/>
          </p:nvSpPr>
          <p:spPr>
            <a:xfrm>
              <a:off x="15801975" y="8610600"/>
              <a:ext cx="1428750" cy="381000"/>
            </a:xfrm>
            <a:prstGeom prst="rect">
              <a:avLst/>
            </a:prstGeom>
            <a:noFill/>
            <a:ln w="9525">
              <a:noFill/>
              <a:prstDash val="solid"/>
            </a:ln>
          </p:spPr>
          <p:txBody>
            <a:bodyPr wrap="square" lIns="0" tIns="0" rIns="0" bIns="0" anchor="ctr">
              <a:noAutofit/>
            </a:bodyPr>
            <a:lstStyle>
              <a:defPPr algn="l">
                <a:defRPr sz="1725">
                  <a:solidFill>
                    <a:srgbClr val="2657C1"/>
                  </a:solidFill>
                  <a:latin typeface="TT Fors"/>
                  <a:ea typeface="TT Fors"/>
                  <a:cs typeface="TT Fors"/>
                </a:defRPr>
              </a:defPPr>
            </a:lstStyle>
            <a:p>
              <a:pPr algn="l">
                <a:defRPr sz="1725">
                  <a:solidFill>
                    <a:srgbClr val="2657C1"/>
                  </a:solidFill>
                  <a:latin typeface="TT Fors"/>
                  <a:ea typeface="TT Fors"/>
                  <a:cs typeface="TT Fors"/>
                </a:defRPr>
              </a:pPr>
              <a:r>
                <a:rPr sz="1725">
                  <a:solidFill>
                    <a:srgbClr val="2657C1"/>
                  </a:solidFill>
                  <a:latin typeface="TT Fors"/>
                  <a:ea typeface="TT Fors"/>
                  <a:cs typeface="TT Fors"/>
                </a:rPr>
                <a:t>Ollama</a:t>
              </a:r>
            </a:p>
          </p:txBody>
        </p:sp>
      </p:grpSp>
    </p:spTree>
  </p:cSld>
  <p:clrMapOvr>
    <a:masterClrMapping/>
  </p:clrMapOvr>
  <mc:AlternateContent xmlns:mc="http://schemas.openxmlformats.org/markup-compatibility/2006">
    <mc:Choice xmlns:p14="http://schemas.microsoft.com/office/powerpoint/2010/main" Requires="p14">
      <p:transition p14:dur="40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par>
                                <p:cTn id="8" presetID="0" presetClass="entr" presetSubtype="0" accel="22000" decel="25000" fill="hold" grpId="1" nodeType="withEffect">
                                  <p:stCondLst>
                                    <p:cond delay="0"/>
                                  </p:stCondLst>
                                  <p:childTnLst>
                                    <p:set>
                                      <p:cBhvr>
                                        <p:cTn id="9" dur="1" fill="hold">
                                          <p:stCondLst>
                                            <p:cond delay="449"/>
                                          </p:stCondLst>
                                        </p:cTn>
                                        <p:tgtEl>
                                          <p:spTgt spid="11"/>
                                        </p:tgtEl>
                                        <p:attrNameLst>
                                          <p:attrName>style.visibility</p:attrName>
                                        </p:attrNameLst>
                                      </p:cBhvr>
                                      <p:to>
                                        <p:strVal val="visible"/>
                                      </p:to>
                                    </p:set>
                                    <p:animMotion origin="layout" path="M 0 0.01111111 L 0 0 E" pathEditMode="relative">
                                      <p:cBhvr from="" to="">
                                        <p:cTn id="10" dur="450" fill="hold">
                                          <p:stCondLst>
                                            <p:cond delay="0"/>
                                          </p:stCondLst>
                                        </p:cTn>
                                        <p:tgtEl>
                                          <p:spTgt spid="11"/>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15"/>
                                        </p:tgtEl>
                                        <p:attrNameLst>
                                          <p:attrName>style.visibility</p:attrName>
                                        </p:attrNameLst>
                                      </p:cBhvr>
                                      <p:to>
                                        <p:strVal val="visible"/>
                                      </p:to>
                                    </p:set>
                                    <p:animMotion origin="layout" path="M 0 0.01111111 L 0 0 E" pathEditMode="relative">
                                      <p:cBhvr from="" to="">
                                        <p:cTn id="18" dur="450" fill="hold">
                                          <p:stCondLst>
                                            <p:cond delay="0"/>
                                          </p:stCondLst>
                                        </p:cTn>
                                        <p:tgtEl>
                                          <p:spTgt spid="15"/>
                                        </p:tgtEl>
                                        <p:attrNameLst>
                                          <p:attrName>ppt_x</p:attrName>
                                          <p:attrName>ppt_y</p:attrName>
                                        </p:attrNameLst>
                                      </p:cBhvr>
                                    </p:animMotion>
                                  </p:childTnLst>
                                </p:cTn>
                              </p:par>
                            </p:childTnLst>
                          </p:cTn>
                        </p:par>
                        <p:par>
                          <p:cTn id="19" fill="hold">
                            <p:stCondLst>
                              <p:cond delay="450"/>
                            </p:stCondLst>
                            <p:childTnLst>
                              <p:par>
                                <p:cTn id="20" presetID="10" presetClass="entr" presetSubtype="0" fill="hold" grpId="0" nodeType="afterEffect">
                                  <p:stCondLst>
                                    <p:cond delay="0"/>
                                  </p:stCondLst>
                                  <p:childTnLst>
                                    <p:set>
                                      <p:cBhvr>
                                        <p:cTn id="21" dur="1" fill="hold">
                                          <p:stCondLst>
                                            <p:cond delay="0"/>
                                          </p:stCondLst>
                                        </p:cTn>
                                        <p:tgtEl>
                                          <p:spTgt spid="2008"/>
                                        </p:tgtEl>
                                        <p:attrNameLst>
                                          <p:attrName>style.visibility</p:attrName>
                                        </p:attrNameLst>
                                      </p:cBhvr>
                                      <p:to>
                                        <p:strVal val="visible"/>
                                      </p:to>
                                    </p:set>
                                    <p:animEffect transition="in" filter="fade">
                                      <p:cBhvr>
                                        <p:cTn id="22" dur="320"/>
                                        <p:tgtEl>
                                          <p:spTgt spid="2008"/>
                                        </p:tgtEl>
                                      </p:cBhvr>
                                    </p:animEffect>
                                  </p:childTnLst>
                                </p:cTn>
                              </p:par>
                            </p:childTnLst>
                          </p:cTn>
                        </p:par>
                        <p:par>
                          <p:cTn id="23" fill="hold">
                            <p:stCondLst>
                              <p:cond delay="770"/>
                            </p:stCondLst>
                            <p:childTnLst>
                              <p:par>
                                <p:cTn id="24" presetID="0" presetClass="entr" presetSubtype="0" accel="22000" decel="25000" fill="hold" grpId="1" nodeType="afterEffect">
                                  <p:stCondLst>
                                    <p:cond delay="0"/>
                                  </p:stCondLst>
                                  <p:childTnLst>
                                    <p:set>
                                      <p:cBhvr>
                                        <p:cTn id="25" dur="1" fill="hold">
                                          <p:stCondLst>
                                            <p:cond delay="699"/>
                                          </p:stCondLst>
                                        </p:cTn>
                                        <p:tgtEl>
                                          <p:spTgt spid="2008"/>
                                        </p:tgtEl>
                                        <p:attrNameLst>
                                          <p:attrName>style.visibility</p:attrName>
                                        </p:attrNameLst>
                                      </p:cBhvr>
                                      <p:to>
                                        <p:strVal val="visible"/>
                                      </p:to>
                                    </p:set>
                                    <p:animMotion origin="layout" path="M 0 0 L 0.06145833 0 E" pathEditMode="relative">
                                      <p:cBhvr from="" to="">
                                        <p:cTn id="26" dur="700" fill="hold">
                                          <p:stCondLst>
                                            <p:cond delay="0"/>
                                          </p:stCondLst>
                                        </p:cTn>
                                        <p:tgtEl>
                                          <p:spTgt spid="2008"/>
                                        </p:tgtEl>
                                        <p:attrNameLst>
                                          <p:attrName>ppt_x</p:attrName>
                                          <p:attrName>ppt_y</p:attrName>
                                        </p:attrNameLst>
                                      </p:cBhvr>
                                    </p:animMotion>
                                  </p:childTnLst>
                                </p:cTn>
                              </p:par>
                            </p:childTnLst>
                          </p:cTn>
                        </p:par>
                        <p:par>
                          <p:cTn id="27" fill="hold">
                            <p:stCondLst>
                              <p:cond delay="1470"/>
                            </p:stCondLst>
                            <p:childTnLst>
                              <p:par>
                                <p:cTn id="28" presetID="10" presetClass="exit" presetSubtype="0" fill="hold" grpId="2" nodeType="afterEffect">
                                  <p:stCondLst>
                                    <p:cond delay="0"/>
                                  </p:stCondLst>
                                  <p:childTnLst>
                                    <p:animEffect transition="out" filter="fade">
                                      <p:cBhvr>
                                        <p:cTn id="29" dur="500"/>
                                        <p:tgtEl>
                                          <p:spTgt spid="2008"/>
                                        </p:tgtEl>
                                      </p:cBhvr>
                                    </p:animEffect>
                                    <p:set>
                                      <p:cBhvr>
                                        <p:cTn id="30" dur="1" fill="hold">
                                          <p:stCondLst>
                                            <p:cond delay="499"/>
                                          </p:stCondLst>
                                        </p:cTn>
                                        <p:tgtEl>
                                          <p:spTgt spid="2008"/>
                                        </p:tgtEl>
                                        <p:attrNameLst>
                                          <p:attrName>style.visibility</p:attrName>
                                        </p:attrNameLst>
                                      </p:cBhvr>
                                      <p:to>
                                        <p:strVal val="hidden"/>
                                      </p:to>
                                    </p:set>
                                  </p:childTnLst>
                                </p:cTn>
                              </p:par>
                            </p:childTnLst>
                          </p:cTn>
                        </p:par>
                        <p:par>
                          <p:cTn id="31" fill="hold">
                            <p:stCondLst>
                              <p:cond delay="1970"/>
                            </p:stCondLst>
                            <p:childTnLst>
                              <p:par>
                                <p:cTn id="32" presetID="10" presetClass="entr" presetSubtype="0"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350"/>
                                        <p:tgtEl>
                                          <p:spTgt spid="16"/>
                                        </p:tgtEl>
                                      </p:cBhvr>
                                    </p:animEffect>
                                  </p:childTnLst>
                                </p:cTn>
                              </p:par>
                              <p:par>
                                <p:cTn id="35" presetID="0" presetClass="entr" presetSubtype="0" accel="22000" decel="25000" fill="hold" nodeType="withEffect">
                                  <p:stCondLst>
                                    <p:cond delay="0"/>
                                  </p:stCondLst>
                                  <p:childTnLst>
                                    <p:set>
                                      <p:cBhvr>
                                        <p:cTn id="36" dur="1" fill="hold">
                                          <p:stCondLst>
                                            <p:cond delay="449"/>
                                          </p:stCondLst>
                                        </p:cTn>
                                        <p:tgtEl>
                                          <p:spTgt spid="16"/>
                                        </p:tgtEl>
                                        <p:attrNameLst>
                                          <p:attrName>style.visibility</p:attrName>
                                        </p:attrNameLst>
                                      </p:cBhvr>
                                      <p:to>
                                        <p:strVal val="visible"/>
                                      </p:to>
                                    </p:set>
                                    <p:animMotion origin="layout" path="M 0 0.01111111 L 0 0 E" pathEditMode="relative">
                                      <p:cBhvr from="" to="">
                                        <p:cTn id="37" dur="450" fill="hold">
                                          <p:stCondLst>
                                            <p:cond delay="0"/>
                                          </p:stCondLst>
                                        </p:cTn>
                                        <p:tgtEl>
                                          <p:spTgt spid="16"/>
                                        </p:tgtEl>
                                        <p:attrNameLst>
                                          <p:attrName>ppt_x</p:attrName>
                                          <p:attrName>ppt_y</p:attrName>
                                        </p:attrNameLst>
                                      </p:cBhvr>
                                    </p:animMotion>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down)">
                                      <p:cBhvr>
                                        <p:cTn id="42" dur="500"/>
                                        <p:tgtEl>
                                          <p:spTgt spid="17"/>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2021"/>
                                        </p:tgtEl>
                                        <p:attrNameLst>
                                          <p:attrName>style.visibility</p:attrName>
                                        </p:attrNameLst>
                                      </p:cBhvr>
                                      <p:to>
                                        <p:strVal val="visible"/>
                                      </p:to>
                                    </p:set>
                                    <p:animEffect transition="in" filter="fade">
                                      <p:cBhvr>
                                        <p:cTn id="46" dur="320"/>
                                        <p:tgtEl>
                                          <p:spTgt spid="2021"/>
                                        </p:tgtEl>
                                      </p:cBhvr>
                                    </p:animEffect>
                                  </p:childTnLst>
                                </p:cTn>
                              </p:par>
                            </p:childTnLst>
                          </p:cTn>
                        </p:par>
                        <p:par>
                          <p:cTn id="47" fill="hold">
                            <p:stCondLst>
                              <p:cond delay="820"/>
                            </p:stCondLst>
                            <p:childTnLst>
                              <p:par>
                                <p:cTn id="48" presetID="0" presetClass="entr" presetSubtype="0" accel="22000" decel="25000" fill="hold" grpId="1" nodeType="afterEffect">
                                  <p:stCondLst>
                                    <p:cond delay="0"/>
                                  </p:stCondLst>
                                  <p:childTnLst>
                                    <p:set>
                                      <p:cBhvr>
                                        <p:cTn id="49" dur="1" fill="hold">
                                          <p:stCondLst>
                                            <p:cond delay="1049"/>
                                          </p:stCondLst>
                                        </p:cTn>
                                        <p:tgtEl>
                                          <p:spTgt spid="2021"/>
                                        </p:tgtEl>
                                        <p:attrNameLst>
                                          <p:attrName>style.visibility</p:attrName>
                                        </p:attrNameLst>
                                      </p:cBhvr>
                                      <p:to>
                                        <p:strVal val="visible"/>
                                      </p:to>
                                    </p:set>
                                    <p:animMotion origin="layout" path="M 0 0 L 0 -0.2712963 L 0.06770833 -0.2712963 E" pathEditMode="relative">
                                      <p:cBhvr from="" to="">
                                        <p:cTn id="50" dur="1050" fill="hold">
                                          <p:stCondLst>
                                            <p:cond delay="0"/>
                                          </p:stCondLst>
                                        </p:cTn>
                                        <p:tgtEl>
                                          <p:spTgt spid="2021"/>
                                        </p:tgtEl>
                                        <p:attrNameLst>
                                          <p:attrName>ppt_x</p:attrName>
                                          <p:attrName>ppt_y</p:attrName>
                                        </p:attrNameLst>
                                      </p:cBhvr>
                                    </p:animMotion>
                                  </p:childTnLst>
                                </p:cTn>
                              </p:par>
                            </p:childTnLst>
                          </p:cTn>
                        </p:par>
                        <p:par>
                          <p:cTn id="51" fill="hold">
                            <p:stCondLst>
                              <p:cond delay="1870"/>
                            </p:stCondLst>
                            <p:childTnLst>
                              <p:par>
                                <p:cTn id="52" presetID="10" presetClass="exit" presetSubtype="0" fill="hold" grpId="2" nodeType="afterEffect">
                                  <p:stCondLst>
                                    <p:cond delay="0"/>
                                  </p:stCondLst>
                                  <p:childTnLst>
                                    <p:animEffect transition="out" filter="fade">
                                      <p:cBhvr>
                                        <p:cTn id="53" dur="500"/>
                                        <p:tgtEl>
                                          <p:spTgt spid="2021"/>
                                        </p:tgtEl>
                                      </p:cBhvr>
                                    </p:animEffect>
                                    <p:set>
                                      <p:cBhvr>
                                        <p:cTn id="54" dur="1" fill="hold">
                                          <p:stCondLst>
                                            <p:cond delay="499"/>
                                          </p:stCondLst>
                                        </p:cTn>
                                        <p:tgtEl>
                                          <p:spTgt spid="2021"/>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0" presetID="0" presetClass="entr" presetSubtype="0" accel="22000" decel="25000" fill="hold" nodeType="withEffect">
                                  <p:stCondLst>
                                    <p:cond delay="0"/>
                                  </p:stCondLst>
                                  <p:childTnLst>
                                    <p:set>
                                      <p:cBhvr>
                                        <p:cTn id="61" dur="1" fill="hold">
                                          <p:stCondLst>
                                            <p:cond delay="449"/>
                                          </p:stCondLst>
                                        </p:cTn>
                                        <p:tgtEl>
                                          <p:spTgt spid="18"/>
                                        </p:tgtEl>
                                        <p:attrNameLst>
                                          <p:attrName>style.visibility</p:attrName>
                                        </p:attrNameLst>
                                      </p:cBhvr>
                                      <p:to>
                                        <p:strVal val="visible"/>
                                      </p:to>
                                    </p:set>
                                    <p:animMotion origin="layout" path="M 0 0.01111111 L 0 0 E" pathEditMode="relative">
                                      <p:cBhvr from="" to="">
                                        <p:cTn id="62" dur="450" fill="hold">
                                          <p:stCondLst>
                                            <p:cond delay="0"/>
                                          </p:stCondLst>
                                        </p:cTn>
                                        <p:tgtEl>
                                          <p:spTgt spid="18"/>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50"/>
                                        <p:tgtEl>
                                          <p:spTgt spid="19"/>
                                        </p:tgtEl>
                                      </p:cBhvr>
                                    </p:animEffect>
                                  </p:childTnLst>
                                </p:cTn>
                              </p:par>
                              <p:par>
                                <p:cTn id="68" presetID="0" presetClass="entr" presetSubtype="0" accel="22000" decel="25000" fill="hold" nodeType="withEffect">
                                  <p:stCondLst>
                                    <p:cond delay="0"/>
                                  </p:stCondLst>
                                  <p:childTnLst>
                                    <p:set>
                                      <p:cBhvr>
                                        <p:cTn id="69" dur="1" fill="hold">
                                          <p:stCondLst>
                                            <p:cond delay="449"/>
                                          </p:stCondLst>
                                        </p:cTn>
                                        <p:tgtEl>
                                          <p:spTgt spid="19"/>
                                        </p:tgtEl>
                                        <p:attrNameLst>
                                          <p:attrName>style.visibility</p:attrName>
                                        </p:attrNameLst>
                                      </p:cBhvr>
                                      <p:to>
                                        <p:strVal val="visible"/>
                                      </p:to>
                                    </p:set>
                                    <p:animMotion origin="layout" path="M 0 0.01111111 L 0 0 E" pathEditMode="relative">
                                      <p:cBhvr from="" to="">
                                        <p:cTn id="70" dur="450" fill="hold">
                                          <p:stCondLst>
                                            <p:cond delay="0"/>
                                          </p:stCondLst>
                                        </p:cTn>
                                        <p:tgtEl>
                                          <p:spTgt spid="19"/>
                                        </p:tgtEl>
                                        <p:attrNameLst>
                                          <p:attrName>ppt_x</p:attrName>
                                          <p:attrName>ppt_y</p:attrName>
                                        </p:attrNameLst>
                                      </p:cBhvr>
                                    </p:animMotion>
                                  </p:childTnLst>
                                </p:cTn>
                              </p:par>
                            </p:childTnLst>
                          </p:cTn>
                        </p:par>
                        <p:par>
                          <p:cTn id="71" fill="hold">
                            <p:stCondLst>
                              <p:cond delay="450"/>
                            </p:stCondLst>
                            <p:childTnLst>
                              <p:par>
                                <p:cTn id="72" presetID="10" presetClass="entr" presetSubtype="0" fill="hold"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350"/>
                                        <p:tgtEl>
                                          <p:spTgt spid="20"/>
                                        </p:tgtEl>
                                      </p:cBhvr>
                                    </p:animEffect>
                                  </p:childTnLst>
                                </p:cTn>
                              </p:par>
                              <p:par>
                                <p:cTn id="75" presetID="0" presetClass="entr" presetSubtype="0" accel="22000" decel="25000" fill="hold" nodeType="withEffect">
                                  <p:stCondLst>
                                    <p:cond delay="0"/>
                                  </p:stCondLst>
                                  <p:childTnLst>
                                    <p:set>
                                      <p:cBhvr>
                                        <p:cTn id="76" dur="1" fill="hold">
                                          <p:stCondLst>
                                            <p:cond delay="449"/>
                                          </p:stCondLst>
                                        </p:cTn>
                                        <p:tgtEl>
                                          <p:spTgt spid="20"/>
                                        </p:tgtEl>
                                        <p:attrNameLst>
                                          <p:attrName>style.visibility</p:attrName>
                                        </p:attrNameLst>
                                      </p:cBhvr>
                                      <p:to>
                                        <p:strVal val="visible"/>
                                      </p:to>
                                    </p:set>
                                    <p:animMotion origin="layout" path="M 0 0.01111111 L 0 0 E" pathEditMode="relative">
                                      <p:cBhvr from="" to="">
                                        <p:cTn id="77" dur="450" fill="hold">
                                          <p:stCondLst>
                                            <p:cond delay="0"/>
                                          </p:stCondLst>
                                        </p:cTn>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2008" grpId="0" animBg="1"/>
      <p:bldP spid="2008" grpId="1" animBg="1"/>
      <p:bldP spid="2008" grpId="2" animBg="1"/>
      <p:bldP spid="2021" grpId="0" animBg="1"/>
      <p:bldP spid="2021" grpId="1" animBg="1"/>
      <p:bldP spid="2021"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432612" y="1073634"/>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sp>
      <p:sp>
        <p:nvSpPr>
          <p:cNvPr id="3" name="Freeform 3"/>
          <p:cNvSpPr/>
          <p:nvPr/>
        </p:nvSpPr>
        <p:spPr>
          <a:xfrm>
            <a:off x="-976303" y="8861330"/>
            <a:ext cx="2587045" cy="2587045"/>
          </a:xfrm>
          <a:custGeom>
            <a:avLst/>
            <a:gdLst/>
            <a:ahLst/>
            <a:cxnLst/>
            <a:rect l="l" t="t" r="r" b="b"/>
            <a:pathLst>
              <a:path w="2587045" h="2587045">
                <a:moveTo>
                  <a:pt x="0" y="0"/>
                </a:moveTo>
                <a:lnTo>
                  <a:pt x="2587045" y="0"/>
                </a:lnTo>
                <a:lnTo>
                  <a:pt x="2587045" y="2587045"/>
                </a:lnTo>
                <a:lnTo>
                  <a:pt x="0" y="2587045"/>
                </a:lnTo>
                <a:lnTo>
                  <a:pt x="0" y="0"/>
                </a:lnTo>
                <a:close/>
              </a:path>
            </a:pathLst>
          </a:custGeom>
          <a:blipFill>
            <a:blip r:embed="rId3"/>
            <a:stretch>
              <a:fillRect/>
            </a:stretch>
          </a:blipFill>
        </p:spPr>
      </p:sp>
      <p:sp>
        <p:nvSpPr>
          <p:cNvPr id="4" name="Freeform 4"/>
          <p:cNvSpPr/>
          <p:nvPr/>
        </p:nvSpPr>
        <p:spPr>
          <a:xfrm>
            <a:off x="16261240" y="5240019"/>
            <a:ext cx="1171372" cy="1171372"/>
          </a:xfrm>
          <a:custGeom>
            <a:avLst/>
            <a:gdLst/>
            <a:ahLst/>
            <a:cxnLst/>
            <a:rect l="l" t="t" r="r" b="b"/>
            <a:pathLst>
              <a:path w="1171372" h="1171372">
                <a:moveTo>
                  <a:pt x="0" y="0"/>
                </a:moveTo>
                <a:lnTo>
                  <a:pt x="1171372" y="0"/>
                </a:lnTo>
                <a:lnTo>
                  <a:pt x="1171372" y="1171373"/>
                </a:lnTo>
                <a:lnTo>
                  <a:pt x="0" y="11713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166681" y="8062234"/>
            <a:ext cx="4185238" cy="4185238"/>
          </a:xfrm>
          <a:custGeom>
            <a:avLst/>
            <a:gdLst/>
            <a:ahLst/>
            <a:cxnLst/>
            <a:rect l="l" t="t" r="r" b="b"/>
            <a:pathLst>
              <a:path w="4185238" h="4185238">
                <a:moveTo>
                  <a:pt x="0" y="0"/>
                </a:moveTo>
                <a:lnTo>
                  <a:pt x="4185238" y="0"/>
                </a:lnTo>
                <a:lnTo>
                  <a:pt x="4185238" y="4185238"/>
                </a:lnTo>
                <a:lnTo>
                  <a:pt x="0" y="41852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10" name="TextBox 10"/>
          <p:cNvSpPr txBox="1"/>
          <p:nvPr/>
        </p:nvSpPr>
        <p:spPr>
          <a:xfrm>
            <a:off x="1028700" y="726850"/>
            <a:ext cx="3166518" cy="298159"/>
          </a:xfrm>
          <a:prstGeom prst="rect">
            <a:avLst/>
          </a:prstGeom>
        </p:spPr>
        <p:txBody>
          <a:bodyPr lIns="0" tIns="0" rIns="0" bIns="0" rtlCol="0" anchor="t">
            <a:spAutoFit/>
          </a:bodyPr>
          <a:lstStyle/>
          <a:p>
            <a:pPr algn="l">
              <a:lnSpc>
                <a:spcPts val="2182"/>
              </a:lnSpc>
            </a:pPr>
            <a:r>
              <a:rPr lang="en-US" sz="2250" b="1">
                <a:solidFill>
                  <a:srgbClr val="2657C1"/>
                </a:solidFill>
                <a:latin typeface="TT Fors Bold"/>
                <a:ea typeface="TT Fors Bold"/>
                <a:cs typeface="TT Fors Bold"/>
                <a:sym typeface="TT Fors Bold"/>
              </a:rPr>
              <a:t>CYBERSHIELD AI</a:t>
            </a:r>
          </a:p>
        </p:txBody>
      </p:sp>
      <p:sp>
        <p:nvSpPr>
          <p:cNvPr id="11" name="TextBox 11"/>
          <p:cNvSpPr txBox="1"/>
          <p:nvPr/>
        </p:nvSpPr>
        <p:spPr>
          <a:xfrm>
            <a:off x="9144000" y="631600"/>
            <a:ext cx="1662550"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Projet</a:t>
            </a:r>
          </a:p>
        </p:txBody>
      </p:sp>
      <p:sp>
        <p:nvSpPr>
          <p:cNvPr id="12" name="anim_heading"/>
          <p:cNvSpPr txBox="1"/>
          <p:nvPr/>
        </p:nvSpPr>
        <p:spPr>
          <a:xfrm>
            <a:off x="1028700" y="2430260"/>
            <a:ext cx="6253195" cy="2762134"/>
          </a:xfrm>
          <a:prstGeom prst="rect">
            <a:avLst/>
          </a:prstGeom>
        </p:spPr>
        <p:txBody>
          <a:bodyPr lIns="0" tIns="0" rIns="0" bIns="0" rtlCol="0" anchor="t">
            <a:spAutoFit/>
          </a:bodyPr>
          <a:lstStyle/>
          <a:p>
            <a:pPr algn="l">
              <a:lnSpc>
                <a:spcPts val="10595"/>
              </a:lnSpc>
            </a:pPr>
            <a:r>
              <a:rPr lang="en-US" sz="10922" spc="-109">
                <a:solidFill>
                  <a:srgbClr val="2657C1"/>
                </a:solidFill>
                <a:latin typeface="Etna Sans Serif"/>
                <a:ea typeface="Etna Sans Serif"/>
                <a:cs typeface="Etna Sans Serif"/>
                <a:sym typeface="Etna Sans Serif"/>
              </a:rPr>
              <a:t>Site</a:t>
            </a:r>
          </a:p>
          <a:p>
            <a:pPr algn="l">
              <a:lnSpc>
                <a:spcPts val="10595"/>
              </a:lnSpc>
            </a:pPr>
            <a:r>
              <a:rPr lang="en-US" sz="10922" spc="-109">
                <a:solidFill>
                  <a:srgbClr val="2657C1"/>
                </a:solidFill>
                <a:latin typeface="Etna Sans Serif"/>
                <a:ea typeface="Etna Sans Serif"/>
                <a:cs typeface="Etna Sans Serif"/>
                <a:sym typeface="Etna Sans Serif"/>
              </a:rPr>
              <a:t>exposé</a:t>
            </a:r>
          </a:p>
        </p:txBody>
      </p:sp>
      <p:sp>
        <p:nvSpPr>
          <p:cNvPr id="14" name="TextBox 14"/>
          <p:cNvSpPr txBox="1"/>
          <p:nvPr/>
        </p:nvSpPr>
        <p:spPr>
          <a:xfrm>
            <a:off x="13726729" y="631600"/>
            <a:ext cx="1916881"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Résultats</a:t>
            </a:r>
          </a:p>
        </p:txBody>
      </p:sp>
      <p:sp>
        <p:nvSpPr>
          <p:cNvPr id="15" name="TextBox 15"/>
          <p:cNvSpPr txBox="1"/>
          <p:nvPr/>
        </p:nvSpPr>
        <p:spPr>
          <a:xfrm>
            <a:off x="16053186" y="633813"/>
            <a:ext cx="1206114"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Suite</a:t>
            </a:r>
          </a:p>
        </p:txBody>
      </p:sp>
      <p:sp>
        <p:nvSpPr>
          <p:cNvPr id="16" name="TextBox 16"/>
          <p:cNvSpPr txBox="1"/>
          <p:nvPr/>
        </p:nvSpPr>
        <p:spPr>
          <a:xfrm>
            <a:off x="11362447" y="633813"/>
            <a:ext cx="1907082" cy="394403"/>
          </a:xfrm>
          <a:prstGeom prst="rect">
            <a:avLst/>
          </a:prstGeom>
        </p:spPr>
        <p:txBody>
          <a:bodyPr lIns="0" tIns="0" rIns="0" bIns="0" rtlCol="0" anchor="t">
            <a:spAutoFit/>
          </a:bodyPr>
          <a:lstStyle/>
          <a:p>
            <a:pPr marL="0" lvl="0" indent="0" algn="l">
              <a:lnSpc>
                <a:spcPts val="3151"/>
              </a:lnSpc>
              <a:spcBef>
                <a:spcPct val="0"/>
              </a:spcBef>
            </a:pPr>
            <a:r>
              <a:rPr lang="en-US" sz="2251" b="1">
                <a:solidFill>
                  <a:srgbClr val="2657C1"/>
                </a:solidFill>
                <a:latin typeface="TT Fors Bold" panose="020B0604020202020204" charset="0"/>
                <a:ea typeface="TT Fors Bold"/>
                <a:cs typeface="TT Fors Bold"/>
                <a:sym typeface="TT Fors Bold"/>
              </a:rPr>
              <a:t>Solution</a:t>
            </a:r>
          </a:p>
        </p:txBody>
      </p:sp>
      <p:sp>
        <p:nvSpPr>
          <p:cNvPr id="17" name="Freeform 17"/>
          <p:cNvSpPr/>
          <p:nvPr/>
        </p:nvSpPr>
        <p:spPr>
          <a:xfrm>
            <a:off x="8755815" y="3346942"/>
            <a:ext cx="776370" cy="776370"/>
          </a:xfrm>
          <a:custGeom>
            <a:avLst/>
            <a:gdLst/>
            <a:ahLst/>
            <a:cxnLst/>
            <a:rect l="l" t="t" r="r" b="b"/>
            <a:pathLst>
              <a:path w="776370" h="776370">
                <a:moveTo>
                  <a:pt x="0" y="0"/>
                </a:moveTo>
                <a:lnTo>
                  <a:pt x="776370" y="0"/>
                </a:lnTo>
                <a:lnTo>
                  <a:pt x="776370" y="776370"/>
                </a:lnTo>
                <a:lnTo>
                  <a:pt x="0" y="7763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01" name="anim_summary">
            <a:extLst>
              <a:ext uri="{FF2B5EF4-FFF2-40B4-BE49-F238E27FC236}">
                <a16:creationId xmlns:a16="http://schemas.microsoft.com/office/drawing/2014/main" id="{9B9AEEA3-42FC-4DDD-8BF9-7967DC77CAAD}"/>
              </a:ext>
            </a:extLst>
          </p:cNvPr>
          <p:cNvSpPr>
            <a:spLocks/>
          </p:cNvSpPr>
          <p:nvPr/>
        </p:nvSpPr>
        <p:spPr>
          <a:xfrm>
            <a:off x="1028700" y="5410200"/>
            <a:ext cx="6257925" cy="99060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a:ea typeface="TT Fors"/>
                <a:cs typeface="TT Fors"/>
              </a:defRPr>
            </a:defPPr>
          </a:lstStyle>
          <a:p>
            <a:pPr algn="l">
              <a:defRPr sz="2100">
                <a:solidFill>
                  <a:srgbClr val="2657C1"/>
                </a:solidFill>
                <a:latin typeface="TT Fors"/>
                <a:ea typeface="TT Fors"/>
                <a:cs typeface="TT Fors"/>
              </a:defRPr>
            </a:pPr>
            <a:r>
              <a:rPr sz="2100">
                <a:solidFill>
                  <a:srgbClr val="2657C1"/>
                </a:solidFill>
                <a:latin typeface="TT Fors"/>
                <a:ea typeface="TT Fors"/>
                <a:cs typeface="TT Fors"/>
              </a:rPr>
              <a:t>Un code vulnérable concatène la saisie au SQL. La condition peut être détournée.</a:t>
            </a:r>
          </a:p>
        </p:txBody>
      </p:sp>
      <p:sp>
        <p:nvSpPr>
          <p:cNvPr id="2002" name="browser_label">
            <a:extLst>
              <a:ext uri="{FF2B5EF4-FFF2-40B4-BE49-F238E27FC236}">
                <a16:creationId xmlns:a16="http://schemas.microsoft.com/office/drawing/2014/main" id="{09846402-D45D-42D1-8CAD-E24CAC2DE93C}"/>
              </a:ext>
            </a:extLst>
          </p:cNvPr>
          <p:cNvSpPr>
            <a:spLocks/>
          </p:cNvSpPr>
          <p:nvPr/>
        </p:nvSpPr>
        <p:spPr>
          <a:xfrm>
            <a:off x="8286750" y="2562225"/>
            <a:ext cx="2190750"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NAVIGATEUR</a:t>
            </a:r>
          </a:p>
        </p:txBody>
      </p:sp>
      <p:sp>
        <p:nvSpPr>
          <p:cNvPr id="2003" name="browser_frame">
            <a:extLst>
              <a:ext uri="{FF2B5EF4-FFF2-40B4-BE49-F238E27FC236}">
                <a16:creationId xmlns:a16="http://schemas.microsoft.com/office/drawing/2014/main" id="{D906BE9F-2CBC-4B22-8B16-6989B402C3F4}"/>
              </a:ext>
            </a:extLst>
          </p:cNvPr>
          <p:cNvSpPr>
            <a:spLocks/>
          </p:cNvSpPr>
          <p:nvPr/>
        </p:nvSpPr>
        <p:spPr>
          <a:xfrm>
            <a:off x="8286750" y="3286125"/>
            <a:ext cx="2190750" cy="2190750"/>
          </a:xfrm>
          <a:prstGeom prst="rect">
            <a:avLst/>
          </a:prstGeom>
          <a:solidFill>
            <a:srgbClr val="F7F7F7"/>
          </a:solidFill>
          <a:ln w="19050">
            <a:solidFill>
              <a:srgbClr val="2657C1"/>
            </a:solidFill>
            <a:prstDash val="solid"/>
          </a:ln>
        </p:spPr>
      </p:sp>
      <p:sp>
        <p:nvSpPr>
          <p:cNvPr id="2004" name="browser_bar">
            <a:extLst>
              <a:ext uri="{FF2B5EF4-FFF2-40B4-BE49-F238E27FC236}">
                <a16:creationId xmlns:a16="http://schemas.microsoft.com/office/drawing/2014/main" id="{1D8B4FCB-6592-4863-8847-91EE2E856531}"/>
              </a:ext>
            </a:extLst>
          </p:cNvPr>
          <p:cNvSpPr>
            <a:spLocks/>
          </p:cNvSpPr>
          <p:nvPr/>
        </p:nvSpPr>
        <p:spPr>
          <a:xfrm>
            <a:off x="8286750" y="3667125"/>
            <a:ext cx="2190750" cy="0"/>
          </a:xfrm>
          <a:prstGeom prst="line">
            <a:avLst/>
          </a:prstGeom>
          <a:noFill/>
          <a:ln w="14288">
            <a:solidFill>
              <a:srgbClr val="9FB6E5"/>
            </a:solidFill>
            <a:prstDash val="solid"/>
          </a:ln>
        </p:spPr>
      </p:sp>
      <p:sp>
        <p:nvSpPr>
          <p:cNvPr id="2005" name="browser_dot_0">
            <a:extLst>
              <a:ext uri="{FF2B5EF4-FFF2-40B4-BE49-F238E27FC236}">
                <a16:creationId xmlns:a16="http://schemas.microsoft.com/office/drawing/2014/main" id="{EF157D81-3BA4-42E5-9DDB-39331A803CC6}"/>
              </a:ext>
            </a:extLst>
          </p:cNvPr>
          <p:cNvSpPr>
            <a:spLocks/>
          </p:cNvSpPr>
          <p:nvPr/>
        </p:nvSpPr>
        <p:spPr>
          <a:xfrm>
            <a:off x="8448675" y="3438525"/>
            <a:ext cx="57150" cy="57150"/>
          </a:xfrm>
          <a:prstGeom prst="ellipse">
            <a:avLst/>
          </a:prstGeom>
          <a:solidFill>
            <a:srgbClr val="2657C1"/>
          </a:solidFill>
          <a:ln w="9525">
            <a:noFill/>
            <a:prstDash val="solid"/>
          </a:ln>
        </p:spPr>
      </p:sp>
      <p:sp>
        <p:nvSpPr>
          <p:cNvPr id="2006" name="browser_dot_1">
            <a:extLst>
              <a:ext uri="{FF2B5EF4-FFF2-40B4-BE49-F238E27FC236}">
                <a16:creationId xmlns:a16="http://schemas.microsoft.com/office/drawing/2014/main" id="{528B0055-36B2-467B-91BD-8D2178E2D671}"/>
              </a:ext>
            </a:extLst>
          </p:cNvPr>
          <p:cNvSpPr>
            <a:spLocks/>
          </p:cNvSpPr>
          <p:nvPr/>
        </p:nvSpPr>
        <p:spPr>
          <a:xfrm>
            <a:off x="8610600" y="3438525"/>
            <a:ext cx="57150" cy="57150"/>
          </a:xfrm>
          <a:prstGeom prst="ellipse">
            <a:avLst/>
          </a:prstGeom>
          <a:solidFill>
            <a:srgbClr val="2657C1"/>
          </a:solidFill>
          <a:ln w="9525">
            <a:noFill/>
            <a:prstDash val="solid"/>
          </a:ln>
        </p:spPr>
      </p:sp>
      <p:sp>
        <p:nvSpPr>
          <p:cNvPr id="2007" name="browser_dot_2">
            <a:extLst>
              <a:ext uri="{FF2B5EF4-FFF2-40B4-BE49-F238E27FC236}">
                <a16:creationId xmlns:a16="http://schemas.microsoft.com/office/drawing/2014/main" id="{A9D03C2A-D693-465F-B98D-0F420E80683A}"/>
              </a:ext>
            </a:extLst>
          </p:cNvPr>
          <p:cNvSpPr>
            <a:spLocks/>
          </p:cNvSpPr>
          <p:nvPr/>
        </p:nvSpPr>
        <p:spPr>
          <a:xfrm>
            <a:off x="8772525" y="3438525"/>
            <a:ext cx="57150" cy="57150"/>
          </a:xfrm>
          <a:prstGeom prst="ellipse">
            <a:avLst/>
          </a:prstGeom>
          <a:solidFill>
            <a:srgbClr val="2657C1"/>
          </a:solidFill>
          <a:ln w="9525">
            <a:noFill/>
            <a:prstDash val="solid"/>
          </a:ln>
        </p:spPr>
      </p:sp>
      <p:sp>
        <p:nvSpPr>
          <p:cNvPr id="2008" name="input_label">
            <a:extLst>
              <a:ext uri="{FF2B5EF4-FFF2-40B4-BE49-F238E27FC236}">
                <a16:creationId xmlns:a16="http://schemas.microsoft.com/office/drawing/2014/main" id="{D3476A15-FBB2-4F74-9867-A9E514C3D561}"/>
              </a:ext>
            </a:extLst>
          </p:cNvPr>
          <p:cNvSpPr>
            <a:spLocks/>
          </p:cNvSpPr>
          <p:nvPr/>
        </p:nvSpPr>
        <p:spPr>
          <a:xfrm>
            <a:off x="8439150" y="3886200"/>
            <a:ext cx="1905000" cy="352425"/>
          </a:xfrm>
          <a:prstGeom prst="rect">
            <a:avLst/>
          </a:prstGeom>
          <a:noFill/>
          <a:ln w="9525">
            <a:noFill/>
            <a:prstDash val="solid"/>
          </a:ln>
        </p:spPr>
        <p:txBody>
          <a:bodyPr wrap="square" lIns="0" tIns="0" rIns="0" bIns="0" anchor="ctr">
            <a:noAutofit/>
          </a:bodyPr>
          <a:lstStyle>
            <a:defPPr algn="l">
              <a:defRPr sz="1800">
                <a:solidFill>
                  <a:srgbClr val="2657C1"/>
                </a:solidFill>
                <a:latin typeface="TT Fors"/>
                <a:ea typeface="TT Fors"/>
                <a:cs typeface="TT Fors"/>
              </a:defRPr>
            </a:defPPr>
          </a:lstStyle>
          <a:p>
            <a:pPr algn="l">
              <a:defRPr sz="1800">
                <a:solidFill>
                  <a:srgbClr val="2657C1"/>
                </a:solidFill>
                <a:latin typeface="TT Fors"/>
                <a:ea typeface="TT Fors"/>
                <a:cs typeface="TT Fors"/>
              </a:defRPr>
            </a:pPr>
            <a:r>
              <a:rPr sz="1800">
                <a:solidFill>
                  <a:srgbClr val="2657C1"/>
                </a:solidFill>
                <a:latin typeface="TT Fors"/>
                <a:ea typeface="TT Fors"/>
                <a:cs typeface="TT Fors"/>
              </a:rPr>
              <a:t>Valeur HTTP</a:t>
            </a:r>
          </a:p>
        </p:txBody>
      </p:sp>
      <p:sp>
        <p:nvSpPr>
          <p:cNvPr id="2009" name="input_field">
            <a:extLst>
              <a:ext uri="{FF2B5EF4-FFF2-40B4-BE49-F238E27FC236}">
                <a16:creationId xmlns:a16="http://schemas.microsoft.com/office/drawing/2014/main" id="{4B657FBC-97E4-4897-93E0-9A4E6D284977}"/>
              </a:ext>
            </a:extLst>
          </p:cNvPr>
          <p:cNvSpPr>
            <a:spLocks/>
          </p:cNvSpPr>
          <p:nvPr/>
        </p:nvSpPr>
        <p:spPr>
          <a:xfrm>
            <a:off x="8420100" y="4410075"/>
            <a:ext cx="1924050" cy="628650"/>
          </a:xfrm>
          <a:prstGeom prst="rect">
            <a:avLst/>
          </a:prstGeom>
          <a:solidFill>
            <a:srgbClr val="EDF2FC"/>
          </a:solidFill>
          <a:ln w="9525">
            <a:solidFill>
              <a:srgbClr val="9FB6E5"/>
            </a:solidFill>
            <a:prstDash val="solid"/>
          </a:ln>
        </p:spPr>
      </p:sp>
      <p:sp>
        <p:nvSpPr>
          <p:cNvPr id="2010" name="php_label">
            <a:extLst>
              <a:ext uri="{FF2B5EF4-FFF2-40B4-BE49-F238E27FC236}">
                <a16:creationId xmlns:a16="http://schemas.microsoft.com/office/drawing/2014/main" id="{5D581851-642E-4C28-A803-FE1567CFF1B7}"/>
              </a:ext>
            </a:extLst>
          </p:cNvPr>
          <p:cNvSpPr>
            <a:spLocks/>
          </p:cNvSpPr>
          <p:nvPr/>
        </p:nvSpPr>
        <p:spPr>
          <a:xfrm>
            <a:off x="11144250" y="2562225"/>
            <a:ext cx="2333625"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APPLICATION PHP</a:t>
            </a:r>
          </a:p>
        </p:txBody>
      </p:sp>
      <p:sp>
        <p:nvSpPr>
          <p:cNvPr id="2011" name="php_frame">
            <a:extLst>
              <a:ext uri="{FF2B5EF4-FFF2-40B4-BE49-F238E27FC236}">
                <a16:creationId xmlns:a16="http://schemas.microsoft.com/office/drawing/2014/main" id="{28CA3A5E-8387-4CAE-8408-1087EFD8FAD3}"/>
              </a:ext>
            </a:extLst>
          </p:cNvPr>
          <p:cNvSpPr>
            <a:spLocks/>
          </p:cNvSpPr>
          <p:nvPr/>
        </p:nvSpPr>
        <p:spPr>
          <a:xfrm>
            <a:off x="11144250" y="3286125"/>
            <a:ext cx="2333625" cy="2190750"/>
          </a:xfrm>
          <a:prstGeom prst="rect">
            <a:avLst/>
          </a:prstGeom>
          <a:solidFill>
            <a:srgbClr val="F7F7F7"/>
          </a:solidFill>
          <a:ln w="19050">
            <a:solidFill>
              <a:srgbClr val="2657C1"/>
            </a:solidFill>
            <a:prstDash val="solid"/>
          </a:ln>
        </p:spPr>
      </p:sp>
      <p:sp>
        <p:nvSpPr>
          <p:cNvPr id="2012" name="db_caption">
            <a:extLst>
              <a:ext uri="{FF2B5EF4-FFF2-40B4-BE49-F238E27FC236}">
                <a16:creationId xmlns:a16="http://schemas.microsoft.com/office/drawing/2014/main" id="{130B2F58-29EE-4BB4-8912-56847EB71D69}"/>
              </a:ext>
            </a:extLst>
          </p:cNvPr>
          <p:cNvSpPr>
            <a:spLocks/>
          </p:cNvSpPr>
          <p:nvPr/>
        </p:nvSpPr>
        <p:spPr>
          <a:xfrm>
            <a:off x="14097000" y="2562225"/>
            <a:ext cx="1524000"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MARIADB</a:t>
            </a:r>
          </a:p>
        </p:txBody>
      </p:sp>
      <p:sp>
        <p:nvSpPr>
          <p:cNvPr id="2013" name="db_body">
            <a:extLst>
              <a:ext uri="{FF2B5EF4-FFF2-40B4-BE49-F238E27FC236}">
                <a16:creationId xmlns:a16="http://schemas.microsoft.com/office/drawing/2014/main" id="{BAA73994-A50F-4177-ADCE-7F2EEDD5254D}"/>
              </a:ext>
            </a:extLst>
          </p:cNvPr>
          <p:cNvSpPr>
            <a:spLocks/>
          </p:cNvSpPr>
          <p:nvPr/>
        </p:nvSpPr>
        <p:spPr>
          <a:xfrm>
            <a:off x="14097000" y="3476625"/>
            <a:ext cx="1524000" cy="1752600"/>
          </a:xfrm>
          <a:prstGeom prst="can">
            <a:avLst/>
          </a:prstGeom>
          <a:solidFill>
            <a:srgbClr val="F7F7F7"/>
          </a:solidFill>
          <a:ln w="19050">
            <a:solidFill>
              <a:srgbClr val="2657C1"/>
            </a:solidFill>
            <a:prstDash val="solid"/>
          </a:ln>
        </p:spPr>
      </p:sp>
      <p:sp>
        <p:nvSpPr>
          <p:cNvPr id="2014" name="db_text">
            <a:extLst>
              <a:ext uri="{FF2B5EF4-FFF2-40B4-BE49-F238E27FC236}">
                <a16:creationId xmlns:a16="http://schemas.microsoft.com/office/drawing/2014/main" id="{B167F8B5-99AB-4478-9955-8A446CA5C1F7}"/>
              </a:ext>
            </a:extLst>
          </p:cNvPr>
          <p:cNvSpPr>
            <a:spLocks/>
          </p:cNvSpPr>
          <p:nvPr/>
        </p:nvSpPr>
        <p:spPr>
          <a:xfrm>
            <a:off x="14230350" y="3924300"/>
            <a:ext cx="1257300" cy="8382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Base de</a:t>
            </a:r>
          </a:p>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données</a:t>
            </a:r>
          </a:p>
        </p:txBody>
      </p:sp>
      <p:sp>
        <p:nvSpPr>
          <p:cNvPr id="2015" name="http_rail">
            <a:extLst>
              <a:ext uri="{FF2B5EF4-FFF2-40B4-BE49-F238E27FC236}">
                <a16:creationId xmlns:a16="http://schemas.microsoft.com/office/drawing/2014/main" id="{238FA982-7402-458F-8715-CE7D78A94285}"/>
              </a:ext>
            </a:extLst>
          </p:cNvPr>
          <p:cNvSpPr>
            <a:spLocks/>
          </p:cNvSpPr>
          <p:nvPr/>
        </p:nvSpPr>
        <p:spPr>
          <a:xfrm>
            <a:off x="10525125" y="4314825"/>
            <a:ext cx="504825" cy="133350"/>
          </a:xfrm>
          <a:prstGeom prst="rightArrow">
            <a:avLst/>
          </a:prstGeom>
          <a:solidFill>
            <a:srgbClr val="9FB6E5"/>
          </a:solidFill>
          <a:ln w="9525">
            <a:noFill/>
            <a:prstDash val="solid"/>
          </a:ln>
        </p:spPr>
      </p:sp>
      <p:sp>
        <p:nvSpPr>
          <p:cNvPr id="2016" name="php_title">
            <a:extLst>
              <a:ext uri="{FF2B5EF4-FFF2-40B4-BE49-F238E27FC236}">
                <a16:creationId xmlns:a16="http://schemas.microsoft.com/office/drawing/2014/main" id="{75818289-D84E-41FE-8D4D-5684D46F4A67}"/>
              </a:ext>
            </a:extLst>
          </p:cNvPr>
          <p:cNvSpPr>
            <a:spLocks/>
          </p:cNvSpPr>
          <p:nvPr/>
        </p:nvSpPr>
        <p:spPr>
          <a:xfrm>
            <a:off x="11258550" y="3514725"/>
            <a:ext cx="2105025" cy="447675"/>
          </a:xfrm>
          <a:prstGeom prst="rect">
            <a:avLst/>
          </a:prstGeom>
          <a:noFill/>
          <a:ln w="9525">
            <a:noFill/>
            <a:prstDash val="solid"/>
          </a:ln>
        </p:spPr>
        <p:txBody>
          <a:bodyPr wrap="square" lIns="0" tIns="0" rIns="0" bIns="0" anchor="ctr">
            <a:noAutofit/>
          </a:bodyPr>
          <a:lstStyle>
            <a:defPPr algn="ctr">
              <a:defRPr sz="1950">
                <a:solidFill>
                  <a:srgbClr val="2657C1"/>
                </a:solidFill>
                <a:latin typeface="TT Fors Bold"/>
                <a:ea typeface="TT Fors Bold"/>
                <a:cs typeface="TT Fors Bold"/>
              </a:defRPr>
            </a:defPPr>
          </a:lstStyle>
          <a:p>
            <a:pPr algn="ctr">
              <a:defRPr sz="1950">
                <a:solidFill>
                  <a:srgbClr val="2657C1"/>
                </a:solidFill>
                <a:latin typeface="TT Fors Bold"/>
                <a:ea typeface="TT Fors Bold"/>
                <a:cs typeface="TT Fors Bold"/>
              </a:defRPr>
            </a:pPr>
            <a:r>
              <a:rPr sz="1950">
                <a:solidFill>
                  <a:srgbClr val="2657C1"/>
                </a:solidFill>
                <a:latin typeface="TT Fors Bold"/>
                <a:ea typeface="TT Fors Bold"/>
                <a:cs typeface="TT Fors Bold"/>
              </a:rPr>
              <a:t>Concaténation</a:t>
            </a:r>
          </a:p>
        </p:txBody>
      </p:sp>
      <p:sp>
        <p:nvSpPr>
          <p:cNvPr id="2017" name="php_description">
            <a:extLst>
              <a:ext uri="{FF2B5EF4-FFF2-40B4-BE49-F238E27FC236}">
                <a16:creationId xmlns:a16="http://schemas.microsoft.com/office/drawing/2014/main" id="{66611E74-F643-4DDA-BAFD-2BDEA8424DF6}"/>
              </a:ext>
            </a:extLst>
          </p:cNvPr>
          <p:cNvSpPr>
            <a:spLocks/>
          </p:cNvSpPr>
          <p:nvPr/>
        </p:nvSpPr>
        <p:spPr>
          <a:xfrm>
            <a:off x="11258550" y="4086225"/>
            <a:ext cx="2105025" cy="6858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La valeur rejoint</a:t>
            </a:r>
          </a:p>
          <a:p>
            <a:pPr algn="ctr">
              <a:defRPr sz="1875">
                <a:solidFill>
                  <a:srgbClr val="2657C1"/>
                </a:solidFill>
                <a:latin typeface="TT Fors"/>
                <a:ea typeface="TT Fors"/>
                <a:cs typeface="TT Fors"/>
              </a:defRPr>
            </a:pPr>
            <a:r>
              <a:rPr sz="1875">
                <a:solidFill>
                  <a:srgbClr val="2657C1"/>
                </a:solidFill>
                <a:latin typeface="TT Fors"/>
                <a:ea typeface="TT Fors"/>
                <a:cs typeface="TT Fors"/>
              </a:rPr>
              <a:t>le texte SQL.</a:t>
            </a:r>
          </a:p>
        </p:txBody>
      </p:sp>
      <p:sp>
        <p:nvSpPr>
          <p:cNvPr id="2018" name="sql_rail">
            <a:extLst>
              <a:ext uri="{FF2B5EF4-FFF2-40B4-BE49-F238E27FC236}">
                <a16:creationId xmlns:a16="http://schemas.microsoft.com/office/drawing/2014/main" id="{E4D3F7A1-2E09-472C-BF12-BF913DCB736E}"/>
              </a:ext>
            </a:extLst>
          </p:cNvPr>
          <p:cNvSpPr>
            <a:spLocks/>
          </p:cNvSpPr>
          <p:nvPr/>
        </p:nvSpPr>
        <p:spPr>
          <a:xfrm>
            <a:off x="13563600" y="4314825"/>
            <a:ext cx="428625" cy="133350"/>
          </a:xfrm>
          <a:prstGeom prst="rightArrow">
            <a:avLst/>
          </a:prstGeom>
          <a:solidFill>
            <a:srgbClr val="9FB6E5"/>
          </a:solidFill>
          <a:ln w="9525">
            <a:noFill/>
            <a:prstDash val="solid"/>
          </a:ln>
        </p:spPr>
      </p:sp>
      <p:sp>
        <p:nvSpPr>
          <p:cNvPr id="2019" name="anim_payload">
            <a:extLst>
              <a:ext uri="{FF2B5EF4-FFF2-40B4-BE49-F238E27FC236}">
                <a16:creationId xmlns:a16="http://schemas.microsoft.com/office/drawing/2014/main" id="{47FBC934-5A39-41C5-B085-AC05AB5DCFCF}"/>
              </a:ext>
            </a:extLst>
          </p:cNvPr>
          <p:cNvSpPr>
            <a:spLocks/>
          </p:cNvSpPr>
          <p:nvPr/>
        </p:nvSpPr>
        <p:spPr>
          <a:xfrm>
            <a:off x="8496300" y="4533900"/>
            <a:ext cx="1790700" cy="381000"/>
          </a:xfrm>
          <a:prstGeom prst="rect">
            <a:avLst/>
          </a:prstGeom>
          <a:noFill/>
          <a:ln w="9525">
            <a:noFill/>
            <a:prstDash val="solid"/>
          </a:ln>
        </p:spPr>
        <p:txBody>
          <a:bodyPr wrap="square" lIns="0" tIns="0" rIns="0" bIns="0" anchor="ctr">
            <a:noAutofit/>
          </a:bodyPr>
          <a:lstStyle>
            <a:defPPr algn="l">
              <a:defRPr sz="1800">
                <a:solidFill>
                  <a:srgbClr val="C44945"/>
                </a:solidFill>
                <a:latin typeface="TT Fors Bold"/>
                <a:ea typeface="TT Fors Bold"/>
                <a:cs typeface="TT Fors Bold"/>
              </a:defRPr>
            </a:defPPr>
          </a:lstStyle>
          <a:p>
            <a:pPr algn="l">
              <a:defRPr sz="1800">
                <a:solidFill>
                  <a:srgbClr val="C44945"/>
                </a:solidFill>
                <a:latin typeface="TT Fors Bold"/>
                <a:ea typeface="TT Fors Bold"/>
                <a:cs typeface="TT Fors Bold"/>
              </a:defRPr>
            </a:pPr>
            <a:r>
              <a:rPr sz="1800">
                <a:solidFill>
                  <a:srgbClr val="C44945"/>
                </a:solidFill>
                <a:latin typeface="TT Fors Bold"/>
                <a:ea typeface="TT Fors Bold"/>
                <a:cs typeface="TT Fors Bold"/>
              </a:rPr>
              <a:t>' OR 1=1 -- </a:t>
            </a:r>
          </a:p>
        </p:txBody>
      </p:sp>
      <p:sp>
        <p:nvSpPr>
          <p:cNvPr id="2020" name="anim_http">
            <a:extLst>
              <a:ext uri="{FF2B5EF4-FFF2-40B4-BE49-F238E27FC236}">
                <a16:creationId xmlns:a16="http://schemas.microsoft.com/office/drawing/2014/main" id="{C42F19A6-5201-4D9C-8F66-F063501735A6}"/>
              </a:ext>
            </a:extLst>
          </p:cNvPr>
          <p:cNvSpPr>
            <a:spLocks/>
          </p:cNvSpPr>
          <p:nvPr/>
        </p:nvSpPr>
        <p:spPr>
          <a:xfrm>
            <a:off x="10506075" y="4152900"/>
            <a:ext cx="619125" cy="438150"/>
          </a:xfrm>
          <a:prstGeom prst="rect">
            <a:avLst/>
          </a:prstGeom>
          <a:solidFill>
            <a:srgbClr val="F7F7F7"/>
          </a:solidFill>
          <a:ln w="13335">
            <a:solidFill>
              <a:srgbClr val="2657C1"/>
            </a:solidFill>
            <a:prstDash val="solid"/>
          </a:ln>
        </p:spPr>
        <p:txBody>
          <a:bodyPr wrap="square" lIns="28575" tIns="28575" rIns="28575" bIns="28575"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HTTP</a:t>
            </a:r>
          </a:p>
        </p:txBody>
      </p:sp>
      <p:grpSp>
        <p:nvGrpSpPr>
          <p:cNvPr id="9" name="anim_sql">
            <a:extLst>
              <a:ext uri="{FF2B5EF4-FFF2-40B4-BE49-F238E27FC236}">
                <a16:creationId xmlns:a16="http://schemas.microsoft.com/office/drawing/2014/main" id="{D5CD40BF-A12B-A5E7-8EC2-D98875858E42}"/>
              </a:ext>
            </a:extLst>
          </p:cNvPr>
          <p:cNvGrpSpPr/>
          <p:nvPr/>
        </p:nvGrpSpPr>
        <p:grpSpPr>
          <a:xfrm>
            <a:off x="8286750" y="6286500"/>
            <a:ext cx="7620000" cy="1485900"/>
            <a:chOff x="8286750" y="6286500"/>
            <a:chExt cx="7620000" cy="1485900"/>
          </a:xfrm>
        </p:grpSpPr>
        <p:sp>
          <p:nvSpPr>
            <p:cNvPr id="2021" name="sql_code">
              <a:extLst>
                <a:ext uri="{FF2B5EF4-FFF2-40B4-BE49-F238E27FC236}">
                  <a16:creationId xmlns:a16="http://schemas.microsoft.com/office/drawing/2014/main" id="{C7837254-1CBD-4694-B157-C90C75CB8AD8}"/>
                </a:ext>
              </a:extLst>
            </p:cNvPr>
            <p:cNvSpPr>
              <a:spLocks/>
            </p:cNvSpPr>
            <p:nvPr/>
          </p:nvSpPr>
          <p:spPr>
            <a:xfrm>
              <a:off x="8286750" y="6286500"/>
              <a:ext cx="7620000" cy="1381125"/>
            </a:xfrm>
            <a:prstGeom prst="rect">
              <a:avLst/>
            </a:prstGeom>
            <a:noFill/>
            <a:ln w="9525">
              <a:noFill/>
              <a:prstDash val="solid"/>
            </a:ln>
          </p:spPr>
          <p:txBody>
            <a:bodyPr wrap="square" lIns="0" tIns="0" rIns="0" bIns="0" anchor="ctr">
              <a:noAutofit/>
            </a:bodyPr>
            <a:lstStyle>
              <a:defPPr algn="l">
                <a:defRPr sz="1875">
                  <a:solidFill>
                    <a:srgbClr val="C44945"/>
                  </a:solidFill>
                  <a:latin typeface="TT Fors"/>
                  <a:ea typeface="TT Fors"/>
                  <a:cs typeface="TT Fors"/>
                </a:defRPr>
              </a:defPPr>
            </a:lstStyle>
            <a:p>
              <a:pPr algn="l">
                <a:defRPr sz="1875">
                  <a:solidFill>
                    <a:srgbClr val="C44945"/>
                  </a:solidFill>
                  <a:latin typeface="TT Fors"/>
                  <a:ea typeface="TT Fors"/>
                  <a:cs typeface="TT Fors"/>
                </a:defRPr>
              </a:pPr>
              <a:r>
                <a:rPr sz="1875">
                  <a:solidFill>
                    <a:srgbClr val="C44945"/>
                  </a:solidFill>
                  <a:latin typeface="TT Fors"/>
                  <a:ea typeface="TT Fors"/>
                  <a:cs typeface="TT Fors"/>
                </a:rPr>
                <a:t>SELECT id, username</a:t>
              </a:r>
            </a:p>
            <a:p>
              <a:pPr algn="l">
                <a:defRPr sz="1875">
                  <a:solidFill>
                    <a:srgbClr val="C44945"/>
                  </a:solidFill>
                  <a:latin typeface="TT Fors"/>
                  <a:ea typeface="TT Fors"/>
                  <a:cs typeface="TT Fors"/>
                </a:defRPr>
              </a:pPr>
              <a:r>
                <a:rPr sz="1875">
                  <a:solidFill>
                    <a:srgbClr val="C44945"/>
                  </a:solidFill>
                  <a:latin typeface="TT Fors"/>
                  <a:ea typeface="TT Fors"/>
                  <a:cs typeface="TT Fors"/>
                </a:rPr>
                <a:t>FROM users</a:t>
              </a:r>
            </a:p>
            <a:p>
              <a:pPr algn="l">
                <a:defRPr sz="1875">
                  <a:solidFill>
                    <a:srgbClr val="C44945"/>
                  </a:solidFill>
                  <a:latin typeface="TT Fors"/>
                  <a:ea typeface="TT Fors"/>
                  <a:cs typeface="TT Fors"/>
                </a:defRPr>
              </a:pPr>
              <a:r>
                <a:rPr sz="1875">
                  <a:solidFill>
                    <a:srgbClr val="C44945"/>
                  </a:solidFill>
                  <a:latin typeface="TT Fors"/>
                  <a:ea typeface="TT Fors"/>
                  <a:cs typeface="TT Fors"/>
                </a:rPr>
                <a:t>WHERE username = '' OR 1=1 -- ';</a:t>
              </a:r>
            </a:p>
          </p:txBody>
        </p:sp>
        <p:sp>
          <p:nvSpPr>
            <p:cNvPr id="2022" name="sql_rule">
              <a:extLst>
                <a:ext uri="{FF2B5EF4-FFF2-40B4-BE49-F238E27FC236}">
                  <a16:creationId xmlns:a16="http://schemas.microsoft.com/office/drawing/2014/main" id="{7D1DBE7A-44B3-4F4A-90CA-7B554DB309A5}"/>
                </a:ext>
              </a:extLst>
            </p:cNvPr>
            <p:cNvSpPr>
              <a:spLocks/>
            </p:cNvSpPr>
            <p:nvPr/>
          </p:nvSpPr>
          <p:spPr>
            <a:xfrm>
              <a:off x="8286750" y="7772400"/>
              <a:ext cx="7334250" cy="0"/>
            </a:xfrm>
            <a:prstGeom prst="line">
              <a:avLst/>
            </a:prstGeom>
            <a:noFill/>
            <a:ln w="19050">
              <a:solidFill>
                <a:srgbClr val="C44945"/>
              </a:solidFill>
              <a:prstDash val="solid"/>
            </a:ln>
          </p:spPr>
        </p:sp>
      </p:grpSp>
      <p:sp>
        <p:nvSpPr>
          <p:cNvPr id="2023" name="anim_sql_packet">
            <a:extLst>
              <a:ext uri="{FF2B5EF4-FFF2-40B4-BE49-F238E27FC236}">
                <a16:creationId xmlns:a16="http://schemas.microsoft.com/office/drawing/2014/main" id="{0967EEDE-CF1B-4CD2-9BBB-5FB81D4D4A2D}"/>
              </a:ext>
            </a:extLst>
          </p:cNvPr>
          <p:cNvSpPr>
            <a:spLocks/>
          </p:cNvSpPr>
          <p:nvPr/>
        </p:nvSpPr>
        <p:spPr>
          <a:xfrm>
            <a:off x="13506450" y="4152900"/>
            <a:ext cx="619125" cy="438150"/>
          </a:xfrm>
          <a:prstGeom prst="rect">
            <a:avLst/>
          </a:prstGeom>
          <a:solidFill>
            <a:srgbClr val="F7F7F7"/>
          </a:solidFill>
          <a:ln w="13335">
            <a:solidFill>
              <a:srgbClr val="2657C1"/>
            </a:solidFill>
            <a:prstDash val="solid"/>
          </a:ln>
        </p:spPr>
        <p:txBody>
          <a:bodyPr wrap="square" lIns="28575" tIns="28575" rIns="28575" bIns="28575"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SQL</a:t>
            </a:r>
          </a:p>
        </p:txBody>
      </p:sp>
      <p:sp>
        <p:nvSpPr>
          <p:cNvPr id="2024" name="anim_db_result">
            <a:extLst>
              <a:ext uri="{FF2B5EF4-FFF2-40B4-BE49-F238E27FC236}">
                <a16:creationId xmlns:a16="http://schemas.microsoft.com/office/drawing/2014/main" id="{15A9F139-D2A6-4C61-940D-FE2518E25E23}"/>
              </a:ext>
            </a:extLst>
          </p:cNvPr>
          <p:cNvSpPr>
            <a:spLocks/>
          </p:cNvSpPr>
          <p:nvPr/>
        </p:nvSpPr>
        <p:spPr>
          <a:xfrm>
            <a:off x="13849350" y="5724525"/>
            <a:ext cx="2381250" cy="419100"/>
          </a:xfrm>
          <a:prstGeom prst="rect">
            <a:avLst/>
          </a:prstGeom>
          <a:noFill/>
          <a:ln w="9525">
            <a:noFill/>
            <a:prstDash val="solid"/>
          </a:ln>
        </p:spPr>
        <p:txBody>
          <a:bodyPr wrap="square" lIns="0" tIns="0" rIns="0" bIns="0" anchor="ctr">
            <a:noAutofit/>
          </a:bodyPr>
          <a:lstStyle>
            <a:defPPr algn="ctr">
              <a:defRPr sz="1875">
                <a:solidFill>
                  <a:srgbClr val="C44945"/>
                </a:solidFill>
                <a:latin typeface="TT Fors Bold"/>
                <a:ea typeface="TT Fors Bold"/>
                <a:cs typeface="TT Fors Bold"/>
              </a:defRPr>
            </a:defPPr>
          </a:lstStyle>
          <a:p>
            <a:pPr algn="ctr">
              <a:defRPr sz="1875">
                <a:solidFill>
                  <a:srgbClr val="C44945"/>
                </a:solidFill>
                <a:latin typeface="TT Fors Bold"/>
                <a:ea typeface="TT Fors Bold"/>
                <a:cs typeface="TT Fors Bold"/>
              </a:defRPr>
            </a:pPr>
            <a:r>
              <a:rPr sz="1875">
                <a:solidFill>
                  <a:srgbClr val="C44945"/>
                </a:solidFill>
                <a:latin typeface="TT Fors Bold"/>
                <a:ea typeface="TT Fors Bold"/>
                <a:cs typeface="TT Fors Bold"/>
              </a:rPr>
              <a:t>Condition altérée</a:t>
            </a:r>
          </a:p>
        </p:txBody>
      </p:sp>
      <p:sp>
        <p:nvSpPr>
          <p:cNvPr id="2025" name="result_rail">
            <a:extLst>
              <a:ext uri="{FF2B5EF4-FFF2-40B4-BE49-F238E27FC236}">
                <a16:creationId xmlns:a16="http://schemas.microsoft.com/office/drawing/2014/main" id="{F7EA45E6-6B57-4891-986B-9192A72920CB}"/>
              </a:ext>
            </a:extLst>
          </p:cNvPr>
          <p:cNvSpPr>
            <a:spLocks/>
          </p:cNvSpPr>
          <p:nvPr/>
        </p:nvSpPr>
        <p:spPr>
          <a:xfrm>
            <a:off x="9334500" y="8343900"/>
            <a:ext cx="5715000" cy="0"/>
          </a:xfrm>
          <a:prstGeom prst="line">
            <a:avLst/>
          </a:prstGeom>
          <a:noFill/>
          <a:ln w="19050">
            <a:solidFill>
              <a:srgbClr val="9FB6E5"/>
            </a:solidFill>
            <a:prstDash val="solid"/>
          </a:ln>
        </p:spPr>
      </p:sp>
      <p:sp>
        <p:nvSpPr>
          <p:cNvPr id="2026" name="anim_return">
            <a:extLst>
              <a:ext uri="{FF2B5EF4-FFF2-40B4-BE49-F238E27FC236}">
                <a16:creationId xmlns:a16="http://schemas.microsoft.com/office/drawing/2014/main" id="{CDF87FDC-FE16-46A6-A628-978F951781E7}"/>
              </a:ext>
            </a:extLst>
          </p:cNvPr>
          <p:cNvSpPr>
            <a:spLocks/>
          </p:cNvSpPr>
          <p:nvPr/>
        </p:nvSpPr>
        <p:spPr>
          <a:xfrm>
            <a:off x="14192250" y="8115300"/>
            <a:ext cx="1381125" cy="438150"/>
          </a:xfrm>
          <a:prstGeom prst="rect">
            <a:avLst/>
          </a:prstGeom>
          <a:solidFill>
            <a:srgbClr val="F7F7F7"/>
          </a:solidFill>
          <a:ln w="13335">
            <a:solidFill>
              <a:srgbClr val="2657C1"/>
            </a:solidFill>
            <a:prstDash val="solid"/>
          </a:ln>
        </p:spPr>
        <p:txBody>
          <a:bodyPr wrap="square" lIns="28575" tIns="28575" rIns="28575" bIns="28575"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Résultats</a:t>
            </a:r>
          </a:p>
        </p:txBody>
      </p:sp>
      <p:sp>
        <p:nvSpPr>
          <p:cNvPr id="2027" name="anim_conclusion">
            <a:extLst>
              <a:ext uri="{FF2B5EF4-FFF2-40B4-BE49-F238E27FC236}">
                <a16:creationId xmlns:a16="http://schemas.microsoft.com/office/drawing/2014/main" id="{CEB7068B-C092-4EDB-BF55-E21C56346E92}"/>
              </a:ext>
            </a:extLst>
          </p:cNvPr>
          <p:cNvSpPr>
            <a:spLocks/>
          </p:cNvSpPr>
          <p:nvPr/>
        </p:nvSpPr>
        <p:spPr>
          <a:xfrm>
            <a:off x="8286750" y="8848725"/>
            <a:ext cx="7762875" cy="523875"/>
          </a:xfrm>
          <a:prstGeom prst="rect">
            <a:avLst/>
          </a:prstGeom>
          <a:noFill/>
          <a:ln w="9525">
            <a:noFill/>
            <a:prstDash val="solid"/>
          </a:ln>
        </p:spPr>
        <p:txBody>
          <a:bodyPr wrap="square" lIns="0" tIns="0" rIns="0" bIns="0" anchor="ctr">
            <a:noAutofit/>
          </a:bodyPr>
          <a:lstStyle>
            <a:defPPr algn="l">
              <a:defRPr sz="2175">
                <a:solidFill>
                  <a:srgbClr val="C44945"/>
                </a:solidFill>
                <a:latin typeface="TT Fors Bold"/>
                <a:ea typeface="TT Fors Bold"/>
                <a:cs typeface="TT Fors Bold"/>
              </a:defRPr>
            </a:defPPr>
          </a:lstStyle>
          <a:p>
            <a:pPr algn="l">
              <a:defRPr sz="2175">
                <a:solidFill>
                  <a:srgbClr val="C44945"/>
                </a:solidFill>
                <a:latin typeface="TT Fors Bold"/>
                <a:ea typeface="TT Fors Bold"/>
                <a:cs typeface="TT Fors Bold"/>
              </a:defRPr>
            </a:pPr>
            <a:r>
              <a:rPr sz="2175">
                <a:solidFill>
                  <a:srgbClr val="C44945"/>
                </a:solidFill>
                <a:latin typeface="TT Fors Bold"/>
                <a:ea typeface="TT Fors Bold"/>
                <a:cs typeface="TT Fors Bold"/>
              </a:rPr>
              <a:t>Le SQL exécuté a été modifié.</a:t>
            </a:r>
          </a:p>
        </p:txBody>
      </p:sp>
      <p:sp>
        <p:nvSpPr>
          <p:cNvPr id="2028" name="anim_phase_1">
            <a:extLst>
              <a:ext uri="{FF2B5EF4-FFF2-40B4-BE49-F238E27FC236}">
                <a16:creationId xmlns:a16="http://schemas.microsoft.com/office/drawing/2014/main" id="{60AC7115-B215-4489-B6CA-83803FBE6080}"/>
              </a:ext>
            </a:extLst>
          </p:cNvPr>
          <p:cNvSpPr>
            <a:spLocks/>
          </p:cNvSpPr>
          <p:nvPr/>
        </p:nvSpPr>
        <p:spPr>
          <a:xfrm>
            <a:off x="1028700" y="649605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01   Saisie</a:t>
            </a:r>
          </a:p>
        </p:txBody>
      </p:sp>
      <p:sp>
        <p:nvSpPr>
          <p:cNvPr id="2029" name="anim_phase_2">
            <a:extLst>
              <a:ext uri="{FF2B5EF4-FFF2-40B4-BE49-F238E27FC236}">
                <a16:creationId xmlns:a16="http://schemas.microsoft.com/office/drawing/2014/main" id="{2F545968-9B88-4FED-8EA4-5BDC9207B3D9}"/>
              </a:ext>
            </a:extLst>
          </p:cNvPr>
          <p:cNvSpPr>
            <a:spLocks/>
          </p:cNvSpPr>
          <p:nvPr/>
        </p:nvSpPr>
        <p:spPr>
          <a:xfrm>
            <a:off x="1028700" y="704850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02   Construction du SQL</a:t>
            </a:r>
          </a:p>
        </p:txBody>
      </p:sp>
      <p:sp>
        <p:nvSpPr>
          <p:cNvPr id="2030" name="anim_phase_3">
            <a:extLst>
              <a:ext uri="{FF2B5EF4-FFF2-40B4-BE49-F238E27FC236}">
                <a16:creationId xmlns:a16="http://schemas.microsoft.com/office/drawing/2014/main" id="{845BE0FD-9ECA-48D4-AEC1-5A60281AD090}"/>
              </a:ext>
            </a:extLst>
          </p:cNvPr>
          <p:cNvSpPr>
            <a:spLocks/>
          </p:cNvSpPr>
          <p:nvPr/>
        </p:nvSpPr>
        <p:spPr>
          <a:xfrm>
            <a:off x="1028700" y="760095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03   Exécution</a:t>
            </a:r>
          </a:p>
        </p:txBody>
      </p:sp>
      <p:sp>
        <p:nvSpPr>
          <p:cNvPr id="2031" name="anim_phase_4">
            <a:extLst>
              <a:ext uri="{FF2B5EF4-FFF2-40B4-BE49-F238E27FC236}">
                <a16:creationId xmlns:a16="http://schemas.microsoft.com/office/drawing/2014/main" id="{6548F38F-8FA4-4365-B1B2-87DD87A14326}"/>
              </a:ext>
            </a:extLst>
          </p:cNvPr>
          <p:cNvSpPr>
            <a:spLocks/>
          </p:cNvSpPr>
          <p:nvPr/>
        </p:nvSpPr>
        <p:spPr>
          <a:xfrm>
            <a:off x="1028700" y="815340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04   Résultats</a:t>
            </a:r>
          </a:p>
        </p:txBody>
      </p:sp>
    </p:spTree>
  </p:cSld>
  <p:clrMapOvr>
    <a:masterClrMapping/>
  </p:clrMapOvr>
  <mc:AlternateContent xmlns:mc="http://schemas.openxmlformats.org/markup-compatibility/2006">
    <mc:Choice xmlns:p14="http://schemas.microsoft.com/office/powerpoint/2010/main" Requires="p14">
      <p:transition p14:dur="40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par>
                                <p:cTn id="8" presetID="0" presetClass="entr" presetSubtype="0" accel="22000" decel="25000" fill="hold" grpId="1" nodeType="withEffect">
                                  <p:stCondLst>
                                    <p:cond delay="0"/>
                                  </p:stCondLst>
                                  <p:childTnLst>
                                    <p:set>
                                      <p:cBhvr>
                                        <p:cTn id="9" dur="1" fill="hold">
                                          <p:stCondLst>
                                            <p:cond delay="449"/>
                                          </p:stCondLst>
                                        </p:cTn>
                                        <p:tgtEl>
                                          <p:spTgt spid="12"/>
                                        </p:tgtEl>
                                        <p:attrNameLst>
                                          <p:attrName>style.visibility</p:attrName>
                                        </p:attrNameLst>
                                      </p:cBhvr>
                                      <p:to>
                                        <p:strVal val="visible"/>
                                      </p:to>
                                    </p:set>
                                    <p:animMotion origin="layout" path="M 0 0.01111111 L 0 0 E" pathEditMode="relative">
                                      <p:cBhvr from="" to="">
                                        <p:cTn id="10" dur="450" fill="hold">
                                          <p:stCondLst>
                                            <p:cond delay="0"/>
                                          </p:stCondLst>
                                        </p:cTn>
                                        <p:tgtEl>
                                          <p:spTgt spid="12"/>
                                        </p:tgtEl>
                                        <p:attrNameLst>
                                          <p:attrName>ppt_x</p:attrName>
                                          <p:attrName>ppt_y</p:attrName>
                                        </p:attrNameLst>
                                      </p:cBhvr>
                                    </p:animMotion>
                                  </p:childTnLst>
                                </p:cTn>
                              </p:par>
                            </p:childTnLst>
                          </p:cTn>
                        </p:par>
                        <p:par>
                          <p:cTn id="11"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2001"/>
                                        </p:tgtEl>
                                        <p:attrNameLst>
                                          <p:attrName>style.visibility</p:attrName>
                                        </p:attrNameLst>
                                      </p:cBhvr>
                                      <p:to>
                                        <p:strVal val="visible"/>
                                      </p:to>
                                    </p:set>
                                    <p:animEffect transition="in" filter="fade">
                                      <p:cBhvr>
                                        <p:cTn id="14" dur="320"/>
                                        <p:tgtEl>
                                          <p:spTgt spid="200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iterate type="lt">
                                    <p:tmPct val="10000"/>
                                  </p:iterate>
                                  <p:childTnLst>
                                    <p:set>
                                      <p:cBhvr>
                                        <p:cTn id="18" dur="1" fill="hold">
                                          <p:stCondLst>
                                            <p:cond delay="0"/>
                                          </p:stCondLst>
                                        </p:cTn>
                                        <p:tgtEl>
                                          <p:spTgt spid="2019"/>
                                        </p:tgtEl>
                                        <p:attrNameLst>
                                          <p:attrName>style.visibility</p:attrName>
                                        </p:attrNameLst>
                                      </p:cBhvr>
                                      <p:to>
                                        <p:strVal val="visible"/>
                                      </p:to>
                                    </p:set>
                                    <p:animEffect transition="in" filter="fade">
                                      <p:cBhvr>
                                        <p:cTn id="19" dur="500"/>
                                        <p:tgtEl>
                                          <p:spTgt spid="20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28"/>
                                        </p:tgtEl>
                                        <p:attrNameLst>
                                          <p:attrName>style.visibility</p:attrName>
                                        </p:attrNameLst>
                                      </p:cBhvr>
                                      <p:to>
                                        <p:strVal val="visible"/>
                                      </p:to>
                                    </p:set>
                                    <p:animEffect transition="in" filter="fade">
                                      <p:cBhvr>
                                        <p:cTn id="22" dur="350"/>
                                        <p:tgtEl>
                                          <p:spTgt spid="2028"/>
                                        </p:tgtEl>
                                      </p:cBhvr>
                                    </p:animEffect>
                                  </p:childTnLst>
                                </p:cTn>
                              </p:par>
                              <p:par>
                                <p:cTn id="23" presetID="0" presetClass="entr" presetSubtype="0" accel="22000" decel="25000" fill="hold" grpId="1" nodeType="withEffect">
                                  <p:stCondLst>
                                    <p:cond delay="0"/>
                                  </p:stCondLst>
                                  <p:childTnLst>
                                    <p:set>
                                      <p:cBhvr>
                                        <p:cTn id="24" dur="1" fill="hold">
                                          <p:stCondLst>
                                            <p:cond delay="449"/>
                                          </p:stCondLst>
                                        </p:cTn>
                                        <p:tgtEl>
                                          <p:spTgt spid="2028"/>
                                        </p:tgtEl>
                                        <p:attrNameLst>
                                          <p:attrName>style.visibility</p:attrName>
                                        </p:attrNameLst>
                                      </p:cBhvr>
                                      <p:to>
                                        <p:strVal val="visible"/>
                                      </p:to>
                                    </p:set>
                                    <p:animMotion origin="layout" path="M 0 0.01111111 L 0 0 E" pathEditMode="relative">
                                      <p:cBhvr from="" to="">
                                        <p:cTn id="25" dur="450" fill="hold">
                                          <p:stCondLst>
                                            <p:cond delay="0"/>
                                          </p:stCondLst>
                                        </p:cTn>
                                        <p:tgtEl>
                                          <p:spTgt spid="2028"/>
                                        </p:tgtEl>
                                        <p:attrNameLst>
                                          <p:attrName>ppt_x</p:attrName>
                                          <p:attrName>ppt_y</p:attrName>
                                        </p:attrNameLst>
                                      </p:cBhvr>
                                    </p:animMotion>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20"/>
                                        </p:tgtEl>
                                        <p:attrNameLst>
                                          <p:attrName>style.visibility</p:attrName>
                                        </p:attrNameLst>
                                      </p:cBhvr>
                                      <p:to>
                                        <p:strVal val="visible"/>
                                      </p:to>
                                    </p:set>
                                    <p:animEffect transition="in" filter="fade">
                                      <p:cBhvr>
                                        <p:cTn id="30" dur="320"/>
                                        <p:tgtEl>
                                          <p:spTgt spid="2020"/>
                                        </p:tgtEl>
                                      </p:cBhvr>
                                    </p:animEffect>
                                  </p:childTnLst>
                                </p:cTn>
                              </p:par>
                            </p:childTnLst>
                          </p:cTn>
                        </p:par>
                        <p:par>
                          <p:cTn id="31" fill="hold">
                            <p:stCondLst>
                              <p:cond delay="320"/>
                            </p:stCondLst>
                            <p:childTnLst>
                              <p:par>
                                <p:cTn id="32" presetID="0" presetClass="entr" presetSubtype="0" accel="22000" decel="25000" fill="hold" grpId="1" nodeType="afterEffect">
                                  <p:stCondLst>
                                    <p:cond delay="0"/>
                                  </p:stCondLst>
                                  <p:childTnLst>
                                    <p:set>
                                      <p:cBhvr>
                                        <p:cTn id="33" dur="1" fill="hold">
                                          <p:stCondLst>
                                            <p:cond delay="649"/>
                                          </p:stCondLst>
                                        </p:cTn>
                                        <p:tgtEl>
                                          <p:spTgt spid="2020"/>
                                        </p:tgtEl>
                                        <p:attrNameLst>
                                          <p:attrName>style.visibility</p:attrName>
                                        </p:attrNameLst>
                                      </p:cBhvr>
                                      <p:to>
                                        <p:strVal val="visible"/>
                                      </p:to>
                                    </p:set>
                                    <p:animMotion origin="layout" path="M 0 0 L 0.03020833 0 E" pathEditMode="relative">
                                      <p:cBhvr from="" to="">
                                        <p:cTn id="34" dur="650" fill="hold">
                                          <p:stCondLst>
                                            <p:cond delay="0"/>
                                          </p:stCondLst>
                                        </p:cTn>
                                        <p:tgtEl>
                                          <p:spTgt spid="2020"/>
                                        </p:tgtEl>
                                        <p:attrNameLst>
                                          <p:attrName>ppt_x</p:attrName>
                                          <p:attrName>ppt_y</p:attrName>
                                        </p:attrNameLst>
                                      </p:cBhvr>
                                    </p:animMotion>
                                  </p:childTnLst>
                                </p:cTn>
                              </p:par>
                            </p:childTnLst>
                          </p:cTn>
                        </p:par>
                        <p:par>
                          <p:cTn id="35" fill="hold">
                            <p:stCondLst>
                              <p:cond delay="970"/>
                            </p:stCondLst>
                            <p:childTnLst>
                              <p:par>
                                <p:cTn id="36" presetID="10" presetClass="exit" presetSubtype="0" fill="hold" grpId="2" nodeType="afterEffect">
                                  <p:stCondLst>
                                    <p:cond delay="0"/>
                                  </p:stCondLst>
                                  <p:childTnLst>
                                    <p:animEffect transition="out" filter="fade">
                                      <p:cBhvr>
                                        <p:cTn id="37" dur="500"/>
                                        <p:tgtEl>
                                          <p:spTgt spid="2020"/>
                                        </p:tgtEl>
                                      </p:cBhvr>
                                    </p:animEffect>
                                    <p:set>
                                      <p:cBhvr>
                                        <p:cTn id="38" dur="1" fill="hold">
                                          <p:stCondLst>
                                            <p:cond delay="499"/>
                                          </p:stCondLst>
                                        </p:cTn>
                                        <p:tgtEl>
                                          <p:spTgt spid="2020"/>
                                        </p:tgtEl>
                                        <p:attrNameLst>
                                          <p:attrName>style.visibility</p:attrName>
                                        </p:attrNameLst>
                                      </p:cBhvr>
                                      <p:to>
                                        <p:strVal val="hidden"/>
                                      </p:to>
                                    </p:set>
                                  </p:childTnLst>
                                </p:cTn>
                              </p:par>
                            </p:childTnLst>
                          </p:cTn>
                        </p:par>
                        <p:par>
                          <p:cTn id="39" fill="hold">
                            <p:stCondLst>
                              <p:cond delay="1470"/>
                            </p:stCondLst>
                            <p:childTnLst>
                              <p:par>
                                <p:cTn id="40" presetID="22" presetClass="entr" presetSubtype="8" fill="hold"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29"/>
                                        </p:tgtEl>
                                        <p:attrNameLst>
                                          <p:attrName>style.visibility</p:attrName>
                                        </p:attrNameLst>
                                      </p:cBhvr>
                                      <p:to>
                                        <p:strVal val="visible"/>
                                      </p:to>
                                    </p:set>
                                    <p:animEffect transition="in" filter="fade">
                                      <p:cBhvr>
                                        <p:cTn id="45" dur="350"/>
                                        <p:tgtEl>
                                          <p:spTgt spid="2029"/>
                                        </p:tgtEl>
                                      </p:cBhvr>
                                    </p:animEffect>
                                  </p:childTnLst>
                                </p:cTn>
                              </p:par>
                              <p:par>
                                <p:cTn id="46" presetID="0" presetClass="entr" presetSubtype="0" accel="22000" decel="25000" fill="hold" grpId="1" nodeType="withEffect">
                                  <p:stCondLst>
                                    <p:cond delay="0"/>
                                  </p:stCondLst>
                                  <p:childTnLst>
                                    <p:set>
                                      <p:cBhvr>
                                        <p:cTn id="47" dur="1" fill="hold">
                                          <p:stCondLst>
                                            <p:cond delay="449"/>
                                          </p:stCondLst>
                                        </p:cTn>
                                        <p:tgtEl>
                                          <p:spTgt spid="2029"/>
                                        </p:tgtEl>
                                        <p:attrNameLst>
                                          <p:attrName>style.visibility</p:attrName>
                                        </p:attrNameLst>
                                      </p:cBhvr>
                                      <p:to>
                                        <p:strVal val="visible"/>
                                      </p:to>
                                    </p:set>
                                    <p:animMotion origin="layout" path="M 0 0.01111111 L 0 0 E" pathEditMode="relative">
                                      <p:cBhvr from="" to="">
                                        <p:cTn id="48" dur="450" fill="hold">
                                          <p:stCondLst>
                                            <p:cond delay="0"/>
                                          </p:stCondLst>
                                        </p:cTn>
                                        <p:tgtEl>
                                          <p:spTgt spid="2029"/>
                                        </p:tgtEl>
                                        <p:attrNameLst>
                                          <p:attrName>ppt_x</p:attrName>
                                          <p:attrName>ppt_y</p:attrName>
                                        </p:attrNameLst>
                                      </p:cBhvr>
                                    </p:animMotion>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23"/>
                                        </p:tgtEl>
                                        <p:attrNameLst>
                                          <p:attrName>style.visibility</p:attrName>
                                        </p:attrNameLst>
                                      </p:cBhvr>
                                      <p:to>
                                        <p:strVal val="visible"/>
                                      </p:to>
                                    </p:set>
                                    <p:animEffect transition="in" filter="fade">
                                      <p:cBhvr>
                                        <p:cTn id="53" dur="320"/>
                                        <p:tgtEl>
                                          <p:spTgt spid="2023"/>
                                        </p:tgtEl>
                                      </p:cBhvr>
                                    </p:animEffect>
                                  </p:childTnLst>
                                </p:cTn>
                              </p:par>
                            </p:childTnLst>
                          </p:cTn>
                        </p:par>
                        <p:par>
                          <p:cTn id="54" fill="hold">
                            <p:stCondLst>
                              <p:cond delay="320"/>
                            </p:stCondLst>
                            <p:childTnLst>
                              <p:par>
                                <p:cTn id="55" presetID="0" presetClass="entr" presetSubtype="0" accel="22000" decel="25000" fill="hold" grpId="1" nodeType="afterEffect">
                                  <p:stCondLst>
                                    <p:cond delay="0"/>
                                  </p:stCondLst>
                                  <p:childTnLst>
                                    <p:set>
                                      <p:cBhvr>
                                        <p:cTn id="56" dur="1" fill="hold">
                                          <p:stCondLst>
                                            <p:cond delay="649"/>
                                          </p:stCondLst>
                                        </p:cTn>
                                        <p:tgtEl>
                                          <p:spTgt spid="2023"/>
                                        </p:tgtEl>
                                        <p:attrNameLst>
                                          <p:attrName>style.visibility</p:attrName>
                                        </p:attrNameLst>
                                      </p:cBhvr>
                                      <p:to>
                                        <p:strVal val="visible"/>
                                      </p:to>
                                    </p:set>
                                    <p:animMotion origin="layout" path="M 0 0 L 0.03020833 0 E" pathEditMode="relative">
                                      <p:cBhvr from="" to="">
                                        <p:cTn id="57" dur="650" fill="hold">
                                          <p:stCondLst>
                                            <p:cond delay="0"/>
                                          </p:stCondLst>
                                        </p:cTn>
                                        <p:tgtEl>
                                          <p:spTgt spid="2023"/>
                                        </p:tgtEl>
                                        <p:attrNameLst>
                                          <p:attrName>ppt_x</p:attrName>
                                          <p:attrName>ppt_y</p:attrName>
                                        </p:attrNameLst>
                                      </p:cBhvr>
                                    </p:animMotion>
                                  </p:childTnLst>
                                </p:cTn>
                              </p:par>
                            </p:childTnLst>
                          </p:cTn>
                        </p:par>
                        <p:par>
                          <p:cTn id="58" fill="hold">
                            <p:stCondLst>
                              <p:cond delay="970"/>
                            </p:stCondLst>
                            <p:childTnLst>
                              <p:par>
                                <p:cTn id="59" presetID="10" presetClass="exit" presetSubtype="0" fill="hold" grpId="2" nodeType="afterEffect">
                                  <p:stCondLst>
                                    <p:cond delay="0"/>
                                  </p:stCondLst>
                                  <p:childTnLst>
                                    <p:animEffect transition="out" filter="fade">
                                      <p:cBhvr>
                                        <p:cTn id="60" dur="500"/>
                                        <p:tgtEl>
                                          <p:spTgt spid="2023"/>
                                        </p:tgtEl>
                                      </p:cBhvr>
                                    </p:animEffect>
                                    <p:set>
                                      <p:cBhvr>
                                        <p:cTn id="61" dur="1" fill="hold">
                                          <p:stCondLst>
                                            <p:cond delay="499"/>
                                          </p:stCondLst>
                                        </p:cTn>
                                        <p:tgtEl>
                                          <p:spTgt spid="2023"/>
                                        </p:tgtEl>
                                        <p:attrNameLst>
                                          <p:attrName>style.visibility</p:attrName>
                                        </p:attrNameLst>
                                      </p:cBhvr>
                                      <p:to>
                                        <p:strVal val="hidden"/>
                                      </p:to>
                                    </p:set>
                                  </p:childTnLst>
                                </p:cTn>
                              </p:par>
                            </p:childTnLst>
                          </p:cTn>
                        </p:par>
                        <p:par>
                          <p:cTn id="62" fill="hold">
                            <p:stCondLst>
                              <p:cond delay="1470"/>
                            </p:stCondLst>
                            <p:childTnLst>
                              <p:par>
                                <p:cTn id="63" presetID="10" presetClass="entr" presetSubtype="0" fill="hold" grpId="0" nodeType="afterEffect">
                                  <p:stCondLst>
                                    <p:cond delay="0"/>
                                  </p:stCondLst>
                                  <p:childTnLst>
                                    <p:set>
                                      <p:cBhvr>
                                        <p:cTn id="64" dur="1" fill="hold">
                                          <p:stCondLst>
                                            <p:cond delay="0"/>
                                          </p:stCondLst>
                                        </p:cTn>
                                        <p:tgtEl>
                                          <p:spTgt spid="2024"/>
                                        </p:tgtEl>
                                        <p:attrNameLst>
                                          <p:attrName>style.visibility</p:attrName>
                                        </p:attrNameLst>
                                      </p:cBhvr>
                                      <p:to>
                                        <p:strVal val="visible"/>
                                      </p:to>
                                    </p:set>
                                    <p:animEffect transition="in" filter="fade">
                                      <p:cBhvr>
                                        <p:cTn id="65" dur="350"/>
                                        <p:tgtEl>
                                          <p:spTgt spid="2024"/>
                                        </p:tgtEl>
                                      </p:cBhvr>
                                    </p:animEffect>
                                  </p:childTnLst>
                                </p:cTn>
                              </p:par>
                              <p:par>
                                <p:cTn id="66" presetID="0" presetClass="entr" presetSubtype="0" accel="22000" decel="25000" fill="hold" grpId="1" nodeType="withEffect">
                                  <p:stCondLst>
                                    <p:cond delay="0"/>
                                  </p:stCondLst>
                                  <p:childTnLst>
                                    <p:set>
                                      <p:cBhvr>
                                        <p:cTn id="67" dur="1" fill="hold">
                                          <p:stCondLst>
                                            <p:cond delay="449"/>
                                          </p:stCondLst>
                                        </p:cTn>
                                        <p:tgtEl>
                                          <p:spTgt spid="2024"/>
                                        </p:tgtEl>
                                        <p:attrNameLst>
                                          <p:attrName>style.visibility</p:attrName>
                                        </p:attrNameLst>
                                      </p:cBhvr>
                                      <p:to>
                                        <p:strVal val="visible"/>
                                      </p:to>
                                    </p:set>
                                    <p:animMotion origin="layout" path="M 0 0.01111111 L 0 0 E" pathEditMode="relative">
                                      <p:cBhvr from="" to="">
                                        <p:cTn id="68" dur="450" fill="hold">
                                          <p:stCondLst>
                                            <p:cond delay="0"/>
                                          </p:stCondLst>
                                        </p:cTn>
                                        <p:tgtEl>
                                          <p:spTgt spid="2024"/>
                                        </p:tgtEl>
                                        <p:attrNameLst>
                                          <p:attrName>ppt_x</p:attrName>
                                          <p:attrName>ppt_y</p:attrName>
                                        </p:attrNameLst>
                                      </p:cBhvr>
                                    </p:animMotion>
                                  </p:childTnLst>
                                </p:cTn>
                              </p:par>
                              <p:par>
                                <p:cTn id="69" presetID="10" presetClass="entr" presetSubtype="0" fill="hold" grpId="0" nodeType="withEffect">
                                  <p:stCondLst>
                                    <p:cond delay="0"/>
                                  </p:stCondLst>
                                  <p:childTnLst>
                                    <p:set>
                                      <p:cBhvr>
                                        <p:cTn id="70" dur="1" fill="hold">
                                          <p:stCondLst>
                                            <p:cond delay="0"/>
                                          </p:stCondLst>
                                        </p:cTn>
                                        <p:tgtEl>
                                          <p:spTgt spid="2030"/>
                                        </p:tgtEl>
                                        <p:attrNameLst>
                                          <p:attrName>style.visibility</p:attrName>
                                        </p:attrNameLst>
                                      </p:cBhvr>
                                      <p:to>
                                        <p:strVal val="visible"/>
                                      </p:to>
                                    </p:set>
                                    <p:animEffect transition="in" filter="fade">
                                      <p:cBhvr>
                                        <p:cTn id="71" dur="350"/>
                                        <p:tgtEl>
                                          <p:spTgt spid="2030"/>
                                        </p:tgtEl>
                                      </p:cBhvr>
                                    </p:animEffect>
                                  </p:childTnLst>
                                </p:cTn>
                              </p:par>
                              <p:par>
                                <p:cTn id="72" presetID="0" presetClass="entr" presetSubtype="0" accel="22000" decel="25000" fill="hold" grpId="1" nodeType="withEffect">
                                  <p:stCondLst>
                                    <p:cond delay="0"/>
                                  </p:stCondLst>
                                  <p:childTnLst>
                                    <p:set>
                                      <p:cBhvr>
                                        <p:cTn id="73" dur="1" fill="hold">
                                          <p:stCondLst>
                                            <p:cond delay="449"/>
                                          </p:stCondLst>
                                        </p:cTn>
                                        <p:tgtEl>
                                          <p:spTgt spid="2030"/>
                                        </p:tgtEl>
                                        <p:attrNameLst>
                                          <p:attrName>style.visibility</p:attrName>
                                        </p:attrNameLst>
                                      </p:cBhvr>
                                      <p:to>
                                        <p:strVal val="visible"/>
                                      </p:to>
                                    </p:set>
                                    <p:animMotion origin="layout" path="M 0 0.01111111 L 0 0 E" pathEditMode="relative">
                                      <p:cBhvr from="" to="">
                                        <p:cTn id="74" dur="450" fill="hold">
                                          <p:stCondLst>
                                            <p:cond delay="0"/>
                                          </p:stCondLst>
                                        </p:cTn>
                                        <p:tgtEl>
                                          <p:spTgt spid="2030"/>
                                        </p:tgtEl>
                                        <p:attrNameLst>
                                          <p:attrName>ppt_x</p:attrName>
                                          <p:attrName>ppt_y</p:attrName>
                                        </p:attrNameLst>
                                      </p:cBhvr>
                                    </p:animMotion>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026"/>
                                        </p:tgtEl>
                                        <p:attrNameLst>
                                          <p:attrName>style.visibility</p:attrName>
                                        </p:attrNameLst>
                                      </p:cBhvr>
                                      <p:to>
                                        <p:strVal val="visible"/>
                                      </p:to>
                                    </p:set>
                                    <p:animEffect transition="in" filter="fade">
                                      <p:cBhvr>
                                        <p:cTn id="79" dur="320"/>
                                        <p:tgtEl>
                                          <p:spTgt spid="2026"/>
                                        </p:tgtEl>
                                      </p:cBhvr>
                                    </p:animEffect>
                                  </p:childTnLst>
                                </p:cTn>
                              </p:par>
                            </p:childTnLst>
                          </p:cTn>
                        </p:par>
                        <p:par>
                          <p:cTn id="80" fill="hold">
                            <p:stCondLst>
                              <p:cond delay="320"/>
                            </p:stCondLst>
                            <p:childTnLst>
                              <p:par>
                                <p:cTn id="81" presetID="0" presetClass="entr" presetSubtype="0" accel="22000" decel="25000" fill="hold" grpId="1" nodeType="afterEffect">
                                  <p:stCondLst>
                                    <p:cond delay="0"/>
                                  </p:stCondLst>
                                  <p:childTnLst>
                                    <p:set>
                                      <p:cBhvr>
                                        <p:cTn id="82" dur="1" fill="hold">
                                          <p:stCondLst>
                                            <p:cond delay="849"/>
                                          </p:stCondLst>
                                        </p:cTn>
                                        <p:tgtEl>
                                          <p:spTgt spid="2026"/>
                                        </p:tgtEl>
                                        <p:attrNameLst>
                                          <p:attrName>style.visibility</p:attrName>
                                        </p:attrNameLst>
                                      </p:cBhvr>
                                      <p:to>
                                        <p:strVal val="visible"/>
                                      </p:to>
                                    </p:set>
                                    <p:animMotion origin="layout" path="M 0 0 L -0.26041667 0 E" pathEditMode="relative">
                                      <p:cBhvr from="" to="">
                                        <p:cTn id="83" dur="850" fill="hold">
                                          <p:stCondLst>
                                            <p:cond delay="0"/>
                                          </p:stCondLst>
                                        </p:cTn>
                                        <p:tgtEl>
                                          <p:spTgt spid="2026"/>
                                        </p:tgtEl>
                                        <p:attrNameLst>
                                          <p:attrName>ppt_x</p:attrName>
                                          <p:attrName>ppt_y</p:attrName>
                                        </p:attrNameLst>
                                      </p:cBhvr>
                                    </p:animMotion>
                                  </p:childTnLst>
                                </p:cTn>
                              </p:par>
                            </p:childTnLst>
                          </p:cTn>
                        </p:par>
                        <p:par>
                          <p:cTn id="84" fill="hold">
                            <p:stCondLst>
                              <p:cond delay="1170"/>
                            </p:stCondLst>
                            <p:childTnLst>
                              <p:par>
                                <p:cTn id="85" presetID="10" presetClass="exit" presetSubtype="0" fill="hold" grpId="2" nodeType="afterEffect">
                                  <p:stCondLst>
                                    <p:cond delay="0"/>
                                  </p:stCondLst>
                                  <p:childTnLst>
                                    <p:animEffect transition="out" filter="fade">
                                      <p:cBhvr>
                                        <p:cTn id="86" dur="500"/>
                                        <p:tgtEl>
                                          <p:spTgt spid="2026"/>
                                        </p:tgtEl>
                                      </p:cBhvr>
                                    </p:animEffect>
                                    <p:set>
                                      <p:cBhvr>
                                        <p:cTn id="87" dur="1" fill="hold">
                                          <p:stCondLst>
                                            <p:cond delay="499"/>
                                          </p:stCondLst>
                                        </p:cTn>
                                        <p:tgtEl>
                                          <p:spTgt spid="2026"/>
                                        </p:tgtEl>
                                        <p:attrNameLst>
                                          <p:attrName>style.visibility</p:attrName>
                                        </p:attrNameLst>
                                      </p:cBhvr>
                                      <p:to>
                                        <p:strVal val="hidden"/>
                                      </p:to>
                                    </p:set>
                                  </p:childTnLst>
                                </p:cTn>
                              </p:par>
                            </p:childTnLst>
                          </p:cTn>
                        </p:par>
                        <p:par>
                          <p:cTn id="88" fill="hold">
                            <p:stCondLst>
                              <p:cond delay="1670"/>
                            </p:stCondLst>
                            <p:childTnLst>
                              <p:par>
                                <p:cTn id="89" presetID="10" presetClass="entr" presetSubtype="0" fill="hold" grpId="0" nodeType="afterEffect">
                                  <p:stCondLst>
                                    <p:cond delay="0"/>
                                  </p:stCondLst>
                                  <p:childTnLst>
                                    <p:set>
                                      <p:cBhvr>
                                        <p:cTn id="90" dur="1" fill="hold">
                                          <p:stCondLst>
                                            <p:cond delay="0"/>
                                          </p:stCondLst>
                                        </p:cTn>
                                        <p:tgtEl>
                                          <p:spTgt spid="2027"/>
                                        </p:tgtEl>
                                        <p:attrNameLst>
                                          <p:attrName>style.visibility</p:attrName>
                                        </p:attrNameLst>
                                      </p:cBhvr>
                                      <p:to>
                                        <p:strVal val="visible"/>
                                      </p:to>
                                    </p:set>
                                    <p:animEffect transition="in" filter="fade">
                                      <p:cBhvr>
                                        <p:cTn id="91" dur="350"/>
                                        <p:tgtEl>
                                          <p:spTgt spid="2027"/>
                                        </p:tgtEl>
                                      </p:cBhvr>
                                    </p:animEffect>
                                  </p:childTnLst>
                                </p:cTn>
                              </p:par>
                              <p:par>
                                <p:cTn id="92" presetID="0" presetClass="entr" presetSubtype="0" accel="22000" decel="25000" fill="hold" grpId="1" nodeType="withEffect">
                                  <p:stCondLst>
                                    <p:cond delay="0"/>
                                  </p:stCondLst>
                                  <p:childTnLst>
                                    <p:set>
                                      <p:cBhvr>
                                        <p:cTn id="93" dur="1" fill="hold">
                                          <p:stCondLst>
                                            <p:cond delay="449"/>
                                          </p:stCondLst>
                                        </p:cTn>
                                        <p:tgtEl>
                                          <p:spTgt spid="2027"/>
                                        </p:tgtEl>
                                        <p:attrNameLst>
                                          <p:attrName>style.visibility</p:attrName>
                                        </p:attrNameLst>
                                      </p:cBhvr>
                                      <p:to>
                                        <p:strVal val="visible"/>
                                      </p:to>
                                    </p:set>
                                    <p:animMotion origin="layout" path="M 0 0.01111111 L 0 0 E" pathEditMode="relative">
                                      <p:cBhvr from="" to="">
                                        <p:cTn id="94" dur="450" fill="hold">
                                          <p:stCondLst>
                                            <p:cond delay="0"/>
                                          </p:stCondLst>
                                        </p:cTn>
                                        <p:tgtEl>
                                          <p:spTgt spid="2027"/>
                                        </p:tgtEl>
                                        <p:attrNameLst>
                                          <p:attrName>ppt_x</p:attrName>
                                          <p:attrName>ppt_y</p:attrName>
                                        </p:attrNameLst>
                                      </p:cBhvr>
                                    </p:animMotion>
                                  </p:childTnLst>
                                </p:cTn>
                              </p:par>
                              <p:par>
                                <p:cTn id="95" presetID="10" presetClass="entr" presetSubtype="0" fill="hold" grpId="0" nodeType="withEffect">
                                  <p:stCondLst>
                                    <p:cond delay="0"/>
                                  </p:stCondLst>
                                  <p:childTnLst>
                                    <p:set>
                                      <p:cBhvr>
                                        <p:cTn id="96" dur="1" fill="hold">
                                          <p:stCondLst>
                                            <p:cond delay="0"/>
                                          </p:stCondLst>
                                        </p:cTn>
                                        <p:tgtEl>
                                          <p:spTgt spid="2031"/>
                                        </p:tgtEl>
                                        <p:attrNameLst>
                                          <p:attrName>style.visibility</p:attrName>
                                        </p:attrNameLst>
                                      </p:cBhvr>
                                      <p:to>
                                        <p:strVal val="visible"/>
                                      </p:to>
                                    </p:set>
                                    <p:animEffect transition="in" filter="fade">
                                      <p:cBhvr>
                                        <p:cTn id="97" dur="350"/>
                                        <p:tgtEl>
                                          <p:spTgt spid="2031"/>
                                        </p:tgtEl>
                                      </p:cBhvr>
                                    </p:animEffect>
                                  </p:childTnLst>
                                </p:cTn>
                              </p:par>
                              <p:par>
                                <p:cTn id="98" presetID="0" presetClass="entr" presetSubtype="0" accel="22000" decel="25000" fill="hold" grpId="1" nodeType="withEffect">
                                  <p:stCondLst>
                                    <p:cond delay="0"/>
                                  </p:stCondLst>
                                  <p:childTnLst>
                                    <p:set>
                                      <p:cBhvr>
                                        <p:cTn id="99" dur="1" fill="hold">
                                          <p:stCondLst>
                                            <p:cond delay="449"/>
                                          </p:stCondLst>
                                        </p:cTn>
                                        <p:tgtEl>
                                          <p:spTgt spid="2031"/>
                                        </p:tgtEl>
                                        <p:attrNameLst>
                                          <p:attrName>style.visibility</p:attrName>
                                        </p:attrNameLst>
                                      </p:cBhvr>
                                      <p:to>
                                        <p:strVal val="visible"/>
                                      </p:to>
                                    </p:set>
                                    <p:animMotion origin="layout" path="M 0 0.01111111 L 0 0 E" pathEditMode="relative">
                                      <p:cBhvr from="" to="">
                                        <p:cTn id="100" dur="450" fill="hold">
                                          <p:stCondLst>
                                            <p:cond delay="0"/>
                                          </p:stCondLst>
                                        </p:cTn>
                                        <p:tgtEl>
                                          <p:spTgt spid="203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2001" grpId="0"/>
      <p:bldP spid="2019" grpId="0"/>
      <p:bldP spid="2020" grpId="0" animBg="1"/>
      <p:bldP spid="2020" grpId="1" animBg="1"/>
      <p:bldP spid="2020" grpId="2" animBg="1"/>
      <p:bldP spid="2023" grpId="0" animBg="1"/>
      <p:bldP spid="2023" grpId="1" animBg="1"/>
      <p:bldP spid="2023" grpId="2" animBg="1"/>
      <p:bldP spid="2024" grpId="0"/>
      <p:bldP spid="2024" grpId="1"/>
      <p:bldP spid="2026" grpId="0" animBg="1"/>
      <p:bldP spid="2026" grpId="1" animBg="1"/>
      <p:bldP spid="2026" grpId="2" animBg="1"/>
      <p:bldP spid="2027" grpId="0"/>
      <p:bldP spid="2027" grpId="1"/>
      <p:bldP spid="2028" grpId="0"/>
      <p:bldP spid="2028" grpId="1"/>
      <p:bldP spid="2029" grpId="0"/>
      <p:bldP spid="2029" grpId="1"/>
      <p:bldP spid="2030" grpId="0"/>
      <p:bldP spid="2030" grpId="1"/>
      <p:bldP spid="2031" grpId="0"/>
      <p:bldP spid="2031"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432612" y="1073634"/>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sp>
      <p:sp>
        <p:nvSpPr>
          <p:cNvPr id="3" name="Freeform 3"/>
          <p:cNvSpPr/>
          <p:nvPr/>
        </p:nvSpPr>
        <p:spPr>
          <a:xfrm>
            <a:off x="-976303" y="8861330"/>
            <a:ext cx="2587045" cy="2587045"/>
          </a:xfrm>
          <a:custGeom>
            <a:avLst/>
            <a:gdLst/>
            <a:ahLst/>
            <a:cxnLst/>
            <a:rect l="l" t="t" r="r" b="b"/>
            <a:pathLst>
              <a:path w="2587045" h="2587045">
                <a:moveTo>
                  <a:pt x="0" y="0"/>
                </a:moveTo>
                <a:lnTo>
                  <a:pt x="2587045" y="0"/>
                </a:lnTo>
                <a:lnTo>
                  <a:pt x="2587045" y="2587045"/>
                </a:lnTo>
                <a:lnTo>
                  <a:pt x="0" y="2587045"/>
                </a:lnTo>
                <a:lnTo>
                  <a:pt x="0" y="0"/>
                </a:lnTo>
                <a:close/>
              </a:path>
            </a:pathLst>
          </a:custGeom>
          <a:blipFill>
            <a:blip r:embed="rId3"/>
            <a:stretch>
              <a:fillRect/>
            </a:stretch>
          </a:blipFill>
        </p:spPr>
      </p:sp>
      <p:sp>
        <p:nvSpPr>
          <p:cNvPr id="4" name="Freeform 4"/>
          <p:cNvSpPr/>
          <p:nvPr/>
        </p:nvSpPr>
        <p:spPr>
          <a:xfrm>
            <a:off x="16261240" y="5240019"/>
            <a:ext cx="1171372" cy="1171372"/>
          </a:xfrm>
          <a:custGeom>
            <a:avLst/>
            <a:gdLst/>
            <a:ahLst/>
            <a:cxnLst/>
            <a:rect l="l" t="t" r="r" b="b"/>
            <a:pathLst>
              <a:path w="1171372" h="1171372">
                <a:moveTo>
                  <a:pt x="0" y="0"/>
                </a:moveTo>
                <a:lnTo>
                  <a:pt x="1171372" y="0"/>
                </a:lnTo>
                <a:lnTo>
                  <a:pt x="1171372" y="1171373"/>
                </a:lnTo>
                <a:lnTo>
                  <a:pt x="0" y="11713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166681" y="8062234"/>
            <a:ext cx="4185238" cy="4185238"/>
          </a:xfrm>
          <a:custGeom>
            <a:avLst/>
            <a:gdLst/>
            <a:ahLst/>
            <a:cxnLst/>
            <a:rect l="l" t="t" r="r" b="b"/>
            <a:pathLst>
              <a:path w="4185238" h="4185238">
                <a:moveTo>
                  <a:pt x="0" y="0"/>
                </a:moveTo>
                <a:lnTo>
                  <a:pt x="4185238" y="0"/>
                </a:lnTo>
                <a:lnTo>
                  <a:pt x="4185238" y="4185238"/>
                </a:lnTo>
                <a:lnTo>
                  <a:pt x="0" y="41852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10" name="TextBox 10"/>
          <p:cNvSpPr txBox="1"/>
          <p:nvPr/>
        </p:nvSpPr>
        <p:spPr>
          <a:xfrm>
            <a:off x="1028700" y="726850"/>
            <a:ext cx="3166518" cy="298159"/>
          </a:xfrm>
          <a:prstGeom prst="rect">
            <a:avLst/>
          </a:prstGeom>
        </p:spPr>
        <p:txBody>
          <a:bodyPr lIns="0" tIns="0" rIns="0" bIns="0" rtlCol="0" anchor="t">
            <a:spAutoFit/>
          </a:bodyPr>
          <a:lstStyle/>
          <a:p>
            <a:pPr algn="l">
              <a:lnSpc>
                <a:spcPts val="2182"/>
              </a:lnSpc>
            </a:pPr>
            <a:r>
              <a:rPr lang="en-US" sz="2250" b="1">
                <a:solidFill>
                  <a:srgbClr val="2657C1"/>
                </a:solidFill>
                <a:latin typeface="TT Fors Bold"/>
                <a:ea typeface="TT Fors Bold"/>
                <a:cs typeface="TT Fors Bold"/>
                <a:sym typeface="TT Fors Bold"/>
              </a:rPr>
              <a:t>CYBERSHIELD AI</a:t>
            </a:r>
          </a:p>
        </p:txBody>
      </p:sp>
      <p:sp>
        <p:nvSpPr>
          <p:cNvPr id="11" name="TextBox 11"/>
          <p:cNvSpPr txBox="1"/>
          <p:nvPr/>
        </p:nvSpPr>
        <p:spPr>
          <a:xfrm>
            <a:off x="9144000" y="631600"/>
            <a:ext cx="1662550"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Projet</a:t>
            </a:r>
          </a:p>
        </p:txBody>
      </p:sp>
      <p:sp>
        <p:nvSpPr>
          <p:cNvPr id="12" name="anim_heading"/>
          <p:cNvSpPr txBox="1"/>
          <p:nvPr/>
        </p:nvSpPr>
        <p:spPr>
          <a:xfrm>
            <a:off x="1028700" y="2430260"/>
            <a:ext cx="6253195" cy="2762134"/>
          </a:xfrm>
          <a:prstGeom prst="rect">
            <a:avLst/>
          </a:prstGeom>
        </p:spPr>
        <p:txBody>
          <a:bodyPr lIns="0" tIns="0" rIns="0" bIns="0" rtlCol="0" anchor="t">
            <a:spAutoFit/>
          </a:bodyPr>
          <a:lstStyle/>
          <a:p>
            <a:pPr algn="l">
              <a:lnSpc>
                <a:spcPts val="10595"/>
              </a:lnSpc>
            </a:pPr>
            <a:r>
              <a:rPr lang="en-US" sz="10922" spc="-109">
                <a:solidFill>
                  <a:srgbClr val="2657C1"/>
                </a:solidFill>
                <a:latin typeface="Etna Sans Serif"/>
                <a:ea typeface="Etna Sans Serif"/>
                <a:cs typeface="Etna Sans Serif"/>
                <a:sym typeface="Etna Sans Serif"/>
              </a:rPr>
              <a:t>Règles</a:t>
            </a:r>
          </a:p>
          <a:p>
            <a:pPr algn="l">
              <a:lnSpc>
                <a:spcPts val="10595"/>
              </a:lnSpc>
            </a:pPr>
            <a:r>
              <a:rPr lang="en-US" sz="10922" spc="-109">
                <a:solidFill>
                  <a:srgbClr val="2657C1"/>
                </a:solidFill>
                <a:latin typeface="Etna Sans Serif"/>
                <a:ea typeface="Etna Sans Serif"/>
                <a:cs typeface="Etna Sans Serif"/>
                <a:sym typeface="Etna Sans Serif"/>
              </a:rPr>
              <a:t>SQLi</a:t>
            </a:r>
          </a:p>
        </p:txBody>
      </p:sp>
      <p:sp>
        <p:nvSpPr>
          <p:cNvPr id="14" name="TextBox 14"/>
          <p:cNvSpPr txBox="1"/>
          <p:nvPr/>
        </p:nvSpPr>
        <p:spPr>
          <a:xfrm>
            <a:off x="13726729" y="631600"/>
            <a:ext cx="1916881"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Résultats</a:t>
            </a:r>
          </a:p>
        </p:txBody>
      </p:sp>
      <p:sp>
        <p:nvSpPr>
          <p:cNvPr id="15" name="TextBox 15"/>
          <p:cNvSpPr txBox="1"/>
          <p:nvPr/>
        </p:nvSpPr>
        <p:spPr>
          <a:xfrm>
            <a:off x="16053186" y="633813"/>
            <a:ext cx="1206114"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Suite</a:t>
            </a:r>
          </a:p>
        </p:txBody>
      </p:sp>
      <p:sp>
        <p:nvSpPr>
          <p:cNvPr id="16" name="TextBox 16"/>
          <p:cNvSpPr txBox="1"/>
          <p:nvPr/>
        </p:nvSpPr>
        <p:spPr>
          <a:xfrm>
            <a:off x="11362447" y="633813"/>
            <a:ext cx="1907082" cy="394403"/>
          </a:xfrm>
          <a:prstGeom prst="rect">
            <a:avLst/>
          </a:prstGeom>
        </p:spPr>
        <p:txBody>
          <a:bodyPr lIns="0" tIns="0" rIns="0" bIns="0" rtlCol="0" anchor="t">
            <a:spAutoFit/>
          </a:bodyPr>
          <a:lstStyle/>
          <a:p>
            <a:pPr marL="0" lvl="0" indent="0" algn="l">
              <a:lnSpc>
                <a:spcPts val="3151"/>
              </a:lnSpc>
              <a:spcBef>
                <a:spcPct val="0"/>
              </a:spcBef>
            </a:pPr>
            <a:r>
              <a:rPr lang="en-US" sz="2251" b="1">
                <a:solidFill>
                  <a:srgbClr val="2657C1"/>
                </a:solidFill>
                <a:latin typeface="TT Fors Bold" panose="020B0604020202020204" charset="0"/>
                <a:ea typeface="TT Fors Bold"/>
                <a:cs typeface="TT Fors Bold"/>
                <a:sym typeface="TT Fors Bold"/>
              </a:rPr>
              <a:t>Solution</a:t>
            </a:r>
          </a:p>
        </p:txBody>
      </p:sp>
      <p:sp>
        <p:nvSpPr>
          <p:cNvPr id="17" name="Freeform 17"/>
          <p:cNvSpPr/>
          <p:nvPr/>
        </p:nvSpPr>
        <p:spPr>
          <a:xfrm>
            <a:off x="8755815" y="3346942"/>
            <a:ext cx="776370" cy="776370"/>
          </a:xfrm>
          <a:custGeom>
            <a:avLst/>
            <a:gdLst/>
            <a:ahLst/>
            <a:cxnLst/>
            <a:rect l="l" t="t" r="r" b="b"/>
            <a:pathLst>
              <a:path w="776370" h="776370">
                <a:moveTo>
                  <a:pt x="0" y="0"/>
                </a:moveTo>
                <a:lnTo>
                  <a:pt x="776370" y="0"/>
                </a:lnTo>
                <a:lnTo>
                  <a:pt x="776370" y="776370"/>
                </a:lnTo>
                <a:lnTo>
                  <a:pt x="0" y="7763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01" name="anim_summary">
            <a:extLst>
              <a:ext uri="{FF2B5EF4-FFF2-40B4-BE49-F238E27FC236}">
                <a16:creationId xmlns:a16="http://schemas.microsoft.com/office/drawing/2014/main" id="{456DBA2D-15A8-4AD4-A855-14E92E316FC2}"/>
              </a:ext>
            </a:extLst>
          </p:cNvPr>
          <p:cNvSpPr>
            <a:spLocks/>
          </p:cNvSpPr>
          <p:nvPr/>
        </p:nvSpPr>
        <p:spPr>
          <a:xfrm>
            <a:off x="1028700" y="5410200"/>
            <a:ext cx="6257925" cy="99060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a:ea typeface="TT Fors"/>
                <a:cs typeface="TT Fors"/>
              </a:defRPr>
            </a:defPPr>
          </a:lstStyle>
          <a:p>
            <a:pPr algn="l">
              <a:defRPr sz="2100">
                <a:solidFill>
                  <a:srgbClr val="2657C1"/>
                </a:solidFill>
                <a:latin typeface="TT Fors"/>
                <a:ea typeface="TT Fors"/>
                <a:cs typeface="TT Fors"/>
              </a:defRPr>
            </a:pPr>
            <a:r>
              <a:rPr sz="2100">
                <a:solidFill>
                  <a:srgbClr val="2657C1"/>
                </a:solidFill>
                <a:latin typeface="TT Fors"/>
                <a:ea typeface="TT Fors"/>
                <a:cs typeface="TT Fors"/>
              </a:rPr>
              <a:t>Mode blocage : la signature arrête la requête avant la base. MLP non sollicité.</a:t>
            </a:r>
          </a:p>
        </p:txBody>
      </p:sp>
      <p:sp>
        <p:nvSpPr>
          <p:cNvPr id="2002" name="browser_label">
            <a:extLst>
              <a:ext uri="{FF2B5EF4-FFF2-40B4-BE49-F238E27FC236}">
                <a16:creationId xmlns:a16="http://schemas.microsoft.com/office/drawing/2014/main" id="{BCC9DF28-DBD9-49C8-B871-B73AAB76D8B1}"/>
              </a:ext>
            </a:extLst>
          </p:cNvPr>
          <p:cNvSpPr>
            <a:spLocks/>
          </p:cNvSpPr>
          <p:nvPr/>
        </p:nvSpPr>
        <p:spPr>
          <a:xfrm>
            <a:off x="8286750" y="2562225"/>
            <a:ext cx="2190750"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NAVIGATEUR</a:t>
            </a:r>
          </a:p>
        </p:txBody>
      </p:sp>
      <p:sp>
        <p:nvSpPr>
          <p:cNvPr id="2003" name="browser_frame">
            <a:extLst>
              <a:ext uri="{FF2B5EF4-FFF2-40B4-BE49-F238E27FC236}">
                <a16:creationId xmlns:a16="http://schemas.microsoft.com/office/drawing/2014/main" id="{08A76653-D186-4E63-A28C-819FCA163383}"/>
              </a:ext>
            </a:extLst>
          </p:cNvPr>
          <p:cNvSpPr>
            <a:spLocks/>
          </p:cNvSpPr>
          <p:nvPr/>
        </p:nvSpPr>
        <p:spPr>
          <a:xfrm>
            <a:off x="8286750" y="3286125"/>
            <a:ext cx="2190750" cy="2190750"/>
          </a:xfrm>
          <a:prstGeom prst="rect">
            <a:avLst/>
          </a:prstGeom>
          <a:solidFill>
            <a:srgbClr val="F7F7F7"/>
          </a:solidFill>
          <a:ln w="19050">
            <a:solidFill>
              <a:srgbClr val="2657C1"/>
            </a:solidFill>
            <a:prstDash val="solid"/>
          </a:ln>
        </p:spPr>
      </p:sp>
      <p:sp>
        <p:nvSpPr>
          <p:cNvPr id="2004" name="browser_bar">
            <a:extLst>
              <a:ext uri="{FF2B5EF4-FFF2-40B4-BE49-F238E27FC236}">
                <a16:creationId xmlns:a16="http://schemas.microsoft.com/office/drawing/2014/main" id="{BE9A9726-1D82-4A86-BCF8-C26FBC07EDFD}"/>
              </a:ext>
            </a:extLst>
          </p:cNvPr>
          <p:cNvSpPr>
            <a:spLocks/>
          </p:cNvSpPr>
          <p:nvPr/>
        </p:nvSpPr>
        <p:spPr>
          <a:xfrm>
            <a:off x="8286750" y="3667125"/>
            <a:ext cx="2190750" cy="0"/>
          </a:xfrm>
          <a:prstGeom prst="line">
            <a:avLst/>
          </a:prstGeom>
          <a:noFill/>
          <a:ln w="14288">
            <a:solidFill>
              <a:srgbClr val="9FB6E5"/>
            </a:solidFill>
            <a:prstDash val="solid"/>
          </a:ln>
        </p:spPr>
      </p:sp>
      <p:sp>
        <p:nvSpPr>
          <p:cNvPr id="2005" name="browser_dot_0">
            <a:extLst>
              <a:ext uri="{FF2B5EF4-FFF2-40B4-BE49-F238E27FC236}">
                <a16:creationId xmlns:a16="http://schemas.microsoft.com/office/drawing/2014/main" id="{E00CE477-0DD3-4131-9EE7-840028C9EBC8}"/>
              </a:ext>
            </a:extLst>
          </p:cNvPr>
          <p:cNvSpPr>
            <a:spLocks/>
          </p:cNvSpPr>
          <p:nvPr/>
        </p:nvSpPr>
        <p:spPr>
          <a:xfrm>
            <a:off x="8448675" y="3438525"/>
            <a:ext cx="57150" cy="57150"/>
          </a:xfrm>
          <a:prstGeom prst="ellipse">
            <a:avLst/>
          </a:prstGeom>
          <a:solidFill>
            <a:srgbClr val="2657C1"/>
          </a:solidFill>
          <a:ln w="9525">
            <a:noFill/>
            <a:prstDash val="solid"/>
          </a:ln>
        </p:spPr>
      </p:sp>
      <p:sp>
        <p:nvSpPr>
          <p:cNvPr id="2006" name="browser_dot_1">
            <a:extLst>
              <a:ext uri="{FF2B5EF4-FFF2-40B4-BE49-F238E27FC236}">
                <a16:creationId xmlns:a16="http://schemas.microsoft.com/office/drawing/2014/main" id="{22CD0917-DFA0-4638-A457-E8F2275F3A98}"/>
              </a:ext>
            </a:extLst>
          </p:cNvPr>
          <p:cNvSpPr>
            <a:spLocks/>
          </p:cNvSpPr>
          <p:nvPr/>
        </p:nvSpPr>
        <p:spPr>
          <a:xfrm>
            <a:off x="8610600" y="3438525"/>
            <a:ext cx="57150" cy="57150"/>
          </a:xfrm>
          <a:prstGeom prst="ellipse">
            <a:avLst/>
          </a:prstGeom>
          <a:solidFill>
            <a:srgbClr val="2657C1"/>
          </a:solidFill>
          <a:ln w="9525">
            <a:noFill/>
            <a:prstDash val="solid"/>
          </a:ln>
        </p:spPr>
      </p:sp>
      <p:sp>
        <p:nvSpPr>
          <p:cNvPr id="2007" name="browser_dot_2">
            <a:extLst>
              <a:ext uri="{FF2B5EF4-FFF2-40B4-BE49-F238E27FC236}">
                <a16:creationId xmlns:a16="http://schemas.microsoft.com/office/drawing/2014/main" id="{40345427-E4B0-43FD-8ED9-D05CF2F96081}"/>
              </a:ext>
            </a:extLst>
          </p:cNvPr>
          <p:cNvSpPr>
            <a:spLocks/>
          </p:cNvSpPr>
          <p:nvPr/>
        </p:nvSpPr>
        <p:spPr>
          <a:xfrm>
            <a:off x="8772525" y="3438525"/>
            <a:ext cx="57150" cy="57150"/>
          </a:xfrm>
          <a:prstGeom prst="ellipse">
            <a:avLst/>
          </a:prstGeom>
          <a:solidFill>
            <a:srgbClr val="2657C1"/>
          </a:solidFill>
          <a:ln w="9525">
            <a:noFill/>
            <a:prstDash val="solid"/>
          </a:ln>
        </p:spPr>
      </p:sp>
      <p:sp>
        <p:nvSpPr>
          <p:cNvPr id="2008" name="input_label">
            <a:extLst>
              <a:ext uri="{FF2B5EF4-FFF2-40B4-BE49-F238E27FC236}">
                <a16:creationId xmlns:a16="http://schemas.microsoft.com/office/drawing/2014/main" id="{35FBCDF1-FAEE-44CA-A5EB-4D2BFC0A35E3}"/>
              </a:ext>
            </a:extLst>
          </p:cNvPr>
          <p:cNvSpPr>
            <a:spLocks/>
          </p:cNvSpPr>
          <p:nvPr/>
        </p:nvSpPr>
        <p:spPr>
          <a:xfrm>
            <a:off x="8439150" y="3886200"/>
            <a:ext cx="1905000" cy="352425"/>
          </a:xfrm>
          <a:prstGeom prst="rect">
            <a:avLst/>
          </a:prstGeom>
          <a:noFill/>
          <a:ln w="9525">
            <a:noFill/>
            <a:prstDash val="solid"/>
          </a:ln>
        </p:spPr>
        <p:txBody>
          <a:bodyPr wrap="square" lIns="0" tIns="0" rIns="0" bIns="0" anchor="ctr">
            <a:noAutofit/>
          </a:bodyPr>
          <a:lstStyle>
            <a:defPPr algn="l">
              <a:defRPr sz="1800">
                <a:solidFill>
                  <a:srgbClr val="2657C1"/>
                </a:solidFill>
                <a:latin typeface="TT Fors"/>
                <a:ea typeface="TT Fors"/>
                <a:cs typeface="TT Fors"/>
              </a:defRPr>
            </a:defPPr>
          </a:lstStyle>
          <a:p>
            <a:pPr algn="l">
              <a:defRPr sz="1800">
                <a:solidFill>
                  <a:srgbClr val="2657C1"/>
                </a:solidFill>
                <a:latin typeface="TT Fors"/>
                <a:ea typeface="TT Fors"/>
                <a:cs typeface="TT Fors"/>
              </a:defRPr>
            </a:pPr>
            <a:r>
              <a:rPr sz="1800">
                <a:solidFill>
                  <a:srgbClr val="2657C1"/>
                </a:solidFill>
                <a:latin typeface="TT Fors"/>
                <a:ea typeface="TT Fors"/>
                <a:cs typeface="TT Fors"/>
              </a:rPr>
              <a:t>Valeur HTTP</a:t>
            </a:r>
          </a:p>
        </p:txBody>
      </p:sp>
      <p:sp>
        <p:nvSpPr>
          <p:cNvPr id="2009" name="input_field">
            <a:extLst>
              <a:ext uri="{FF2B5EF4-FFF2-40B4-BE49-F238E27FC236}">
                <a16:creationId xmlns:a16="http://schemas.microsoft.com/office/drawing/2014/main" id="{02CCD116-27C9-4797-B34F-BFCD41AA4231}"/>
              </a:ext>
            </a:extLst>
          </p:cNvPr>
          <p:cNvSpPr>
            <a:spLocks/>
          </p:cNvSpPr>
          <p:nvPr/>
        </p:nvSpPr>
        <p:spPr>
          <a:xfrm>
            <a:off x="8420100" y="4410075"/>
            <a:ext cx="1924050" cy="628650"/>
          </a:xfrm>
          <a:prstGeom prst="rect">
            <a:avLst/>
          </a:prstGeom>
          <a:solidFill>
            <a:srgbClr val="EDF2FC"/>
          </a:solidFill>
          <a:ln w="9525">
            <a:solidFill>
              <a:srgbClr val="9FB6E5"/>
            </a:solidFill>
            <a:prstDash val="solid"/>
          </a:ln>
        </p:spPr>
      </p:sp>
      <p:sp>
        <p:nvSpPr>
          <p:cNvPr id="2010" name="php_label">
            <a:extLst>
              <a:ext uri="{FF2B5EF4-FFF2-40B4-BE49-F238E27FC236}">
                <a16:creationId xmlns:a16="http://schemas.microsoft.com/office/drawing/2014/main" id="{26CA1770-6E67-4525-9978-B8B00EFCE87B}"/>
              </a:ext>
            </a:extLst>
          </p:cNvPr>
          <p:cNvSpPr>
            <a:spLocks/>
          </p:cNvSpPr>
          <p:nvPr/>
        </p:nvSpPr>
        <p:spPr>
          <a:xfrm>
            <a:off x="11144250" y="2562225"/>
            <a:ext cx="2333625"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APPLICATION PHP</a:t>
            </a:r>
          </a:p>
        </p:txBody>
      </p:sp>
      <p:sp>
        <p:nvSpPr>
          <p:cNvPr id="2011" name="php_frame">
            <a:extLst>
              <a:ext uri="{FF2B5EF4-FFF2-40B4-BE49-F238E27FC236}">
                <a16:creationId xmlns:a16="http://schemas.microsoft.com/office/drawing/2014/main" id="{F85C7E8C-C1D0-4DFF-A088-DA2947EA6116}"/>
              </a:ext>
            </a:extLst>
          </p:cNvPr>
          <p:cNvSpPr>
            <a:spLocks/>
          </p:cNvSpPr>
          <p:nvPr/>
        </p:nvSpPr>
        <p:spPr>
          <a:xfrm>
            <a:off x="11144250" y="3286125"/>
            <a:ext cx="2333625" cy="2190750"/>
          </a:xfrm>
          <a:prstGeom prst="rect">
            <a:avLst/>
          </a:prstGeom>
          <a:solidFill>
            <a:srgbClr val="F7F7F7"/>
          </a:solidFill>
          <a:ln w="19050">
            <a:solidFill>
              <a:srgbClr val="2657C1"/>
            </a:solidFill>
            <a:prstDash val="solid"/>
          </a:ln>
        </p:spPr>
      </p:sp>
      <p:sp>
        <p:nvSpPr>
          <p:cNvPr id="2012" name="db_caption">
            <a:extLst>
              <a:ext uri="{FF2B5EF4-FFF2-40B4-BE49-F238E27FC236}">
                <a16:creationId xmlns:a16="http://schemas.microsoft.com/office/drawing/2014/main" id="{04B03BC9-DC34-44C0-8CB6-4279208CB423}"/>
              </a:ext>
            </a:extLst>
          </p:cNvPr>
          <p:cNvSpPr>
            <a:spLocks/>
          </p:cNvSpPr>
          <p:nvPr/>
        </p:nvSpPr>
        <p:spPr>
          <a:xfrm>
            <a:off x="14097000" y="2562225"/>
            <a:ext cx="1524000"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MARIADB</a:t>
            </a:r>
          </a:p>
        </p:txBody>
      </p:sp>
      <p:sp>
        <p:nvSpPr>
          <p:cNvPr id="2013" name="db_body">
            <a:extLst>
              <a:ext uri="{FF2B5EF4-FFF2-40B4-BE49-F238E27FC236}">
                <a16:creationId xmlns:a16="http://schemas.microsoft.com/office/drawing/2014/main" id="{157FC0D8-867C-4631-AB83-6AFC581068BA}"/>
              </a:ext>
            </a:extLst>
          </p:cNvPr>
          <p:cNvSpPr>
            <a:spLocks/>
          </p:cNvSpPr>
          <p:nvPr/>
        </p:nvSpPr>
        <p:spPr>
          <a:xfrm>
            <a:off x="14097000" y="3476625"/>
            <a:ext cx="1524000" cy="1752600"/>
          </a:xfrm>
          <a:prstGeom prst="can">
            <a:avLst/>
          </a:prstGeom>
          <a:solidFill>
            <a:srgbClr val="F7F7F7"/>
          </a:solidFill>
          <a:ln w="19050">
            <a:solidFill>
              <a:srgbClr val="2657C1"/>
            </a:solidFill>
            <a:prstDash val="solid"/>
          </a:ln>
        </p:spPr>
      </p:sp>
      <p:sp>
        <p:nvSpPr>
          <p:cNvPr id="2014" name="db_text">
            <a:extLst>
              <a:ext uri="{FF2B5EF4-FFF2-40B4-BE49-F238E27FC236}">
                <a16:creationId xmlns:a16="http://schemas.microsoft.com/office/drawing/2014/main" id="{B656957E-5184-4AED-B65E-72973DEE94CA}"/>
              </a:ext>
            </a:extLst>
          </p:cNvPr>
          <p:cNvSpPr>
            <a:spLocks/>
          </p:cNvSpPr>
          <p:nvPr/>
        </p:nvSpPr>
        <p:spPr>
          <a:xfrm>
            <a:off x="14230350" y="3924300"/>
            <a:ext cx="1257300" cy="8382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Base de</a:t>
            </a:r>
          </a:p>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données</a:t>
            </a:r>
          </a:p>
        </p:txBody>
      </p:sp>
      <p:sp>
        <p:nvSpPr>
          <p:cNvPr id="2015" name="http_rail">
            <a:extLst>
              <a:ext uri="{FF2B5EF4-FFF2-40B4-BE49-F238E27FC236}">
                <a16:creationId xmlns:a16="http://schemas.microsoft.com/office/drawing/2014/main" id="{D7F5AD8E-F1FC-468B-BCBC-89092CB0C953}"/>
              </a:ext>
            </a:extLst>
          </p:cNvPr>
          <p:cNvSpPr>
            <a:spLocks/>
          </p:cNvSpPr>
          <p:nvPr/>
        </p:nvSpPr>
        <p:spPr>
          <a:xfrm>
            <a:off x="10525125" y="4314825"/>
            <a:ext cx="504825" cy="133350"/>
          </a:xfrm>
          <a:prstGeom prst="rightArrow">
            <a:avLst/>
          </a:prstGeom>
          <a:solidFill>
            <a:srgbClr val="9FB6E5"/>
          </a:solidFill>
          <a:ln w="9525">
            <a:noFill/>
            <a:prstDash val="solid"/>
          </a:ln>
        </p:spPr>
      </p:sp>
      <p:sp>
        <p:nvSpPr>
          <p:cNvPr id="2016" name="php_title">
            <a:extLst>
              <a:ext uri="{FF2B5EF4-FFF2-40B4-BE49-F238E27FC236}">
                <a16:creationId xmlns:a16="http://schemas.microsoft.com/office/drawing/2014/main" id="{1F87D6FD-7175-4026-9933-5792E20FE8E4}"/>
              </a:ext>
            </a:extLst>
          </p:cNvPr>
          <p:cNvSpPr>
            <a:spLocks/>
          </p:cNvSpPr>
          <p:nvPr/>
        </p:nvSpPr>
        <p:spPr>
          <a:xfrm>
            <a:off x="11258550" y="3514725"/>
            <a:ext cx="2105025" cy="447675"/>
          </a:xfrm>
          <a:prstGeom prst="rect">
            <a:avLst/>
          </a:prstGeom>
          <a:noFill/>
          <a:ln w="9525">
            <a:noFill/>
            <a:prstDash val="solid"/>
          </a:ln>
        </p:spPr>
        <p:txBody>
          <a:bodyPr wrap="square" lIns="0" tIns="0" rIns="0" bIns="0" anchor="ctr">
            <a:noAutofit/>
          </a:bodyPr>
          <a:lstStyle>
            <a:defPPr algn="ctr">
              <a:defRPr sz="2175">
                <a:solidFill>
                  <a:srgbClr val="2657C1"/>
                </a:solidFill>
                <a:latin typeface="TT Fors Bold"/>
                <a:ea typeface="TT Fors Bold"/>
                <a:cs typeface="TT Fors Bold"/>
              </a:defRPr>
            </a:defPPr>
          </a:lstStyle>
          <a:p>
            <a:pPr algn="ctr">
              <a:defRPr sz="2175">
                <a:solidFill>
                  <a:srgbClr val="2657C1"/>
                </a:solidFill>
                <a:latin typeface="TT Fors Bold"/>
                <a:ea typeface="TT Fors Bold"/>
                <a:cs typeface="TT Fors Bold"/>
              </a:defRPr>
            </a:pPr>
            <a:r>
              <a:rPr sz="2175">
                <a:solidFill>
                  <a:srgbClr val="2657C1"/>
                </a:solidFill>
                <a:latin typeface="TT Fors Bold"/>
                <a:ea typeface="TT Fors Bold"/>
                <a:cs typeface="TT Fors Bold"/>
              </a:rPr>
              <a:t>CyberShield</a:t>
            </a:r>
          </a:p>
        </p:txBody>
      </p:sp>
      <p:sp>
        <p:nvSpPr>
          <p:cNvPr id="2017" name="php_description">
            <a:extLst>
              <a:ext uri="{FF2B5EF4-FFF2-40B4-BE49-F238E27FC236}">
                <a16:creationId xmlns:a16="http://schemas.microsoft.com/office/drawing/2014/main" id="{7BA154D8-F266-421C-9A16-3E9130E7405F}"/>
              </a:ext>
            </a:extLst>
          </p:cNvPr>
          <p:cNvSpPr>
            <a:spLocks/>
          </p:cNvSpPr>
          <p:nvPr/>
        </p:nvSpPr>
        <p:spPr>
          <a:xfrm>
            <a:off x="11258550" y="4086225"/>
            <a:ext cx="2105025" cy="6858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Analyse avant</a:t>
            </a:r>
          </a:p>
          <a:p>
            <a:pPr algn="ctr">
              <a:defRPr sz="1875">
                <a:solidFill>
                  <a:srgbClr val="2657C1"/>
                </a:solidFill>
                <a:latin typeface="TT Fors"/>
                <a:ea typeface="TT Fors"/>
                <a:cs typeface="TT Fors"/>
              </a:defRPr>
            </a:pPr>
            <a:r>
              <a:rPr sz="1875">
                <a:solidFill>
                  <a:srgbClr val="2657C1"/>
                </a:solidFill>
                <a:latin typeface="TT Fors"/>
                <a:ea typeface="TT Fors"/>
                <a:cs typeface="TT Fors"/>
              </a:rPr>
              <a:t>l’accès SQL.</a:t>
            </a:r>
          </a:p>
        </p:txBody>
      </p:sp>
      <p:sp>
        <p:nvSpPr>
          <p:cNvPr id="2018" name="sql_rail">
            <a:extLst>
              <a:ext uri="{FF2B5EF4-FFF2-40B4-BE49-F238E27FC236}">
                <a16:creationId xmlns:a16="http://schemas.microsoft.com/office/drawing/2014/main" id="{B6539D56-E26A-4CD6-B449-CC3EB12EA5AE}"/>
              </a:ext>
            </a:extLst>
          </p:cNvPr>
          <p:cNvSpPr>
            <a:spLocks/>
          </p:cNvSpPr>
          <p:nvPr/>
        </p:nvSpPr>
        <p:spPr>
          <a:xfrm>
            <a:off x="13563600" y="4314825"/>
            <a:ext cx="428625" cy="133350"/>
          </a:xfrm>
          <a:prstGeom prst="rightArrow">
            <a:avLst/>
          </a:prstGeom>
          <a:solidFill>
            <a:srgbClr val="9FB6E5"/>
          </a:solidFill>
          <a:ln w="9525">
            <a:noFill/>
            <a:prstDash val="solid"/>
          </a:ln>
        </p:spPr>
      </p:sp>
      <p:sp>
        <p:nvSpPr>
          <p:cNvPr id="2019" name="anim_payload">
            <a:extLst>
              <a:ext uri="{FF2B5EF4-FFF2-40B4-BE49-F238E27FC236}">
                <a16:creationId xmlns:a16="http://schemas.microsoft.com/office/drawing/2014/main" id="{298A54AD-7C09-4136-B940-2CD09149AA91}"/>
              </a:ext>
            </a:extLst>
          </p:cNvPr>
          <p:cNvSpPr>
            <a:spLocks/>
          </p:cNvSpPr>
          <p:nvPr/>
        </p:nvSpPr>
        <p:spPr>
          <a:xfrm>
            <a:off x="8496300" y="4533900"/>
            <a:ext cx="1790700" cy="381000"/>
          </a:xfrm>
          <a:prstGeom prst="rect">
            <a:avLst/>
          </a:prstGeom>
          <a:noFill/>
          <a:ln w="9525">
            <a:noFill/>
            <a:prstDash val="solid"/>
          </a:ln>
        </p:spPr>
        <p:txBody>
          <a:bodyPr wrap="square" lIns="0" tIns="0" rIns="0" bIns="0" anchor="ctr">
            <a:noAutofit/>
          </a:bodyPr>
          <a:lstStyle>
            <a:defPPr algn="l">
              <a:defRPr sz="1800">
                <a:solidFill>
                  <a:srgbClr val="C44945"/>
                </a:solidFill>
                <a:latin typeface="TT Fors Bold"/>
                <a:ea typeface="TT Fors Bold"/>
                <a:cs typeface="TT Fors Bold"/>
              </a:defRPr>
            </a:defPPr>
          </a:lstStyle>
          <a:p>
            <a:pPr algn="l">
              <a:defRPr sz="1800">
                <a:solidFill>
                  <a:srgbClr val="C44945"/>
                </a:solidFill>
                <a:latin typeface="TT Fors Bold"/>
                <a:ea typeface="TT Fors Bold"/>
                <a:cs typeface="TT Fors Bold"/>
              </a:defRPr>
            </a:pPr>
            <a:r>
              <a:rPr sz="1800">
                <a:solidFill>
                  <a:srgbClr val="C44945"/>
                </a:solidFill>
                <a:latin typeface="TT Fors Bold"/>
                <a:ea typeface="TT Fors Bold"/>
                <a:cs typeface="TT Fors Bold"/>
              </a:rPr>
              <a:t>' OR 1=1 -- </a:t>
            </a:r>
          </a:p>
        </p:txBody>
      </p:sp>
      <p:sp>
        <p:nvSpPr>
          <p:cNvPr id="2020" name="anim_http">
            <a:extLst>
              <a:ext uri="{FF2B5EF4-FFF2-40B4-BE49-F238E27FC236}">
                <a16:creationId xmlns:a16="http://schemas.microsoft.com/office/drawing/2014/main" id="{39993385-1E82-4F4D-A7E3-4ACB7EAC6355}"/>
              </a:ext>
            </a:extLst>
          </p:cNvPr>
          <p:cNvSpPr>
            <a:spLocks/>
          </p:cNvSpPr>
          <p:nvPr/>
        </p:nvSpPr>
        <p:spPr>
          <a:xfrm>
            <a:off x="10506075" y="4152900"/>
            <a:ext cx="619125" cy="438150"/>
          </a:xfrm>
          <a:prstGeom prst="rect">
            <a:avLst/>
          </a:prstGeom>
          <a:solidFill>
            <a:srgbClr val="F7F7F7"/>
          </a:solidFill>
          <a:ln w="13335">
            <a:solidFill>
              <a:srgbClr val="2657C1"/>
            </a:solidFill>
            <a:prstDash val="solid"/>
          </a:ln>
        </p:spPr>
        <p:txBody>
          <a:bodyPr wrap="square" lIns="28575" tIns="28575" rIns="28575" bIns="28575"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HTTP</a:t>
            </a:r>
          </a:p>
        </p:txBody>
      </p:sp>
      <p:grpSp>
        <p:nvGrpSpPr>
          <p:cNvPr id="9" name="anim_signature">
            <a:extLst>
              <a:ext uri="{FF2B5EF4-FFF2-40B4-BE49-F238E27FC236}">
                <a16:creationId xmlns:a16="http://schemas.microsoft.com/office/drawing/2014/main" id="{8AF05953-CFC1-2182-C119-363D0F932C53}"/>
              </a:ext>
            </a:extLst>
          </p:cNvPr>
          <p:cNvGrpSpPr/>
          <p:nvPr/>
        </p:nvGrpSpPr>
        <p:grpSpPr>
          <a:xfrm>
            <a:off x="10744200" y="4905375"/>
            <a:ext cx="4924425" cy="2781300"/>
            <a:chOff x="10744200" y="4905375"/>
            <a:chExt cx="4924425" cy="2781300"/>
          </a:xfrm>
        </p:grpSpPr>
        <p:sp>
          <p:nvSpPr>
            <p:cNvPr id="2021" name="signature">
              <a:extLst>
                <a:ext uri="{FF2B5EF4-FFF2-40B4-BE49-F238E27FC236}">
                  <a16:creationId xmlns:a16="http://schemas.microsoft.com/office/drawing/2014/main" id="{87AC1867-590A-421C-A392-43E1D243976A}"/>
                </a:ext>
              </a:extLst>
            </p:cNvPr>
            <p:cNvSpPr>
              <a:spLocks/>
            </p:cNvSpPr>
            <p:nvPr/>
          </p:nvSpPr>
          <p:spPr>
            <a:xfrm>
              <a:off x="11201400" y="4905375"/>
              <a:ext cx="2219325" cy="409575"/>
            </a:xfrm>
            <a:prstGeom prst="rect">
              <a:avLst/>
            </a:prstGeom>
            <a:noFill/>
            <a:ln w="9525">
              <a:noFill/>
              <a:prstDash val="solid"/>
            </a:ln>
          </p:spPr>
          <p:txBody>
            <a:bodyPr wrap="square" lIns="0" tIns="0" rIns="0" bIns="0"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Signature reconnue</a:t>
              </a:r>
            </a:p>
          </p:txBody>
        </p:sp>
        <p:sp>
          <p:nvSpPr>
            <p:cNvPr id="2022" name="score90">
              <a:extLst>
                <a:ext uri="{FF2B5EF4-FFF2-40B4-BE49-F238E27FC236}">
                  <a16:creationId xmlns:a16="http://schemas.microsoft.com/office/drawing/2014/main" id="{54C20D8B-AC1F-49D7-A308-2344712EEEAA}"/>
                </a:ext>
              </a:extLst>
            </p:cNvPr>
            <p:cNvSpPr>
              <a:spLocks/>
            </p:cNvSpPr>
            <p:nvPr/>
          </p:nvSpPr>
          <p:spPr>
            <a:xfrm>
              <a:off x="10906125" y="6267450"/>
              <a:ext cx="1809750" cy="942975"/>
            </a:xfrm>
            <a:prstGeom prst="rect">
              <a:avLst/>
            </a:prstGeom>
            <a:noFill/>
            <a:ln w="9525">
              <a:noFill/>
              <a:prstDash val="solid"/>
            </a:ln>
          </p:spPr>
          <p:txBody>
            <a:bodyPr wrap="square" lIns="0" tIns="0" rIns="0" bIns="0" anchor="ctr">
              <a:noAutofit/>
            </a:bodyPr>
            <a:lstStyle>
              <a:defPPr algn="ctr">
                <a:defRPr sz="6600">
                  <a:solidFill>
                    <a:srgbClr val="2657C1"/>
                  </a:solidFill>
                  <a:latin typeface="Etna Sans Serif"/>
                  <a:ea typeface="Etna Sans Serif"/>
                  <a:cs typeface="Etna Sans Serif"/>
                </a:defRPr>
              </a:defPPr>
            </a:lstStyle>
            <a:p>
              <a:pPr algn="ctr">
                <a:defRPr sz="6600">
                  <a:solidFill>
                    <a:srgbClr val="2657C1"/>
                  </a:solidFill>
                  <a:latin typeface="Etna Sans Serif"/>
                  <a:ea typeface="Etna Sans Serif"/>
                  <a:cs typeface="Etna Sans Serif"/>
                </a:defRPr>
              </a:pPr>
              <a:r>
                <a:rPr sz="6600">
                  <a:solidFill>
                    <a:srgbClr val="2657C1"/>
                  </a:solidFill>
                  <a:latin typeface="Etna Sans Serif"/>
                  <a:ea typeface="Etna Sans Serif"/>
                  <a:cs typeface="Etna Sans Serif"/>
                </a:rPr>
                <a:t>90</a:t>
              </a:r>
            </a:p>
          </p:txBody>
        </p:sp>
        <p:sp>
          <p:nvSpPr>
            <p:cNvPr id="2023" name="score90_label">
              <a:extLst>
                <a:ext uri="{FF2B5EF4-FFF2-40B4-BE49-F238E27FC236}">
                  <a16:creationId xmlns:a16="http://schemas.microsoft.com/office/drawing/2014/main" id="{FEC1496A-86EF-4CE3-B224-0789604D04E5}"/>
                </a:ext>
              </a:extLst>
            </p:cNvPr>
            <p:cNvSpPr>
              <a:spLocks/>
            </p:cNvSpPr>
            <p:nvPr/>
          </p:nvSpPr>
          <p:spPr>
            <a:xfrm>
              <a:off x="10744200" y="7286625"/>
              <a:ext cx="2124075" cy="400050"/>
            </a:xfrm>
            <a:prstGeom prst="rect">
              <a:avLst/>
            </a:prstGeom>
            <a:noFill/>
            <a:ln w="9525">
              <a:noFill/>
              <a:prstDash val="solid"/>
            </a:ln>
          </p:spPr>
          <p:txBody>
            <a:bodyPr wrap="square" lIns="0" tIns="0" rIns="0" bIns="0" anchor="ctr">
              <a:noAutofit/>
            </a:bodyPr>
            <a:lstStyle>
              <a:defPPr algn="ctr">
                <a:defRPr sz="1800">
                  <a:solidFill>
                    <a:srgbClr val="2657C1"/>
                  </a:solidFill>
                  <a:latin typeface="TT Fors"/>
                  <a:ea typeface="TT Fors"/>
                  <a:cs typeface="TT Fors"/>
                </a:defRPr>
              </a:defPPr>
            </a:lstStyle>
            <a:p>
              <a:pPr algn="ctr">
                <a:defRPr sz="1800">
                  <a:solidFill>
                    <a:srgbClr val="2657C1"/>
                  </a:solidFill>
                  <a:latin typeface="TT Fors"/>
                  <a:ea typeface="TT Fors"/>
                  <a:cs typeface="TT Fors"/>
                </a:defRPr>
              </a:pPr>
              <a:r>
                <a:rPr sz="1800">
                  <a:solidFill>
                    <a:srgbClr val="2657C1"/>
                  </a:solidFill>
                  <a:latin typeface="TT Fors"/>
                  <a:ea typeface="TT Fors"/>
                  <a:cs typeface="TT Fors"/>
                </a:rPr>
                <a:t>Score de règles</a:t>
              </a:r>
            </a:p>
          </p:txBody>
        </p:sp>
        <p:sp>
          <p:nvSpPr>
            <p:cNvPr id="2024" name="threshold80">
              <a:extLst>
                <a:ext uri="{FF2B5EF4-FFF2-40B4-BE49-F238E27FC236}">
                  <a16:creationId xmlns:a16="http://schemas.microsoft.com/office/drawing/2014/main" id="{A9C76B53-83FD-43A8-B421-25C23FA249E3}"/>
                </a:ext>
              </a:extLst>
            </p:cNvPr>
            <p:cNvSpPr>
              <a:spLocks/>
            </p:cNvSpPr>
            <p:nvPr/>
          </p:nvSpPr>
          <p:spPr>
            <a:xfrm>
              <a:off x="13696950" y="6267450"/>
              <a:ext cx="1809750" cy="942975"/>
            </a:xfrm>
            <a:prstGeom prst="rect">
              <a:avLst/>
            </a:prstGeom>
            <a:noFill/>
            <a:ln w="9525">
              <a:noFill/>
              <a:prstDash val="solid"/>
            </a:ln>
          </p:spPr>
          <p:txBody>
            <a:bodyPr wrap="square" lIns="0" tIns="0" rIns="0" bIns="0" anchor="ctr">
              <a:noAutofit/>
            </a:bodyPr>
            <a:lstStyle>
              <a:defPPr algn="ctr">
                <a:defRPr sz="6600">
                  <a:solidFill>
                    <a:srgbClr val="2657C1"/>
                  </a:solidFill>
                  <a:latin typeface="Etna Sans Serif"/>
                  <a:ea typeface="Etna Sans Serif"/>
                  <a:cs typeface="Etna Sans Serif"/>
                </a:defRPr>
              </a:defPPr>
            </a:lstStyle>
            <a:p>
              <a:pPr algn="ctr">
                <a:defRPr sz="6600">
                  <a:solidFill>
                    <a:srgbClr val="2657C1"/>
                  </a:solidFill>
                  <a:latin typeface="Etna Sans Serif"/>
                  <a:ea typeface="Etna Sans Serif"/>
                  <a:cs typeface="Etna Sans Serif"/>
                </a:defRPr>
              </a:pPr>
              <a:r>
                <a:rPr sz="6600">
                  <a:solidFill>
                    <a:srgbClr val="2657C1"/>
                  </a:solidFill>
                  <a:latin typeface="Etna Sans Serif"/>
                  <a:ea typeface="Etna Sans Serif"/>
                  <a:cs typeface="Etna Sans Serif"/>
                </a:rPr>
                <a:t>80</a:t>
              </a:r>
            </a:p>
          </p:txBody>
        </p:sp>
        <p:sp>
          <p:nvSpPr>
            <p:cNvPr id="2025" name="threshold80_label">
              <a:extLst>
                <a:ext uri="{FF2B5EF4-FFF2-40B4-BE49-F238E27FC236}">
                  <a16:creationId xmlns:a16="http://schemas.microsoft.com/office/drawing/2014/main" id="{CEE009DC-3794-419C-8AFB-AA89E5F19DDF}"/>
                </a:ext>
              </a:extLst>
            </p:cNvPr>
            <p:cNvSpPr>
              <a:spLocks/>
            </p:cNvSpPr>
            <p:nvPr/>
          </p:nvSpPr>
          <p:spPr>
            <a:xfrm>
              <a:off x="13544550" y="7286625"/>
              <a:ext cx="2124075" cy="400050"/>
            </a:xfrm>
            <a:prstGeom prst="rect">
              <a:avLst/>
            </a:prstGeom>
            <a:noFill/>
            <a:ln w="9525">
              <a:noFill/>
              <a:prstDash val="solid"/>
            </a:ln>
          </p:spPr>
          <p:txBody>
            <a:bodyPr wrap="square" lIns="0" tIns="0" rIns="0" bIns="0" anchor="ctr">
              <a:noAutofit/>
            </a:bodyPr>
            <a:lstStyle>
              <a:defPPr algn="ctr">
                <a:defRPr sz="1800">
                  <a:solidFill>
                    <a:srgbClr val="2657C1"/>
                  </a:solidFill>
                  <a:latin typeface="TT Fors"/>
                  <a:ea typeface="TT Fors"/>
                  <a:cs typeface="TT Fors"/>
                </a:defRPr>
              </a:defPPr>
            </a:lstStyle>
            <a:p>
              <a:pPr algn="ctr">
                <a:defRPr sz="1800">
                  <a:solidFill>
                    <a:srgbClr val="2657C1"/>
                  </a:solidFill>
                  <a:latin typeface="TT Fors"/>
                  <a:ea typeface="TT Fors"/>
                  <a:cs typeface="TT Fors"/>
                </a:defRPr>
              </a:pPr>
              <a:r>
                <a:rPr sz="1800">
                  <a:solidFill>
                    <a:srgbClr val="2657C1"/>
                  </a:solidFill>
                  <a:latin typeface="TT Fors"/>
                  <a:ea typeface="TT Fors"/>
                  <a:cs typeface="TT Fors"/>
                </a:rPr>
                <a:t>Seuil de blocage</a:t>
              </a:r>
            </a:p>
          </p:txBody>
        </p:sp>
      </p:grpSp>
      <p:grpSp>
        <p:nvGrpSpPr>
          <p:cNvPr id="13" name="anim_blocked">
            <a:extLst>
              <a:ext uri="{FF2B5EF4-FFF2-40B4-BE49-F238E27FC236}">
                <a16:creationId xmlns:a16="http://schemas.microsoft.com/office/drawing/2014/main" id="{48030D67-2049-4C92-25C7-99A3BF234FF6}"/>
              </a:ext>
            </a:extLst>
          </p:cNvPr>
          <p:cNvGrpSpPr/>
          <p:nvPr/>
        </p:nvGrpSpPr>
        <p:grpSpPr>
          <a:xfrm>
            <a:off x="13354050" y="4048125"/>
            <a:ext cx="2724150" cy="2190750"/>
            <a:chOff x="13354050" y="4048125"/>
            <a:chExt cx="2724150" cy="2190750"/>
          </a:xfrm>
        </p:grpSpPr>
        <p:sp>
          <p:nvSpPr>
            <p:cNvPr id="2026" name="barrier">
              <a:extLst>
                <a:ext uri="{FF2B5EF4-FFF2-40B4-BE49-F238E27FC236}">
                  <a16:creationId xmlns:a16="http://schemas.microsoft.com/office/drawing/2014/main" id="{5604B7B9-AD77-4975-A4C7-22D59E3E6A26}"/>
                </a:ext>
              </a:extLst>
            </p:cNvPr>
            <p:cNvSpPr>
              <a:spLocks/>
            </p:cNvSpPr>
            <p:nvPr/>
          </p:nvSpPr>
          <p:spPr>
            <a:xfrm>
              <a:off x="13763625" y="4048125"/>
              <a:ext cx="85725" cy="742950"/>
            </a:xfrm>
            <a:prstGeom prst="rect">
              <a:avLst/>
            </a:prstGeom>
            <a:solidFill>
              <a:srgbClr val="C44945"/>
            </a:solidFill>
            <a:ln w="9525">
              <a:noFill/>
              <a:prstDash val="solid"/>
            </a:ln>
          </p:spPr>
        </p:sp>
        <p:sp>
          <p:nvSpPr>
            <p:cNvPr id="2027" name="blocked_word">
              <a:extLst>
                <a:ext uri="{FF2B5EF4-FFF2-40B4-BE49-F238E27FC236}">
                  <a16:creationId xmlns:a16="http://schemas.microsoft.com/office/drawing/2014/main" id="{1C5EA444-8199-4050-A0EC-7271F4413EB8}"/>
                </a:ext>
              </a:extLst>
            </p:cNvPr>
            <p:cNvSpPr>
              <a:spLocks/>
            </p:cNvSpPr>
            <p:nvPr/>
          </p:nvSpPr>
          <p:spPr>
            <a:xfrm>
              <a:off x="13354050" y="5429250"/>
              <a:ext cx="1333500" cy="381000"/>
            </a:xfrm>
            <a:prstGeom prst="rect">
              <a:avLst/>
            </a:prstGeom>
            <a:noFill/>
            <a:ln w="9525">
              <a:noFill/>
              <a:prstDash val="solid"/>
            </a:ln>
          </p:spPr>
          <p:txBody>
            <a:bodyPr wrap="square" lIns="0" tIns="0" rIns="0" bIns="0" anchor="ctr">
              <a:noAutofit/>
            </a:bodyPr>
            <a:lstStyle>
              <a:defPPr algn="ctr">
                <a:defRPr sz="1725">
                  <a:solidFill>
                    <a:srgbClr val="C44945"/>
                  </a:solidFill>
                  <a:latin typeface="TT Fors Bold"/>
                  <a:ea typeface="TT Fors Bold"/>
                  <a:cs typeface="TT Fors Bold"/>
                </a:defRPr>
              </a:defPPr>
            </a:lstStyle>
            <a:p>
              <a:pPr algn="ctr">
                <a:defRPr sz="1725">
                  <a:solidFill>
                    <a:srgbClr val="C44945"/>
                  </a:solidFill>
                  <a:latin typeface="TT Fors Bold"/>
                  <a:ea typeface="TT Fors Bold"/>
                  <a:cs typeface="TT Fors Bold"/>
                </a:defRPr>
              </a:pPr>
              <a:r>
                <a:rPr sz="1725">
                  <a:solidFill>
                    <a:srgbClr val="C44945"/>
                  </a:solidFill>
                  <a:latin typeface="TT Fors Bold"/>
                  <a:ea typeface="TT Fors Bold"/>
                  <a:cs typeface="TT Fors Bold"/>
                </a:rPr>
                <a:t>BLOQUÉE</a:t>
              </a:r>
            </a:p>
          </p:txBody>
        </p:sp>
        <p:sp>
          <p:nvSpPr>
            <p:cNvPr id="2028" name="db_not_called">
              <a:extLst>
                <a:ext uri="{FF2B5EF4-FFF2-40B4-BE49-F238E27FC236}">
                  <a16:creationId xmlns:a16="http://schemas.microsoft.com/office/drawing/2014/main" id="{0AFB99F2-77FF-44F9-B9CD-B3CB545AE79A}"/>
                </a:ext>
              </a:extLst>
            </p:cNvPr>
            <p:cNvSpPr>
              <a:spLocks/>
            </p:cNvSpPr>
            <p:nvPr/>
          </p:nvSpPr>
          <p:spPr>
            <a:xfrm>
              <a:off x="13887450" y="5838825"/>
              <a:ext cx="2190750" cy="400050"/>
            </a:xfrm>
            <a:prstGeom prst="rect">
              <a:avLst/>
            </a:prstGeom>
            <a:noFill/>
            <a:ln w="9525">
              <a:noFill/>
              <a:prstDash val="solid"/>
            </a:ln>
          </p:spPr>
          <p:txBody>
            <a:bodyPr wrap="square" lIns="0" tIns="0" rIns="0" bIns="0" anchor="ctr">
              <a:noAutofit/>
            </a:bodyPr>
            <a:lstStyle>
              <a:defPPr algn="ctr">
                <a:defRPr sz="1800">
                  <a:solidFill>
                    <a:srgbClr val="C44945"/>
                  </a:solidFill>
                  <a:latin typeface="TT Fors Bold"/>
                  <a:ea typeface="TT Fors Bold"/>
                  <a:cs typeface="TT Fors Bold"/>
                </a:defRPr>
              </a:defPPr>
            </a:lstStyle>
            <a:p>
              <a:pPr algn="ctr">
                <a:defRPr sz="1800">
                  <a:solidFill>
                    <a:srgbClr val="C44945"/>
                  </a:solidFill>
                  <a:latin typeface="TT Fors Bold"/>
                  <a:ea typeface="TT Fors Bold"/>
                  <a:cs typeface="TT Fors Bold"/>
                </a:defRPr>
              </a:pPr>
              <a:r>
                <a:rPr sz="1800">
                  <a:solidFill>
                    <a:srgbClr val="C44945"/>
                  </a:solidFill>
                  <a:latin typeface="TT Fors Bold"/>
                  <a:ea typeface="TT Fors Bold"/>
                  <a:cs typeface="TT Fors Bold"/>
                </a:rPr>
                <a:t>Base non appelée</a:t>
              </a:r>
            </a:p>
          </p:txBody>
        </p:sp>
      </p:grpSp>
      <p:sp>
        <p:nvSpPr>
          <p:cNvPr id="2029" name="response_rail">
            <a:extLst>
              <a:ext uri="{FF2B5EF4-FFF2-40B4-BE49-F238E27FC236}">
                <a16:creationId xmlns:a16="http://schemas.microsoft.com/office/drawing/2014/main" id="{34468A5D-7C8C-4C3F-A692-FDDF64A89BF8}"/>
              </a:ext>
            </a:extLst>
          </p:cNvPr>
          <p:cNvSpPr>
            <a:spLocks/>
          </p:cNvSpPr>
          <p:nvPr/>
        </p:nvSpPr>
        <p:spPr>
          <a:xfrm>
            <a:off x="9324975" y="8334375"/>
            <a:ext cx="3219450" cy="0"/>
          </a:xfrm>
          <a:prstGeom prst="line">
            <a:avLst/>
          </a:prstGeom>
          <a:noFill/>
          <a:ln w="19050">
            <a:solidFill>
              <a:srgbClr val="9FB6E5"/>
            </a:solidFill>
            <a:prstDash val="solid"/>
          </a:ln>
        </p:spPr>
      </p:sp>
      <p:sp>
        <p:nvSpPr>
          <p:cNvPr id="2030" name="anim_response">
            <a:extLst>
              <a:ext uri="{FF2B5EF4-FFF2-40B4-BE49-F238E27FC236}">
                <a16:creationId xmlns:a16="http://schemas.microsoft.com/office/drawing/2014/main" id="{DDB1791A-9477-4836-8990-AFF25B5AD7F7}"/>
              </a:ext>
            </a:extLst>
          </p:cNvPr>
          <p:cNvSpPr>
            <a:spLocks/>
          </p:cNvSpPr>
          <p:nvPr/>
        </p:nvSpPr>
        <p:spPr>
          <a:xfrm>
            <a:off x="11268075" y="8096250"/>
            <a:ext cx="1428750" cy="438150"/>
          </a:xfrm>
          <a:prstGeom prst="rect">
            <a:avLst/>
          </a:prstGeom>
          <a:solidFill>
            <a:srgbClr val="F7F7F7"/>
          </a:solidFill>
          <a:ln w="13335">
            <a:solidFill>
              <a:srgbClr val="2657C1"/>
            </a:solidFill>
            <a:prstDash val="solid"/>
          </a:ln>
        </p:spPr>
        <p:txBody>
          <a:bodyPr wrap="square" lIns="28575" tIns="28575" rIns="28575" bIns="28575"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HTTP 403</a:t>
            </a:r>
          </a:p>
        </p:txBody>
      </p:sp>
      <p:grpSp>
        <p:nvGrpSpPr>
          <p:cNvPr id="18" name="anim_journal">
            <a:extLst>
              <a:ext uri="{FF2B5EF4-FFF2-40B4-BE49-F238E27FC236}">
                <a16:creationId xmlns:a16="http://schemas.microsoft.com/office/drawing/2014/main" id="{DDEC2637-D1CD-287E-FEDC-8667786C5BCA}"/>
              </a:ext>
            </a:extLst>
          </p:cNvPr>
          <p:cNvGrpSpPr/>
          <p:nvPr/>
        </p:nvGrpSpPr>
        <p:grpSpPr>
          <a:xfrm>
            <a:off x="13239750" y="8096250"/>
            <a:ext cx="3190875" cy="838200"/>
            <a:chOff x="13239750" y="8096250"/>
            <a:chExt cx="3190875" cy="838200"/>
          </a:xfrm>
        </p:grpSpPr>
        <p:sp>
          <p:nvSpPr>
            <p:cNvPr id="2031" name="journal">
              <a:extLst>
                <a:ext uri="{FF2B5EF4-FFF2-40B4-BE49-F238E27FC236}">
                  <a16:creationId xmlns:a16="http://schemas.microsoft.com/office/drawing/2014/main" id="{710E891B-DA7D-4D13-87A3-84835A9EC019}"/>
                </a:ext>
              </a:extLst>
            </p:cNvPr>
            <p:cNvSpPr>
              <a:spLocks/>
            </p:cNvSpPr>
            <p:nvPr/>
          </p:nvSpPr>
          <p:spPr>
            <a:xfrm>
              <a:off x="13239750" y="8096250"/>
              <a:ext cx="3190875" cy="400050"/>
            </a:xfrm>
            <a:prstGeom prst="rect">
              <a:avLst/>
            </a:prstGeom>
            <a:noFill/>
            <a:ln w="9525">
              <a:noFill/>
              <a:prstDash val="solid"/>
            </a:ln>
          </p:spPr>
          <p:txBody>
            <a:bodyPr wrap="square" lIns="0" tIns="0" rIns="0" bIns="0" anchor="ctr">
              <a:noAutofit/>
            </a:bodyPr>
            <a:lstStyle>
              <a:defPPr algn="l">
                <a:defRPr sz="2025">
                  <a:solidFill>
                    <a:srgbClr val="2657C1"/>
                  </a:solidFill>
                  <a:latin typeface="TT Fors Bold"/>
                  <a:ea typeface="TT Fors Bold"/>
                  <a:cs typeface="TT Fors Bold"/>
                </a:defRPr>
              </a:defPPr>
            </a:lstStyle>
            <a:p>
              <a:pPr algn="l">
                <a:defRPr sz="2025">
                  <a:solidFill>
                    <a:srgbClr val="2657C1"/>
                  </a:solidFill>
                  <a:latin typeface="TT Fors Bold"/>
                  <a:ea typeface="TT Fors Bold"/>
                  <a:cs typeface="TT Fors Bold"/>
                </a:defRPr>
              </a:pPr>
              <a:r>
                <a:rPr sz="2025">
                  <a:solidFill>
                    <a:srgbClr val="2657C1"/>
                  </a:solidFill>
                  <a:latin typeface="TT Fors Bold"/>
                  <a:ea typeface="TT Fors Bold"/>
                  <a:cs typeface="TT Fors Bold"/>
                </a:rPr>
                <a:t>Événement consigné</a:t>
              </a:r>
            </a:p>
          </p:txBody>
        </p:sp>
        <p:sp>
          <p:nvSpPr>
            <p:cNvPr id="2032" name="journal_sub">
              <a:extLst>
                <a:ext uri="{FF2B5EF4-FFF2-40B4-BE49-F238E27FC236}">
                  <a16:creationId xmlns:a16="http://schemas.microsoft.com/office/drawing/2014/main" id="{60CF4C66-E5AA-46B4-BBCA-AE55A55F6266}"/>
                </a:ext>
              </a:extLst>
            </p:cNvPr>
            <p:cNvSpPr>
              <a:spLocks/>
            </p:cNvSpPr>
            <p:nvPr/>
          </p:nvSpPr>
          <p:spPr>
            <a:xfrm>
              <a:off x="13239750" y="8591550"/>
              <a:ext cx="3190875" cy="342900"/>
            </a:xfrm>
            <a:prstGeom prst="rect">
              <a:avLst/>
            </a:prstGeom>
            <a:noFill/>
            <a:ln w="9525">
              <a:noFill/>
              <a:prstDash val="solid"/>
            </a:ln>
          </p:spPr>
          <p:txBody>
            <a:bodyPr wrap="square" lIns="0" tIns="0" rIns="0" bIns="0" anchor="ctr">
              <a:noAutofit/>
            </a:bodyPr>
            <a:lstStyle>
              <a:defPPr algn="l">
                <a:defRPr sz="1725">
                  <a:solidFill>
                    <a:srgbClr val="2657C1"/>
                  </a:solidFill>
                  <a:latin typeface="TT Fors"/>
                  <a:ea typeface="TT Fors"/>
                  <a:cs typeface="TT Fors"/>
                </a:defRPr>
              </a:defPPr>
            </a:lstStyle>
            <a:p>
              <a:pPr algn="l">
                <a:defRPr sz="1725">
                  <a:solidFill>
                    <a:srgbClr val="2657C1"/>
                  </a:solidFill>
                  <a:latin typeface="TT Fors"/>
                  <a:ea typeface="TT Fors"/>
                  <a:cs typeface="TT Fors"/>
                </a:defRPr>
              </a:pPr>
              <a:r>
                <a:rPr sz="1725">
                  <a:solidFill>
                    <a:srgbClr val="2657C1"/>
                  </a:solidFill>
                  <a:latin typeface="TT Fors"/>
                  <a:ea typeface="TT Fors"/>
                  <a:cs typeface="TT Fors"/>
                </a:rPr>
                <a:t>Trace minimisée</a:t>
              </a:r>
            </a:p>
          </p:txBody>
        </p:sp>
      </p:grpSp>
      <p:sp>
        <p:nvSpPr>
          <p:cNvPr id="2033" name="anim_conclusion">
            <a:extLst>
              <a:ext uri="{FF2B5EF4-FFF2-40B4-BE49-F238E27FC236}">
                <a16:creationId xmlns:a16="http://schemas.microsoft.com/office/drawing/2014/main" id="{087C2B55-2923-47F1-88B7-213D5155B96B}"/>
              </a:ext>
            </a:extLst>
          </p:cNvPr>
          <p:cNvSpPr>
            <a:spLocks/>
          </p:cNvSpPr>
          <p:nvPr/>
        </p:nvSpPr>
        <p:spPr>
          <a:xfrm>
            <a:off x="8286750" y="9077325"/>
            <a:ext cx="7810500" cy="466725"/>
          </a:xfrm>
          <a:prstGeom prst="rect">
            <a:avLst/>
          </a:prstGeom>
          <a:noFill/>
          <a:ln w="9525">
            <a:noFill/>
            <a:prstDash val="solid"/>
          </a:ln>
        </p:spPr>
        <p:txBody>
          <a:bodyPr wrap="square" lIns="0" tIns="0" rIns="0" bIns="0" anchor="ctr">
            <a:noAutofit/>
          </a:bodyPr>
          <a:lstStyle>
            <a:defPPr algn="l">
              <a:defRPr sz="2025">
                <a:solidFill>
                  <a:srgbClr val="2657C1"/>
                </a:solidFill>
                <a:latin typeface="TT Fors Bold"/>
                <a:ea typeface="TT Fors Bold"/>
                <a:cs typeface="TT Fors Bold"/>
              </a:defRPr>
            </a:defPPr>
          </a:lstStyle>
          <a:p>
            <a:pPr algn="l">
              <a:defRPr sz="2025">
                <a:solidFill>
                  <a:srgbClr val="2657C1"/>
                </a:solidFill>
                <a:latin typeface="TT Fors Bold"/>
                <a:ea typeface="TT Fors Bold"/>
                <a:cs typeface="TT Fors Bold"/>
              </a:defRPr>
            </a:pPr>
            <a:r>
              <a:rPr sz="2025">
                <a:solidFill>
                  <a:srgbClr val="2657C1"/>
                </a:solidFill>
                <a:latin typeface="TT Fors Bold"/>
                <a:ea typeface="TT Fors Bold"/>
                <a:cs typeface="TT Fors Bold"/>
              </a:rPr>
              <a:t>Aucun accès SQL pour cette requête.</a:t>
            </a:r>
          </a:p>
        </p:txBody>
      </p:sp>
      <p:sp>
        <p:nvSpPr>
          <p:cNvPr id="2034" name="anim_phase_1">
            <a:extLst>
              <a:ext uri="{FF2B5EF4-FFF2-40B4-BE49-F238E27FC236}">
                <a16:creationId xmlns:a16="http://schemas.microsoft.com/office/drawing/2014/main" id="{6D0FF6F6-6A1C-488E-9DFB-093C938DBB3F}"/>
              </a:ext>
            </a:extLst>
          </p:cNvPr>
          <p:cNvSpPr>
            <a:spLocks/>
          </p:cNvSpPr>
          <p:nvPr/>
        </p:nvSpPr>
        <p:spPr>
          <a:xfrm>
            <a:off x="1028700" y="649605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01   Saisie</a:t>
            </a:r>
          </a:p>
        </p:txBody>
      </p:sp>
      <p:sp>
        <p:nvSpPr>
          <p:cNvPr id="2035" name="anim_phase_2">
            <a:extLst>
              <a:ext uri="{FF2B5EF4-FFF2-40B4-BE49-F238E27FC236}">
                <a16:creationId xmlns:a16="http://schemas.microsoft.com/office/drawing/2014/main" id="{677727B5-601D-45AE-96A5-FFE9A528FF57}"/>
              </a:ext>
            </a:extLst>
          </p:cNvPr>
          <p:cNvSpPr>
            <a:spLocks/>
          </p:cNvSpPr>
          <p:nvPr/>
        </p:nvSpPr>
        <p:spPr>
          <a:xfrm>
            <a:off x="1028700" y="704850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02   Signature reconnue</a:t>
            </a:r>
          </a:p>
        </p:txBody>
      </p:sp>
      <p:sp>
        <p:nvSpPr>
          <p:cNvPr id="2036" name="anim_phase_3">
            <a:extLst>
              <a:ext uri="{FF2B5EF4-FFF2-40B4-BE49-F238E27FC236}">
                <a16:creationId xmlns:a16="http://schemas.microsoft.com/office/drawing/2014/main" id="{B4BE6FEA-57DD-4176-AC92-F759EA815E42}"/>
              </a:ext>
            </a:extLst>
          </p:cNvPr>
          <p:cNvSpPr>
            <a:spLocks/>
          </p:cNvSpPr>
          <p:nvPr/>
        </p:nvSpPr>
        <p:spPr>
          <a:xfrm>
            <a:off x="1028700" y="760095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03   Arrêt du traitement</a:t>
            </a:r>
          </a:p>
        </p:txBody>
      </p:sp>
      <p:sp>
        <p:nvSpPr>
          <p:cNvPr id="2037" name="anim_phase_4">
            <a:extLst>
              <a:ext uri="{FF2B5EF4-FFF2-40B4-BE49-F238E27FC236}">
                <a16:creationId xmlns:a16="http://schemas.microsoft.com/office/drawing/2014/main" id="{A5F3436F-34E3-4F7F-9B2F-977DBB636108}"/>
              </a:ext>
            </a:extLst>
          </p:cNvPr>
          <p:cNvSpPr>
            <a:spLocks/>
          </p:cNvSpPr>
          <p:nvPr/>
        </p:nvSpPr>
        <p:spPr>
          <a:xfrm>
            <a:off x="1028700" y="815340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04   Réponse et journal</a:t>
            </a:r>
          </a:p>
        </p:txBody>
      </p:sp>
    </p:spTree>
  </p:cSld>
  <p:clrMapOvr>
    <a:masterClrMapping/>
  </p:clrMapOvr>
  <mc:AlternateContent xmlns:mc="http://schemas.openxmlformats.org/markup-compatibility/2006">
    <mc:Choice xmlns:p14="http://schemas.microsoft.com/office/powerpoint/2010/main" Requires="p14">
      <p:transition p14:dur="40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par>
                                <p:cTn id="8" presetID="0" presetClass="entr" presetSubtype="0" accel="22000" decel="25000" fill="hold" grpId="1" nodeType="withEffect">
                                  <p:stCondLst>
                                    <p:cond delay="0"/>
                                  </p:stCondLst>
                                  <p:childTnLst>
                                    <p:set>
                                      <p:cBhvr>
                                        <p:cTn id="9" dur="1" fill="hold">
                                          <p:stCondLst>
                                            <p:cond delay="449"/>
                                          </p:stCondLst>
                                        </p:cTn>
                                        <p:tgtEl>
                                          <p:spTgt spid="12"/>
                                        </p:tgtEl>
                                        <p:attrNameLst>
                                          <p:attrName>style.visibility</p:attrName>
                                        </p:attrNameLst>
                                      </p:cBhvr>
                                      <p:to>
                                        <p:strVal val="visible"/>
                                      </p:to>
                                    </p:set>
                                    <p:animMotion origin="layout" path="M 0 0.01111111 L 0 0 E" pathEditMode="relative">
                                      <p:cBhvr from="" to="">
                                        <p:cTn id="10" dur="450" fill="hold">
                                          <p:stCondLst>
                                            <p:cond delay="0"/>
                                          </p:stCondLst>
                                        </p:cTn>
                                        <p:tgtEl>
                                          <p:spTgt spid="12"/>
                                        </p:tgtEl>
                                        <p:attrNameLst>
                                          <p:attrName>ppt_x</p:attrName>
                                          <p:attrName>ppt_y</p:attrName>
                                        </p:attrNameLst>
                                      </p:cBhvr>
                                    </p:animMotion>
                                  </p:childTnLst>
                                </p:cTn>
                              </p:par>
                            </p:childTnLst>
                          </p:cTn>
                        </p:par>
                        <p:par>
                          <p:cTn id="11"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2001"/>
                                        </p:tgtEl>
                                        <p:attrNameLst>
                                          <p:attrName>style.visibility</p:attrName>
                                        </p:attrNameLst>
                                      </p:cBhvr>
                                      <p:to>
                                        <p:strVal val="visible"/>
                                      </p:to>
                                    </p:set>
                                    <p:animEffect transition="in" filter="fade">
                                      <p:cBhvr>
                                        <p:cTn id="14" dur="320"/>
                                        <p:tgtEl>
                                          <p:spTgt spid="200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iterate type="lt">
                                    <p:tmPct val="10000"/>
                                  </p:iterate>
                                  <p:childTnLst>
                                    <p:set>
                                      <p:cBhvr>
                                        <p:cTn id="18" dur="1" fill="hold">
                                          <p:stCondLst>
                                            <p:cond delay="0"/>
                                          </p:stCondLst>
                                        </p:cTn>
                                        <p:tgtEl>
                                          <p:spTgt spid="2019"/>
                                        </p:tgtEl>
                                        <p:attrNameLst>
                                          <p:attrName>style.visibility</p:attrName>
                                        </p:attrNameLst>
                                      </p:cBhvr>
                                      <p:to>
                                        <p:strVal val="visible"/>
                                      </p:to>
                                    </p:set>
                                    <p:animEffect transition="in" filter="fade">
                                      <p:cBhvr>
                                        <p:cTn id="19" dur="500"/>
                                        <p:tgtEl>
                                          <p:spTgt spid="20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34"/>
                                        </p:tgtEl>
                                        <p:attrNameLst>
                                          <p:attrName>style.visibility</p:attrName>
                                        </p:attrNameLst>
                                      </p:cBhvr>
                                      <p:to>
                                        <p:strVal val="visible"/>
                                      </p:to>
                                    </p:set>
                                    <p:animEffect transition="in" filter="fade">
                                      <p:cBhvr>
                                        <p:cTn id="22" dur="350"/>
                                        <p:tgtEl>
                                          <p:spTgt spid="2034"/>
                                        </p:tgtEl>
                                      </p:cBhvr>
                                    </p:animEffect>
                                  </p:childTnLst>
                                </p:cTn>
                              </p:par>
                              <p:par>
                                <p:cTn id="23" presetID="0" presetClass="entr" presetSubtype="0" accel="22000" decel="25000" fill="hold" grpId="1" nodeType="withEffect">
                                  <p:stCondLst>
                                    <p:cond delay="0"/>
                                  </p:stCondLst>
                                  <p:childTnLst>
                                    <p:set>
                                      <p:cBhvr>
                                        <p:cTn id="24" dur="1" fill="hold">
                                          <p:stCondLst>
                                            <p:cond delay="449"/>
                                          </p:stCondLst>
                                        </p:cTn>
                                        <p:tgtEl>
                                          <p:spTgt spid="2034"/>
                                        </p:tgtEl>
                                        <p:attrNameLst>
                                          <p:attrName>style.visibility</p:attrName>
                                        </p:attrNameLst>
                                      </p:cBhvr>
                                      <p:to>
                                        <p:strVal val="visible"/>
                                      </p:to>
                                    </p:set>
                                    <p:animMotion origin="layout" path="M 0 0.01111111 L 0 0 E" pathEditMode="relative">
                                      <p:cBhvr from="" to="">
                                        <p:cTn id="25" dur="450" fill="hold">
                                          <p:stCondLst>
                                            <p:cond delay="0"/>
                                          </p:stCondLst>
                                        </p:cTn>
                                        <p:tgtEl>
                                          <p:spTgt spid="2034"/>
                                        </p:tgtEl>
                                        <p:attrNameLst>
                                          <p:attrName>ppt_x</p:attrName>
                                          <p:attrName>ppt_y</p:attrName>
                                        </p:attrNameLst>
                                      </p:cBhvr>
                                    </p:animMotion>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20"/>
                                        </p:tgtEl>
                                        <p:attrNameLst>
                                          <p:attrName>style.visibility</p:attrName>
                                        </p:attrNameLst>
                                      </p:cBhvr>
                                      <p:to>
                                        <p:strVal val="visible"/>
                                      </p:to>
                                    </p:set>
                                    <p:animEffect transition="in" filter="fade">
                                      <p:cBhvr>
                                        <p:cTn id="30" dur="320"/>
                                        <p:tgtEl>
                                          <p:spTgt spid="2020"/>
                                        </p:tgtEl>
                                      </p:cBhvr>
                                    </p:animEffect>
                                  </p:childTnLst>
                                </p:cTn>
                              </p:par>
                            </p:childTnLst>
                          </p:cTn>
                        </p:par>
                        <p:par>
                          <p:cTn id="31" fill="hold">
                            <p:stCondLst>
                              <p:cond delay="320"/>
                            </p:stCondLst>
                            <p:childTnLst>
                              <p:par>
                                <p:cTn id="32" presetID="0" presetClass="entr" presetSubtype="0" accel="22000" decel="25000" fill="hold" grpId="1" nodeType="afterEffect">
                                  <p:stCondLst>
                                    <p:cond delay="0"/>
                                  </p:stCondLst>
                                  <p:childTnLst>
                                    <p:set>
                                      <p:cBhvr>
                                        <p:cTn id="33" dur="1" fill="hold">
                                          <p:stCondLst>
                                            <p:cond delay="649"/>
                                          </p:stCondLst>
                                        </p:cTn>
                                        <p:tgtEl>
                                          <p:spTgt spid="2020"/>
                                        </p:tgtEl>
                                        <p:attrNameLst>
                                          <p:attrName>style.visibility</p:attrName>
                                        </p:attrNameLst>
                                      </p:cBhvr>
                                      <p:to>
                                        <p:strVal val="visible"/>
                                      </p:to>
                                    </p:set>
                                    <p:animMotion origin="layout" path="M 0 0 L 0.03020833 0 E" pathEditMode="relative">
                                      <p:cBhvr from="" to="">
                                        <p:cTn id="34" dur="650" fill="hold">
                                          <p:stCondLst>
                                            <p:cond delay="0"/>
                                          </p:stCondLst>
                                        </p:cTn>
                                        <p:tgtEl>
                                          <p:spTgt spid="2020"/>
                                        </p:tgtEl>
                                        <p:attrNameLst>
                                          <p:attrName>ppt_x</p:attrName>
                                          <p:attrName>ppt_y</p:attrName>
                                        </p:attrNameLst>
                                      </p:cBhvr>
                                    </p:animMotion>
                                  </p:childTnLst>
                                </p:cTn>
                              </p:par>
                            </p:childTnLst>
                          </p:cTn>
                        </p:par>
                        <p:par>
                          <p:cTn id="35" fill="hold">
                            <p:stCondLst>
                              <p:cond delay="970"/>
                            </p:stCondLst>
                            <p:childTnLst>
                              <p:par>
                                <p:cTn id="36" presetID="10" presetClass="exit" presetSubtype="0" fill="hold" grpId="2" nodeType="afterEffect">
                                  <p:stCondLst>
                                    <p:cond delay="0"/>
                                  </p:stCondLst>
                                  <p:childTnLst>
                                    <p:animEffect transition="out" filter="fade">
                                      <p:cBhvr>
                                        <p:cTn id="37" dur="500"/>
                                        <p:tgtEl>
                                          <p:spTgt spid="2020"/>
                                        </p:tgtEl>
                                      </p:cBhvr>
                                    </p:animEffect>
                                    <p:set>
                                      <p:cBhvr>
                                        <p:cTn id="38" dur="1" fill="hold">
                                          <p:stCondLst>
                                            <p:cond delay="499"/>
                                          </p:stCondLst>
                                        </p:cTn>
                                        <p:tgtEl>
                                          <p:spTgt spid="2020"/>
                                        </p:tgtEl>
                                        <p:attrNameLst>
                                          <p:attrName>style.visibility</p:attrName>
                                        </p:attrNameLst>
                                      </p:cBhvr>
                                      <p:to>
                                        <p:strVal val="hidden"/>
                                      </p:to>
                                    </p:set>
                                  </p:childTnLst>
                                </p:cTn>
                              </p:par>
                            </p:childTnLst>
                          </p:cTn>
                        </p:par>
                        <p:par>
                          <p:cTn id="39" fill="hold">
                            <p:stCondLst>
                              <p:cond delay="1470"/>
                            </p:stCondLst>
                            <p:childTnLst>
                              <p:par>
                                <p:cTn id="40" presetID="10" presetClass="entr" presetSubtype="0" fill="hold"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350"/>
                                        <p:tgtEl>
                                          <p:spTgt spid="9"/>
                                        </p:tgtEl>
                                      </p:cBhvr>
                                    </p:animEffect>
                                  </p:childTnLst>
                                </p:cTn>
                              </p:par>
                              <p:par>
                                <p:cTn id="43" presetID="0" presetClass="entr" presetSubtype="0" accel="22000" decel="25000" fill="hold" nodeType="withEffect">
                                  <p:stCondLst>
                                    <p:cond delay="0"/>
                                  </p:stCondLst>
                                  <p:childTnLst>
                                    <p:set>
                                      <p:cBhvr>
                                        <p:cTn id="44" dur="1" fill="hold">
                                          <p:stCondLst>
                                            <p:cond delay="449"/>
                                          </p:stCondLst>
                                        </p:cTn>
                                        <p:tgtEl>
                                          <p:spTgt spid="9"/>
                                        </p:tgtEl>
                                        <p:attrNameLst>
                                          <p:attrName>style.visibility</p:attrName>
                                        </p:attrNameLst>
                                      </p:cBhvr>
                                      <p:to>
                                        <p:strVal val="visible"/>
                                      </p:to>
                                    </p:set>
                                    <p:animMotion origin="layout" path="M 0 0.01111111 L 0 0 E" pathEditMode="relative">
                                      <p:cBhvr from="" to="">
                                        <p:cTn id="45" dur="450" fill="hold">
                                          <p:stCondLst>
                                            <p:cond delay="0"/>
                                          </p:stCondLst>
                                        </p:cTn>
                                        <p:tgtEl>
                                          <p:spTgt spid="9"/>
                                        </p:tgtEl>
                                        <p:attrNameLst>
                                          <p:attrName>ppt_x</p:attrName>
                                          <p:attrName>ppt_y</p:attrName>
                                        </p:attrNameLst>
                                      </p:cBhvr>
                                    </p:animMotion>
                                  </p:childTnLst>
                                </p:cTn>
                              </p:par>
                              <p:par>
                                <p:cTn id="46" presetID="10" presetClass="entr" presetSubtype="0" fill="hold" grpId="0" nodeType="withEffect">
                                  <p:stCondLst>
                                    <p:cond delay="0"/>
                                  </p:stCondLst>
                                  <p:childTnLst>
                                    <p:set>
                                      <p:cBhvr>
                                        <p:cTn id="47" dur="1" fill="hold">
                                          <p:stCondLst>
                                            <p:cond delay="0"/>
                                          </p:stCondLst>
                                        </p:cTn>
                                        <p:tgtEl>
                                          <p:spTgt spid="2035"/>
                                        </p:tgtEl>
                                        <p:attrNameLst>
                                          <p:attrName>style.visibility</p:attrName>
                                        </p:attrNameLst>
                                      </p:cBhvr>
                                      <p:to>
                                        <p:strVal val="visible"/>
                                      </p:to>
                                    </p:set>
                                    <p:animEffect transition="in" filter="fade">
                                      <p:cBhvr>
                                        <p:cTn id="48" dur="350"/>
                                        <p:tgtEl>
                                          <p:spTgt spid="2035"/>
                                        </p:tgtEl>
                                      </p:cBhvr>
                                    </p:animEffect>
                                  </p:childTnLst>
                                </p:cTn>
                              </p:par>
                              <p:par>
                                <p:cTn id="49" presetID="0" presetClass="entr" presetSubtype="0" accel="22000" decel="25000" fill="hold" grpId="1" nodeType="withEffect">
                                  <p:stCondLst>
                                    <p:cond delay="0"/>
                                  </p:stCondLst>
                                  <p:childTnLst>
                                    <p:set>
                                      <p:cBhvr>
                                        <p:cTn id="50" dur="1" fill="hold">
                                          <p:stCondLst>
                                            <p:cond delay="449"/>
                                          </p:stCondLst>
                                        </p:cTn>
                                        <p:tgtEl>
                                          <p:spTgt spid="2035"/>
                                        </p:tgtEl>
                                        <p:attrNameLst>
                                          <p:attrName>style.visibility</p:attrName>
                                        </p:attrNameLst>
                                      </p:cBhvr>
                                      <p:to>
                                        <p:strVal val="visible"/>
                                      </p:to>
                                    </p:set>
                                    <p:animMotion origin="layout" path="M 0 0.01111111 L 0 0 E" pathEditMode="relative">
                                      <p:cBhvr from="" to="">
                                        <p:cTn id="51" dur="450" fill="hold">
                                          <p:stCondLst>
                                            <p:cond delay="0"/>
                                          </p:stCondLst>
                                        </p:cTn>
                                        <p:tgtEl>
                                          <p:spTgt spid="2035"/>
                                        </p:tgtEl>
                                        <p:attrNameLst>
                                          <p:attrName>ppt_x</p:attrName>
                                          <p:attrName>ppt_y</p:attrName>
                                        </p:attrNameLst>
                                      </p:cBhvr>
                                    </p:animMotion>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wipe(down)">
                                      <p:cBhvr>
                                        <p:cTn id="56" dur="500"/>
                                        <p:tgtEl>
                                          <p:spTgt spid="1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36"/>
                                        </p:tgtEl>
                                        <p:attrNameLst>
                                          <p:attrName>style.visibility</p:attrName>
                                        </p:attrNameLst>
                                      </p:cBhvr>
                                      <p:to>
                                        <p:strVal val="visible"/>
                                      </p:to>
                                    </p:set>
                                    <p:animEffect transition="in" filter="fade">
                                      <p:cBhvr>
                                        <p:cTn id="59" dur="350"/>
                                        <p:tgtEl>
                                          <p:spTgt spid="2036"/>
                                        </p:tgtEl>
                                      </p:cBhvr>
                                    </p:animEffect>
                                  </p:childTnLst>
                                </p:cTn>
                              </p:par>
                              <p:par>
                                <p:cTn id="60" presetID="0" presetClass="entr" presetSubtype="0" accel="22000" decel="25000" fill="hold" grpId="1" nodeType="withEffect">
                                  <p:stCondLst>
                                    <p:cond delay="0"/>
                                  </p:stCondLst>
                                  <p:childTnLst>
                                    <p:set>
                                      <p:cBhvr>
                                        <p:cTn id="61" dur="1" fill="hold">
                                          <p:stCondLst>
                                            <p:cond delay="449"/>
                                          </p:stCondLst>
                                        </p:cTn>
                                        <p:tgtEl>
                                          <p:spTgt spid="2036"/>
                                        </p:tgtEl>
                                        <p:attrNameLst>
                                          <p:attrName>style.visibility</p:attrName>
                                        </p:attrNameLst>
                                      </p:cBhvr>
                                      <p:to>
                                        <p:strVal val="visible"/>
                                      </p:to>
                                    </p:set>
                                    <p:animMotion origin="layout" path="M 0 0.01111111 L 0 0 E" pathEditMode="relative">
                                      <p:cBhvr from="" to="">
                                        <p:cTn id="62" dur="450" fill="hold">
                                          <p:stCondLst>
                                            <p:cond delay="0"/>
                                          </p:stCondLst>
                                        </p:cTn>
                                        <p:tgtEl>
                                          <p:spTgt spid="2036"/>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030"/>
                                        </p:tgtEl>
                                        <p:attrNameLst>
                                          <p:attrName>style.visibility</p:attrName>
                                        </p:attrNameLst>
                                      </p:cBhvr>
                                      <p:to>
                                        <p:strVal val="visible"/>
                                      </p:to>
                                    </p:set>
                                    <p:animEffect transition="in" filter="fade">
                                      <p:cBhvr>
                                        <p:cTn id="67" dur="320"/>
                                        <p:tgtEl>
                                          <p:spTgt spid="2030"/>
                                        </p:tgtEl>
                                      </p:cBhvr>
                                    </p:animEffect>
                                  </p:childTnLst>
                                </p:cTn>
                              </p:par>
                            </p:childTnLst>
                          </p:cTn>
                        </p:par>
                        <p:par>
                          <p:cTn id="68" fill="hold">
                            <p:stCondLst>
                              <p:cond delay="320"/>
                            </p:stCondLst>
                            <p:childTnLst>
                              <p:par>
                                <p:cTn id="69" presetID="0" presetClass="entr" presetSubtype="0" accel="22000" decel="25000" fill="hold" grpId="1" nodeType="afterEffect">
                                  <p:stCondLst>
                                    <p:cond delay="0"/>
                                  </p:stCondLst>
                                  <p:childTnLst>
                                    <p:set>
                                      <p:cBhvr>
                                        <p:cTn id="70" dur="1" fill="hold">
                                          <p:stCondLst>
                                            <p:cond delay="749"/>
                                          </p:stCondLst>
                                        </p:cTn>
                                        <p:tgtEl>
                                          <p:spTgt spid="2030"/>
                                        </p:tgtEl>
                                        <p:attrNameLst>
                                          <p:attrName>style.visibility</p:attrName>
                                        </p:attrNameLst>
                                      </p:cBhvr>
                                      <p:to>
                                        <p:strVal val="visible"/>
                                      </p:to>
                                    </p:set>
                                    <p:animMotion origin="layout" path="M 0 0 L -0.10677083 0 E" pathEditMode="relative">
                                      <p:cBhvr from="" to="">
                                        <p:cTn id="71" dur="750" fill="hold">
                                          <p:stCondLst>
                                            <p:cond delay="0"/>
                                          </p:stCondLst>
                                        </p:cTn>
                                        <p:tgtEl>
                                          <p:spTgt spid="2030"/>
                                        </p:tgtEl>
                                        <p:attrNameLst>
                                          <p:attrName>ppt_x</p:attrName>
                                          <p:attrName>ppt_y</p:attrName>
                                        </p:attrNameLst>
                                      </p:cBhvr>
                                    </p:animMotion>
                                  </p:childTnLst>
                                </p:cTn>
                              </p:par>
                            </p:childTnLst>
                          </p:cTn>
                        </p:par>
                        <p:par>
                          <p:cTn id="72" fill="hold">
                            <p:stCondLst>
                              <p:cond delay="1070"/>
                            </p:stCondLst>
                            <p:childTnLst>
                              <p:par>
                                <p:cTn id="73" presetID="10" presetClass="exit" presetSubtype="0" fill="hold" grpId="2" nodeType="afterEffect">
                                  <p:stCondLst>
                                    <p:cond delay="0"/>
                                  </p:stCondLst>
                                  <p:childTnLst>
                                    <p:animEffect transition="out" filter="fade">
                                      <p:cBhvr>
                                        <p:cTn id="74" dur="500"/>
                                        <p:tgtEl>
                                          <p:spTgt spid="2030"/>
                                        </p:tgtEl>
                                      </p:cBhvr>
                                    </p:animEffect>
                                    <p:set>
                                      <p:cBhvr>
                                        <p:cTn id="75" dur="1" fill="hold">
                                          <p:stCondLst>
                                            <p:cond delay="499"/>
                                          </p:stCondLst>
                                        </p:cTn>
                                        <p:tgtEl>
                                          <p:spTgt spid="2030"/>
                                        </p:tgtEl>
                                        <p:attrNameLst>
                                          <p:attrName>style.visibility</p:attrName>
                                        </p:attrNameLst>
                                      </p:cBhvr>
                                      <p:to>
                                        <p:strVal val="hidden"/>
                                      </p:to>
                                    </p:set>
                                  </p:childTnLst>
                                </p:cTn>
                              </p:par>
                              <p:par>
                                <p:cTn id="76" presetID="10" presetClass="entr" presetSubtype="0" fill="hold"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350"/>
                                        <p:tgtEl>
                                          <p:spTgt spid="18"/>
                                        </p:tgtEl>
                                      </p:cBhvr>
                                    </p:animEffect>
                                  </p:childTnLst>
                                </p:cTn>
                              </p:par>
                              <p:par>
                                <p:cTn id="79" presetID="0" presetClass="entr" presetSubtype="0" accel="22000" decel="25000" fill="hold" nodeType="withEffect">
                                  <p:stCondLst>
                                    <p:cond delay="0"/>
                                  </p:stCondLst>
                                  <p:childTnLst>
                                    <p:set>
                                      <p:cBhvr>
                                        <p:cTn id="80" dur="1" fill="hold">
                                          <p:stCondLst>
                                            <p:cond delay="449"/>
                                          </p:stCondLst>
                                        </p:cTn>
                                        <p:tgtEl>
                                          <p:spTgt spid="18"/>
                                        </p:tgtEl>
                                        <p:attrNameLst>
                                          <p:attrName>style.visibility</p:attrName>
                                        </p:attrNameLst>
                                      </p:cBhvr>
                                      <p:to>
                                        <p:strVal val="visible"/>
                                      </p:to>
                                    </p:set>
                                    <p:animMotion origin="layout" path="M 0 0.01111111 L 0 0 E" pathEditMode="relative">
                                      <p:cBhvr from="" to="">
                                        <p:cTn id="81" dur="450" fill="hold">
                                          <p:stCondLst>
                                            <p:cond delay="0"/>
                                          </p:stCondLst>
                                        </p:cTn>
                                        <p:tgtEl>
                                          <p:spTgt spid="18"/>
                                        </p:tgtEl>
                                        <p:attrNameLst>
                                          <p:attrName>ppt_x</p:attrName>
                                          <p:attrName>ppt_y</p:attrName>
                                        </p:attrNameLst>
                                      </p:cBhvr>
                                    </p:animMotion>
                                  </p:childTnLst>
                                </p:cTn>
                              </p:par>
                            </p:childTnLst>
                          </p:cTn>
                        </p:par>
                        <p:par>
                          <p:cTn id="82" fill="hold">
                            <p:stCondLst>
                              <p:cond delay="1570"/>
                            </p:stCondLst>
                            <p:childTnLst>
                              <p:par>
                                <p:cTn id="83" presetID="10" presetClass="entr" presetSubtype="0" fill="hold" grpId="0" nodeType="afterEffect">
                                  <p:stCondLst>
                                    <p:cond delay="0"/>
                                  </p:stCondLst>
                                  <p:childTnLst>
                                    <p:set>
                                      <p:cBhvr>
                                        <p:cTn id="84" dur="1" fill="hold">
                                          <p:stCondLst>
                                            <p:cond delay="0"/>
                                          </p:stCondLst>
                                        </p:cTn>
                                        <p:tgtEl>
                                          <p:spTgt spid="2033"/>
                                        </p:tgtEl>
                                        <p:attrNameLst>
                                          <p:attrName>style.visibility</p:attrName>
                                        </p:attrNameLst>
                                      </p:cBhvr>
                                      <p:to>
                                        <p:strVal val="visible"/>
                                      </p:to>
                                    </p:set>
                                    <p:animEffect transition="in" filter="fade">
                                      <p:cBhvr>
                                        <p:cTn id="85" dur="350"/>
                                        <p:tgtEl>
                                          <p:spTgt spid="2033"/>
                                        </p:tgtEl>
                                      </p:cBhvr>
                                    </p:animEffect>
                                  </p:childTnLst>
                                </p:cTn>
                              </p:par>
                              <p:par>
                                <p:cTn id="86" presetID="0" presetClass="entr" presetSubtype="0" accel="22000" decel="25000" fill="hold" grpId="1" nodeType="withEffect">
                                  <p:stCondLst>
                                    <p:cond delay="0"/>
                                  </p:stCondLst>
                                  <p:childTnLst>
                                    <p:set>
                                      <p:cBhvr>
                                        <p:cTn id="87" dur="1" fill="hold">
                                          <p:stCondLst>
                                            <p:cond delay="449"/>
                                          </p:stCondLst>
                                        </p:cTn>
                                        <p:tgtEl>
                                          <p:spTgt spid="2033"/>
                                        </p:tgtEl>
                                        <p:attrNameLst>
                                          <p:attrName>style.visibility</p:attrName>
                                        </p:attrNameLst>
                                      </p:cBhvr>
                                      <p:to>
                                        <p:strVal val="visible"/>
                                      </p:to>
                                    </p:set>
                                    <p:animMotion origin="layout" path="M 0 0.01111111 L 0 0 E" pathEditMode="relative">
                                      <p:cBhvr from="" to="">
                                        <p:cTn id="88" dur="450" fill="hold">
                                          <p:stCondLst>
                                            <p:cond delay="0"/>
                                          </p:stCondLst>
                                        </p:cTn>
                                        <p:tgtEl>
                                          <p:spTgt spid="2033"/>
                                        </p:tgtEl>
                                        <p:attrNameLst>
                                          <p:attrName>ppt_x</p:attrName>
                                          <p:attrName>ppt_y</p:attrName>
                                        </p:attrNameLst>
                                      </p:cBhvr>
                                    </p:animMotion>
                                  </p:childTnLst>
                                </p:cTn>
                              </p:par>
                              <p:par>
                                <p:cTn id="89" presetID="10" presetClass="entr" presetSubtype="0" fill="hold" grpId="0" nodeType="withEffect">
                                  <p:stCondLst>
                                    <p:cond delay="0"/>
                                  </p:stCondLst>
                                  <p:childTnLst>
                                    <p:set>
                                      <p:cBhvr>
                                        <p:cTn id="90" dur="1" fill="hold">
                                          <p:stCondLst>
                                            <p:cond delay="0"/>
                                          </p:stCondLst>
                                        </p:cTn>
                                        <p:tgtEl>
                                          <p:spTgt spid="2037"/>
                                        </p:tgtEl>
                                        <p:attrNameLst>
                                          <p:attrName>style.visibility</p:attrName>
                                        </p:attrNameLst>
                                      </p:cBhvr>
                                      <p:to>
                                        <p:strVal val="visible"/>
                                      </p:to>
                                    </p:set>
                                    <p:animEffect transition="in" filter="fade">
                                      <p:cBhvr>
                                        <p:cTn id="91" dur="350"/>
                                        <p:tgtEl>
                                          <p:spTgt spid="2037"/>
                                        </p:tgtEl>
                                      </p:cBhvr>
                                    </p:animEffect>
                                  </p:childTnLst>
                                </p:cTn>
                              </p:par>
                              <p:par>
                                <p:cTn id="92" presetID="0" presetClass="entr" presetSubtype="0" accel="22000" decel="25000" fill="hold" grpId="1" nodeType="withEffect">
                                  <p:stCondLst>
                                    <p:cond delay="0"/>
                                  </p:stCondLst>
                                  <p:childTnLst>
                                    <p:set>
                                      <p:cBhvr>
                                        <p:cTn id="93" dur="1" fill="hold">
                                          <p:stCondLst>
                                            <p:cond delay="449"/>
                                          </p:stCondLst>
                                        </p:cTn>
                                        <p:tgtEl>
                                          <p:spTgt spid="2037"/>
                                        </p:tgtEl>
                                        <p:attrNameLst>
                                          <p:attrName>style.visibility</p:attrName>
                                        </p:attrNameLst>
                                      </p:cBhvr>
                                      <p:to>
                                        <p:strVal val="visible"/>
                                      </p:to>
                                    </p:set>
                                    <p:animMotion origin="layout" path="M 0 0.01111111 L 0 0 E" pathEditMode="relative">
                                      <p:cBhvr from="" to="">
                                        <p:cTn id="94" dur="450" fill="hold">
                                          <p:stCondLst>
                                            <p:cond delay="0"/>
                                          </p:stCondLst>
                                        </p:cTn>
                                        <p:tgtEl>
                                          <p:spTgt spid="203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2001" grpId="0"/>
      <p:bldP spid="2019" grpId="0"/>
      <p:bldP spid="2020" grpId="0" animBg="1"/>
      <p:bldP spid="2020" grpId="1" animBg="1"/>
      <p:bldP spid="2020" grpId="2" animBg="1"/>
      <p:bldP spid="2030" grpId="0" animBg="1"/>
      <p:bldP spid="2030" grpId="1" animBg="1"/>
      <p:bldP spid="2030" grpId="2" animBg="1"/>
      <p:bldP spid="2033" grpId="0"/>
      <p:bldP spid="2033" grpId="1"/>
      <p:bldP spid="2034" grpId="0"/>
      <p:bldP spid="2034" grpId="1"/>
      <p:bldP spid="2035" grpId="0"/>
      <p:bldP spid="2035" grpId="1"/>
      <p:bldP spid="2036" grpId="0"/>
      <p:bldP spid="2036" grpId="1"/>
      <p:bldP spid="2037" grpId="0"/>
      <p:bldP spid="2037"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432612" y="1073634"/>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sp>
      <p:sp>
        <p:nvSpPr>
          <p:cNvPr id="3" name="Freeform 3"/>
          <p:cNvSpPr/>
          <p:nvPr/>
        </p:nvSpPr>
        <p:spPr>
          <a:xfrm>
            <a:off x="-976303" y="8861330"/>
            <a:ext cx="2587045" cy="2587045"/>
          </a:xfrm>
          <a:custGeom>
            <a:avLst/>
            <a:gdLst/>
            <a:ahLst/>
            <a:cxnLst/>
            <a:rect l="l" t="t" r="r" b="b"/>
            <a:pathLst>
              <a:path w="2587045" h="2587045">
                <a:moveTo>
                  <a:pt x="0" y="0"/>
                </a:moveTo>
                <a:lnTo>
                  <a:pt x="2587045" y="0"/>
                </a:lnTo>
                <a:lnTo>
                  <a:pt x="2587045" y="2587045"/>
                </a:lnTo>
                <a:lnTo>
                  <a:pt x="0" y="2587045"/>
                </a:lnTo>
                <a:lnTo>
                  <a:pt x="0" y="0"/>
                </a:lnTo>
                <a:close/>
              </a:path>
            </a:pathLst>
          </a:custGeom>
          <a:blipFill>
            <a:blip r:embed="rId3"/>
            <a:stretch>
              <a:fillRect/>
            </a:stretch>
          </a:blipFill>
        </p:spPr>
      </p:sp>
      <p:sp>
        <p:nvSpPr>
          <p:cNvPr id="4" name="Freeform 4"/>
          <p:cNvSpPr/>
          <p:nvPr/>
        </p:nvSpPr>
        <p:spPr>
          <a:xfrm>
            <a:off x="16261240" y="5240019"/>
            <a:ext cx="1171372" cy="1171372"/>
          </a:xfrm>
          <a:custGeom>
            <a:avLst/>
            <a:gdLst/>
            <a:ahLst/>
            <a:cxnLst/>
            <a:rect l="l" t="t" r="r" b="b"/>
            <a:pathLst>
              <a:path w="1171372" h="1171372">
                <a:moveTo>
                  <a:pt x="0" y="0"/>
                </a:moveTo>
                <a:lnTo>
                  <a:pt x="1171372" y="0"/>
                </a:lnTo>
                <a:lnTo>
                  <a:pt x="1171372" y="1171373"/>
                </a:lnTo>
                <a:lnTo>
                  <a:pt x="0" y="11713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166681" y="8062234"/>
            <a:ext cx="4185238" cy="4185238"/>
          </a:xfrm>
          <a:custGeom>
            <a:avLst/>
            <a:gdLst/>
            <a:ahLst/>
            <a:cxnLst/>
            <a:rect l="l" t="t" r="r" b="b"/>
            <a:pathLst>
              <a:path w="4185238" h="4185238">
                <a:moveTo>
                  <a:pt x="0" y="0"/>
                </a:moveTo>
                <a:lnTo>
                  <a:pt x="4185238" y="0"/>
                </a:lnTo>
                <a:lnTo>
                  <a:pt x="4185238" y="4185238"/>
                </a:lnTo>
                <a:lnTo>
                  <a:pt x="0" y="41852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10" name="TextBox 10"/>
          <p:cNvSpPr txBox="1"/>
          <p:nvPr/>
        </p:nvSpPr>
        <p:spPr>
          <a:xfrm>
            <a:off x="1028700" y="726850"/>
            <a:ext cx="3166518" cy="298159"/>
          </a:xfrm>
          <a:prstGeom prst="rect">
            <a:avLst/>
          </a:prstGeom>
        </p:spPr>
        <p:txBody>
          <a:bodyPr lIns="0" tIns="0" rIns="0" bIns="0" rtlCol="0" anchor="t">
            <a:spAutoFit/>
          </a:bodyPr>
          <a:lstStyle/>
          <a:p>
            <a:pPr algn="l">
              <a:lnSpc>
                <a:spcPts val="2182"/>
              </a:lnSpc>
            </a:pPr>
            <a:r>
              <a:rPr lang="en-US" sz="2250" b="1">
                <a:solidFill>
                  <a:srgbClr val="2657C1"/>
                </a:solidFill>
                <a:latin typeface="TT Fors Bold"/>
                <a:ea typeface="TT Fors Bold"/>
                <a:cs typeface="TT Fors Bold"/>
                <a:sym typeface="TT Fors Bold"/>
              </a:rPr>
              <a:t>CYBERSHIELD AI</a:t>
            </a:r>
          </a:p>
        </p:txBody>
      </p:sp>
      <p:sp>
        <p:nvSpPr>
          <p:cNvPr id="11" name="TextBox 11"/>
          <p:cNvSpPr txBox="1"/>
          <p:nvPr/>
        </p:nvSpPr>
        <p:spPr>
          <a:xfrm>
            <a:off x="9144000" y="631600"/>
            <a:ext cx="1662550"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Projet</a:t>
            </a:r>
          </a:p>
        </p:txBody>
      </p:sp>
      <p:sp>
        <p:nvSpPr>
          <p:cNvPr id="12" name="anim_heading"/>
          <p:cNvSpPr txBox="1"/>
          <p:nvPr/>
        </p:nvSpPr>
        <p:spPr>
          <a:xfrm>
            <a:off x="1028700" y="2430260"/>
            <a:ext cx="6253195" cy="2762134"/>
          </a:xfrm>
          <a:prstGeom prst="rect">
            <a:avLst/>
          </a:prstGeom>
        </p:spPr>
        <p:txBody>
          <a:bodyPr lIns="0" tIns="0" rIns="0" bIns="0" rtlCol="0" anchor="t">
            <a:spAutoFit/>
          </a:bodyPr>
          <a:lstStyle/>
          <a:p>
            <a:pPr algn="l">
              <a:lnSpc>
                <a:spcPts val="10595"/>
              </a:lnSpc>
            </a:pPr>
            <a:r>
              <a:rPr lang="en-US" sz="10922" spc="-109">
                <a:solidFill>
                  <a:srgbClr val="2657C1"/>
                </a:solidFill>
                <a:latin typeface="Etna Sans Serif"/>
                <a:ea typeface="Etna Sans Serif"/>
                <a:cs typeface="Etna Sans Serif"/>
                <a:sym typeface="Etna Sans Serif"/>
              </a:rPr>
              <a:t>Analyse</a:t>
            </a:r>
          </a:p>
          <a:p>
            <a:pPr algn="l">
              <a:lnSpc>
                <a:spcPts val="10595"/>
              </a:lnSpc>
            </a:pPr>
            <a:r>
              <a:rPr lang="en-US" sz="10922" spc="-109">
                <a:solidFill>
                  <a:srgbClr val="2657C1"/>
                </a:solidFill>
                <a:latin typeface="Etna Sans Serif"/>
                <a:ea typeface="Etna Sans Serif"/>
                <a:cs typeface="Etna Sans Serif"/>
                <a:sym typeface="Etna Sans Serif"/>
              </a:rPr>
              <a:t>MLP</a:t>
            </a:r>
          </a:p>
        </p:txBody>
      </p:sp>
      <p:sp>
        <p:nvSpPr>
          <p:cNvPr id="14" name="TextBox 14"/>
          <p:cNvSpPr txBox="1"/>
          <p:nvPr/>
        </p:nvSpPr>
        <p:spPr>
          <a:xfrm>
            <a:off x="13726729" y="631600"/>
            <a:ext cx="1916881"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Résultats</a:t>
            </a:r>
          </a:p>
        </p:txBody>
      </p:sp>
      <p:sp>
        <p:nvSpPr>
          <p:cNvPr id="15" name="TextBox 15"/>
          <p:cNvSpPr txBox="1"/>
          <p:nvPr/>
        </p:nvSpPr>
        <p:spPr>
          <a:xfrm>
            <a:off x="16053186" y="633813"/>
            <a:ext cx="1206114"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Suite</a:t>
            </a:r>
          </a:p>
        </p:txBody>
      </p:sp>
      <p:sp>
        <p:nvSpPr>
          <p:cNvPr id="16" name="TextBox 16"/>
          <p:cNvSpPr txBox="1"/>
          <p:nvPr/>
        </p:nvSpPr>
        <p:spPr>
          <a:xfrm>
            <a:off x="11362447" y="633813"/>
            <a:ext cx="1907082" cy="394403"/>
          </a:xfrm>
          <a:prstGeom prst="rect">
            <a:avLst/>
          </a:prstGeom>
        </p:spPr>
        <p:txBody>
          <a:bodyPr lIns="0" tIns="0" rIns="0" bIns="0" rtlCol="0" anchor="t">
            <a:spAutoFit/>
          </a:bodyPr>
          <a:lstStyle/>
          <a:p>
            <a:pPr marL="0" lvl="0" indent="0" algn="l">
              <a:lnSpc>
                <a:spcPts val="3151"/>
              </a:lnSpc>
              <a:spcBef>
                <a:spcPct val="0"/>
              </a:spcBef>
            </a:pPr>
            <a:r>
              <a:rPr lang="en-US" sz="2251" b="1">
                <a:solidFill>
                  <a:srgbClr val="2657C1"/>
                </a:solidFill>
                <a:latin typeface="TT Fors Bold" panose="020B0604020202020204" charset="0"/>
                <a:ea typeface="TT Fors Bold"/>
                <a:cs typeface="TT Fors Bold"/>
                <a:sym typeface="TT Fors Bold"/>
              </a:rPr>
              <a:t>Solution</a:t>
            </a:r>
          </a:p>
        </p:txBody>
      </p:sp>
      <p:sp>
        <p:nvSpPr>
          <p:cNvPr id="17" name="Freeform 17"/>
          <p:cNvSpPr/>
          <p:nvPr/>
        </p:nvSpPr>
        <p:spPr>
          <a:xfrm>
            <a:off x="8755815" y="3346942"/>
            <a:ext cx="776370" cy="776370"/>
          </a:xfrm>
          <a:custGeom>
            <a:avLst/>
            <a:gdLst/>
            <a:ahLst/>
            <a:cxnLst/>
            <a:rect l="l" t="t" r="r" b="b"/>
            <a:pathLst>
              <a:path w="776370" h="776370">
                <a:moveTo>
                  <a:pt x="0" y="0"/>
                </a:moveTo>
                <a:lnTo>
                  <a:pt x="776370" y="0"/>
                </a:lnTo>
                <a:lnTo>
                  <a:pt x="776370" y="776370"/>
                </a:lnTo>
                <a:lnTo>
                  <a:pt x="0" y="7763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01" name="anim_summary">
            <a:extLst>
              <a:ext uri="{FF2B5EF4-FFF2-40B4-BE49-F238E27FC236}">
                <a16:creationId xmlns:a16="http://schemas.microsoft.com/office/drawing/2014/main" id="{83326CA6-029E-414B-B349-DF04EC8436CA}"/>
              </a:ext>
            </a:extLst>
          </p:cNvPr>
          <p:cNvSpPr>
            <a:spLocks/>
          </p:cNvSpPr>
          <p:nvPr/>
        </p:nvSpPr>
        <p:spPr>
          <a:xfrm>
            <a:off x="1028700" y="5410200"/>
            <a:ext cx="6257925" cy="99060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a:ea typeface="TT Fors"/>
                <a:cs typeface="TT Fors"/>
              </a:defRPr>
            </a:defPPr>
          </a:lstStyle>
          <a:p>
            <a:pPr algn="l">
              <a:defRPr sz="2100">
                <a:solidFill>
                  <a:srgbClr val="2657C1"/>
                </a:solidFill>
                <a:latin typeface="TT Fors"/>
                <a:ea typeface="TT Fors"/>
                <a:cs typeface="TT Fors"/>
              </a:defRPr>
            </a:pPr>
            <a:r>
              <a:rPr sz="2100">
                <a:solidFill>
                  <a:srgbClr val="2657C1"/>
                </a:solidFill>
                <a:latin typeface="TT Fors"/>
                <a:ea typeface="TT Fors"/>
                <a:cs typeface="TT Fors"/>
              </a:rPr>
              <a:t>Deux issues selon le score. Parcours conditionnel en mode blocage : score non mesuré pour cet exemple.</a:t>
            </a:r>
          </a:p>
        </p:txBody>
      </p:sp>
      <p:sp>
        <p:nvSpPr>
          <p:cNvPr id="2002" name="browser_label">
            <a:extLst>
              <a:ext uri="{FF2B5EF4-FFF2-40B4-BE49-F238E27FC236}">
                <a16:creationId xmlns:a16="http://schemas.microsoft.com/office/drawing/2014/main" id="{6BF31D3E-000E-4A7E-A8E8-B6EC15B58CB6}"/>
              </a:ext>
            </a:extLst>
          </p:cNvPr>
          <p:cNvSpPr>
            <a:spLocks/>
          </p:cNvSpPr>
          <p:nvPr/>
        </p:nvSpPr>
        <p:spPr>
          <a:xfrm>
            <a:off x="8286750" y="2562225"/>
            <a:ext cx="2190750"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NAVIGATEUR</a:t>
            </a:r>
          </a:p>
        </p:txBody>
      </p:sp>
      <p:sp>
        <p:nvSpPr>
          <p:cNvPr id="2003" name="browser_frame">
            <a:extLst>
              <a:ext uri="{FF2B5EF4-FFF2-40B4-BE49-F238E27FC236}">
                <a16:creationId xmlns:a16="http://schemas.microsoft.com/office/drawing/2014/main" id="{D75125CA-D280-435B-87CD-0CE6EEB5DAB4}"/>
              </a:ext>
            </a:extLst>
          </p:cNvPr>
          <p:cNvSpPr>
            <a:spLocks/>
          </p:cNvSpPr>
          <p:nvPr/>
        </p:nvSpPr>
        <p:spPr>
          <a:xfrm>
            <a:off x="8286750" y="3286125"/>
            <a:ext cx="2190750" cy="2190750"/>
          </a:xfrm>
          <a:prstGeom prst="rect">
            <a:avLst/>
          </a:prstGeom>
          <a:solidFill>
            <a:srgbClr val="F7F7F7"/>
          </a:solidFill>
          <a:ln w="19050">
            <a:solidFill>
              <a:srgbClr val="2657C1"/>
            </a:solidFill>
            <a:prstDash val="solid"/>
          </a:ln>
        </p:spPr>
      </p:sp>
      <p:sp>
        <p:nvSpPr>
          <p:cNvPr id="2004" name="browser_bar">
            <a:extLst>
              <a:ext uri="{FF2B5EF4-FFF2-40B4-BE49-F238E27FC236}">
                <a16:creationId xmlns:a16="http://schemas.microsoft.com/office/drawing/2014/main" id="{D8E5A1FE-D734-40BA-826C-531976A693C8}"/>
              </a:ext>
            </a:extLst>
          </p:cNvPr>
          <p:cNvSpPr>
            <a:spLocks/>
          </p:cNvSpPr>
          <p:nvPr/>
        </p:nvSpPr>
        <p:spPr>
          <a:xfrm>
            <a:off x="8286750" y="3667125"/>
            <a:ext cx="2190750" cy="0"/>
          </a:xfrm>
          <a:prstGeom prst="line">
            <a:avLst/>
          </a:prstGeom>
          <a:noFill/>
          <a:ln w="14288">
            <a:solidFill>
              <a:srgbClr val="9FB6E5"/>
            </a:solidFill>
            <a:prstDash val="solid"/>
          </a:ln>
        </p:spPr>
      </p:sp>
      <p:sp>
        <p:nvSpPr>
          <p:cNvPr id="2005" name="browser_dot_0">
            <a:extLst>
              <a:ext uri="{FF2B5EF4-FFF2-40B4-BE49-F238E27FC236}">
                <a16:creationId xmlns:a16="http://schemas.microsoft.com/office/drawing/2014/main" id="{0A86C4E9-315A-4321-9E35-5FE458BC32EB}"/>
              </a:ext>
            </a:extLst>
          </p:cNvPr>
          <p:cNvSpPr>
            <a:spLocks/>
          </p:cNvSpPr>
          <p:nvPr/>
        </p:nvSpPr>
        <p:spPr>
          <a:xfrm>
            <a:off x="8448675" y="3438525"/>
            <a:ext cx="57150" cy="57150"/>
          </a:xfrm>
          <a:prstGeom prst="ellipse">
            <a:avLst/>
          </a:prstGeom>
          <a:solidFill>
            <a:srgbClr val="2657C1"/>
          </a:solidFill>
          <a:ln w="9525">
            <a:noFill/>
            <a:prstDash val="solid"/>
          </a:ln>
        </p:spPr>
      </p:sp>
      <p:sp>
        <p:nvSpPr>
          <p:cNvPr id="2006" name="browser_dot_1">
            <a:extLst>
              <a:ext uri="{FF2B5EF4-FFF2-40B4-BE49-F238E27FC236}">
                <a16:creationId xmlns:a16="http://schemas.microsoft.com/office/drawing/2014/main" id="{D0C8B4C7-C0F8-4156-BFCC-E5AB71ED108C}"/>
              </a:ext>
            </a:extLst>
          </p:cNvPr>
          <p:cNvSpPr>
            <a:spLocks/>
          </p:cNvSpPr>
          <p:nvPr/>
        </p:nvSpPr>
        <p:spPr>
          <a:xfrm>
            <a:off x="8610600" y="3438525"/>
            <a:ext cx="57150" cy="57150"/>
          </a:xfrm>
          <a:prstGeom prst="ellipse">
            <a:avLst/>
          </a:prstGeom>
          <a:solidFill>
            <a:srgbClr val="2657C1"/>
          </a:solidFill>
          <a:ln w="9525">
            <a:noFill/>
            <a:prstDash val="solid"/>
          </a:ln>
        </p:spPr>
      </p:sp>
      <p:sp>
        <p:nvSpPr>
          <p:cNvPr id="2007" name="browser_dot_2">
            <a:extLst>
              <a:ext uri="{FF2B5EF4-FFF2-40B4-BE49-F238E27FC236}">
                <a16:creationId xmlns:a16="http://schemas.microsoft.com/office/drawing/2014/main" id="{6517B01C-D986-4653-9008-B3BF15C4B2DC}"/>
              </a:ext>
            </a:extLst>
          </p:cNvPr>
          <p:cNvSpPr>
            <a:spLocks/>
          </p:cNvSpPr>
          <p:nvPr/>
        </p:nvSpPr>
        <p:spPr>
          <a:xfrm>
            <a:off x="8772525" y="3438525"/>
            <a:ext cx="57150" cy="57150"/>
          </a:xfrm>
          <a:prstGeom prst="ellipse">
            <a:avLst/>
          </a:prstGeom>
          <a:solidFill>
            <a:srgbClr val="2657C1"/>
          </a:solidFill>
          <a:ln w="9525">
            <a:noFill/>
            <a:prstDash val="solid"/>
          </a:ln>
        </p:spPr>
      </p:sp>
      <p:sp>
        <p:nvSpPr>
          <p:cNvPr id="2008" name="input_label">
            <a:extLst>
              <a:ext uri="{FF2B5EF4-FFF2-40B4-BE49-F238E27FC236}">
                <a16:creationId xmlns:a16="http://schemas.microsoft.com/office/drawing/2014/main" id="{F0E8EA79-7D40-47F5-80D2-18C7693ADFFA}"/>
              </a:ext>
            </a:extLst>
          </p:cNvPr>
          <p:cNvSpPr>
            <a:spLocks/>
          </p:cNvSpPr>
          <p:nvPr/>
        </p:nvSpPr>
        <p:spPr>
          <a:xfrm>
            <a:off x="8439150" y="3886200"/>
            <a:ext cx="1905000" cy="352425"/>
          </a:xfrm>
          <a:prstGeom prst="rect">
            <a:avLst/>
          </a:prstGeom>
          <a:noFill/>
          <a:ln w="9525">
            <a:noFill/>
            <a:prstDash val="solid"/>
          </a:ln>
        </p:spPr>
        <p:txBody>
          <a:bodyPr wrap="square" lIns="0" tIns="0" rIns="0" bIns="0" anchor="ctr">
            <a:noAutofit/>
          </a:bodyPr>
          <a:lstStyle>
            <a:defPPr algn="l">
              <a:defRPr sz="1800">
                <a:solidFill>
                  <a:srgbClr val="2657C1"/>
                </a:solidFill>
                <a:latin typeface="TT Fors"/>
                <a:ea typeface="TT Fors"/>
                <a:cs typeface="TT Fors"/>
              </a:defRPr>
            </a:defPPr>
          </a:lstStyle>
          <a:p>
            <a:pPr algn="l">
              <a:defRPr sz="1800">
                <a:solidFill>
                  <a:srgbClr val="2657C1"/>
                </a:solidFill>
                <a:latin typeface="TT Fors"/>
                <a:ea typeface="TT Fors"/>
                <a:cs typeface="TT Fors"/>
              </a:defRPr>
            </a:pPr>
            <a:r>
              <a:rPr sz="1800">
                <a:solidFill>
                  <a:srgbClr val="2657C1"/>
                </a:solidFill>
                <a:latin typeface="TT Fors"/>
                <a:ea typeface="TT Fors"/>
                <a:cs typeface="TT Fors"/>
              </a:rPr>
              <a:t>Valeur HTTP</a:t>
            </a:r>
          </a:p>
        </p:txBody>
      </p:sp>
      <p:sp>
        <p:nvSpPr>
          <p:cNvPr id="2009" name="input_field">
            <a:extLst>
              <a:ext uri="{FF2B5EF4-FFF2-40B4-BE49-F238E27FC236}">
                <a16:creationId xmlns:a16="http://schemas.microsoft.com/office/drawing/2014/main" id="{52435E16-CD5D-4C82-A66C-0E86C7A24D12}"/>
              </a:ext>
            </a:extLst>
          </p:cNvPr>
          <p:cNvSpPr>
            <a:spLocks/>
          </p:cNvSpPr>
          <p:nvPr/>
        </p:nvSpPr>
        <p:spPr>
          <a:xfrm>
            <a:off x="8420100" y="4410075"/>
            <a:ext cx="1924050" cy="628650"/>
          </a:xfrm>
          <a:prstGeom prst="rect">
            <a:avLst/>
          </a:prstGeom>
          <a:solidFill>
            <a:srgbClr val="EDF2FC"/>
          </a:solidFill>
          <a:ln w="9525">
            <a:solidFill>
              <a:srgbClr val="9FB6E5"/>
            </a:solidFill>
            <a:prstDash val="solid"/>
          </a:ln>
        </p:spPr>
      </p:sp>
      <p:sp>
        <p:nvSpPr>
          <p:cNvPr id="2010" name="php_label">
            <a:extLst>
              <a:ext uri="{FF2B5EF4-FFF2-40B4-BE49-F238E27FC236}">
                <a16:creationId xmlns:a16="http://schemas.microsoft.com/office/drawing/2014/main" id="{DD79B9AB-83EC-4563-AF3E-DC383E032902}"/>
              </a:ext>
            </a:extLst>
          </p:cNvPr>
          <p:cNvSpPr>
            <a:spLocks/>
          </p:cNvSpPr>
          <p:nvPr/>
        </p:nvSpPr>
        <p:spPr>
          <a:xfrm>
            <a:off x="11144250" y="2562225"/>
            <a:ext cx="2333625"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APPLICATION PHP</a:t>
            </a:r>
          </a:p>
        </p:txBody>
      </p:sp>
      <p:sp>
        <p:nvSpPr>
          <p:cNvPr id="2011" name="php_frame">
            <a:extLst>
              <a:ext uri="{FF2B5EF4-FFF2-40B4-BE49-F238E27FC236}">
                <a16:creationId xmlns:a16="http://schemas.microsoft.com/office/drawing/2014/main" id="{7344EADD-EAB6-4BA1-8BA7-44B41BFC6D18}"/>
              </a:ext>
            </a:extLst>
          </p:cNvPr>
          <p:cNvSpPr>
            <a:spLocks/>
          </p:cNvSpPr>
          <p:nvPr/>
        </p:nvSpPr>
        <p:spPr>
          <a:xfrm>
            <a:off x="11144250" y="3286125"/>
            <a:ext cx="2333625" cy="2190750"/>
          </a:xfrm>
          <a:prstGeom prst="rect">
            <a:avLst/>
          </a:prstGeom>
          <a:solidFill>
            <a:srgbClr val="F7F7F7"/>
          </a:solidFill>
          <a:ln w="19050">
            <a:solidFill>
              <a:srgbClr val="2657C1"/>
            </a:solidFill>
            <a:prstDash val="solid"/>
          </a:ln>
        </p:spPr>
      </p:sp>
      <p:sp>
        <p:nvSpPr>
          <p:cNvPr id="2012" name="db_caption">
            <a:extLst>
              <a:ext uri="{FF2B5EF4-FFF2-40B4-BE49-F238E27FC236}">
                <a16:creationId xmlns:a16="http://schemas.microsoft.com/office/drawing/2014/main" id="{D46D7D0B-2960-482E-91C8-CC34409D5449}"/>
              </a:ext>
            </a:extLst>
          </p:cNvPr>
          <p:cNvSpPr>
            <a:spLocks/>
          </p:cNvSpPr>
          <p:nvPr/>
        </p:nvSpPr>
        <p:spPr>
          <a:xfrm>
            <a:off x="14097000" y="2562225"/>
            <a:ext cx="1524000"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MARIADB</a:t>
            </a:r>
          </a:p>
        </p:txBody>
      </p:sp>
      <p:sp>
        <p:nvSpPr>
          <p:cNvPr id="2013" name="db_body">
            <a:extLst>
              <a:ext uri="{FF2B5EF4-FFF2-40B4-BE49-F238E27FC236}">
                <a16:creationId xmlns:a16="http://schemas.microsoft.com/office/drawing/2014/main" id="{0FF2067F-0808-4868-9BDB-04ACCDF4F6D9}"/>
              </a:ext>
            </a:extLst>
          </p:cNvPr>
          <p:cNvSpPr>
            <a:spLocks/>
          </p:cNvSpPr>
          <p:nvPr/>
        </p:nvSpPr>
        <p:spPr>
          <a:xfrm>
            <a:off x="14097000" y="3476625"/>
            <a:ext cx="1524000" cy="1752600"/>
          </a:xfrm>
          <a:prstGeom prst="can">
            <a:avLst/>
          </a:prstGeom>
          <a:solidFill>
            <a:srgbClr val="F7F7F7"/>
          </a:solidFill>
          <a:ln w="19050">
            <a:solidFill>
              <a:srgbClr val="2657C1"/>
            </a:solidFill>
            <a:prstDash val="solid"/>
          </a:ln>
        </p:spPr>
      </p:sp>
      <p:sp>
        <p:nvSpPr>
          <p:cNvPr id="2014" name="db_text">
            <a:extLst>
              <a:ext uri="{FF2B5EF4-FFF2-40B4-BE49-F238E27FC236}">
                <a16:creationId xmlns:a16="http://schemas.microsoft.com/office/drawing/2014/main" id="{483FCACF-84B1-4B20-B04E-83557D45F309}"/>
              </a:ext>
            </a:extLst>
          </p:cNvPr>
          <p:cNvSpPr>
            <a:spLocks/>
          </p:cNvSpPr>
          <p:nvPr/>
        </p:nvSpPr>
        <p:spPr>
          <a:xfrm>
            <a:off x="14230350" y="3924300"/>
            <a:ext cx="1257300" cy="8382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Base de</a:t>
            </a:r>
          </a:p>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données</a:t>
            </a:r>
          </a:p>
        </p:txBody>
      </p:sp>
      <p:sp>
        <p:nvSpPr>
          <p:cNvPr id="2015" name="http_rail">
            <a:extLst>
              <a:ext uri="{FF2B5EF4-FFF2-40B4-BE49-F238E27FC236}">
                <a16:creationId xmlns:a16="http://schemas.microsoft.com/office/drawing/2014/main" id="{6E17AD15-6842-4015-B435-B11578C5E329}"/>
              </a:ext>
            </a:extLst>
          </p:cNvPr>
          <p:cNvSpPr>
            <a:spLocks/>
          </p:cNvSpPr>
          <p:nvPr/>
        </p:nvSpPr>
        <p:spPr>
          <a:xfrm>
            <a:off x="10525125" y="4314825"/>
            <a:ext cx="504825" cy="133350"/>
          </a:xfrm>
          <a:prstGeom prst="rightArrow">
            <a:avLst/>
          </a:prstGeom>
          <a:solidFill>
            <a:srgbClr val="9FB6E5"/>
          </a:solidFill>
          <a:ln w="9525">
            <a:noFill/>
            <a:prstDash val="solid"/>
          </a:ln>
        </p:spPr>
      </p:sp>
      <p:sp>
        <p:nvSpPr>
          <p:cNvPr id="2016" name="php_title">
            <a:extLst>
              <a:ext uri="{FF2B5EF4-FFF2-40B4-BE49-F238E27FC236}">
                <a16:creationId xmlns:a16="http://schemas.microsoft.com/office/drawing/2014/main" id="{C9701716-5FA2-4769-9238-8408BC0C9EE0}"/>
              </a:ext>
            </a:extLst>
          </p:cNvPr>
          <p:cNvSpPr>
            <a:spLocks/>
          </p:cNvSpPr>
          <p:nvPr/>
        </p:nvSpPr>
        <p:spPr>
          <a:xfrm>
            <a:off x="11258550" y="3514725"/>
            <a:ext cx="2105025" cy="447675"/>
          </a:xfrm>
          <a:prstGeom prst="rect">
            <a:avLst/>
          </a:prstGeom>
          <a:noFill/>
          <a:ln w="9525">
            <a:noFill/>
            <a:prstDash val="solid"/>
          </a:ln>
        </p:spPr>
        <p:txBody>
          <a:bodyPr wrap="square" lIns="0" tIns="0" rIns="0" bIns="0" anchor="ctr">
            <a:noAutofit/>
          </a:bodyPr>
          <a:lstStyle>
            <a:defPPr algn="ctr">
              <a:defRPr sz="2175">
                <a:solidFill>
                  <a:srgbClr val="2657C1"/>
                </a:solidFill>
                <a:latin typeface="TT Fors Bold"/>
                <a:ea typeface="TT Fors Bold"/>
                <a:cs typeface="TT Fors Bold"/>
              </a:defRPr>
            </a:defPPr>
          </a:lstStyle>
          <a:p>
            <a:pPr algn="ctr">
              <a:defRPr sz="2175">
                <a:solidFill>
                  <a:srgbClr val="2657C1"/>
                </a:solidFill>
                <a:latin typeface="TT Fors Bold"/>
                <a:ea typeface="TT Fors Bold"/>
                <a:cs typeface="TT Fors Bold"/>
              </a:defRPr>
            </a:pPr>
            <a:r>
              <a:rPr sz="2175">
                <a:solidFill>
                  <a:srgbClr val="2657C1"/>
                </a:solidFill>
                <a:latin typeface="TT Fors Bold"/>
                <a:ea typeface="TT Fors Bold"/>
                <a:cs typeface="TT Fors Bold"/>
              </a:rPr>
              <a:t>CyberShield</a:t>
            </a:r>
          </a:p>
        </p:txBody>
      </p:sp>
      <p:sp>
        <p:nvSpPr>
          <p:cNvPr id="2017" name="php_description">
            <a:extLst>
              <a:ext uri="{FF2B5EF4-FFF2-40B4-BE49-F238E27FC236}">
                <a16:creationId xmlns:a16="http://schemas.microsoft.com/office/drawing/2014/main" id="{9698357E-607A-43F4-859E-61FA7BAF1745}"/>
              </a:ext>
            </a:extLst>
          </p:cNvPr>
          <p:cNvSpPr>
            <a:spLocks/>
          </p:cNvSpPr>
          <p:nvPr/>
        </p:nvSpPr>
        <p:spPr>
          <a:xfrm>
            <a:off x="11258550" y="4086225"/>
            <a:ext cx="2105025" cy="6858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Analyse ciblée</a:t>
            </a:r>
          </a:p>
          <a:p>
            <a:pPr algn="ctr">
              <a:defRPr sz="1875">
                <a:solidFill>
                  <a:srgbClr val="2657C1"/>
                </a:solidFill>
                <a:latin typeface="TT Fors"/>
                <a:ea typeface="TT Fors"/>
                <a:cs typeface="TT Fors"/>
              </a:defRPr>
            </a:pPr>
            <a:r>
              <a:rPr sz="1875">
                <a:solidFill>
                  <a:srgbClr val="2657C1"/>
                </a:solidFill>
                <a:latin typeface="TT Fors"/>
                <a:ea typeface="TT Fors"/>
                <a:cs typeface="TT Fors"/>
              </a:rPr>
              <a:t>et bornée.</a:t>
            </a:r>
          </a:p>
        </p:txBody>
      </p:sp>
      <p:sp>
        <p:nvSpPr>
          <p:cNvPr id="2018" name="anim_payload">
            <a:extLst>
              <a:ext uri="{FF2B5EF4-FFF2-40B4-BE49-F238E27FC236}">
                <a16:creationId xmlns:a16="http://schemas.microsoft.com/office/drawing/2014/main" id="{EE4709D2-5265-4CBC-979C-7FC44C60CBFA}"/>
              </a:ext>
            </a:extLst>
          </p:cNvPr>
          <p:cNvSpPr>
            <a:spLocks/>
          </p:cNvSpPr>
          <p:nvPr/>
        </p:nvSpPr>
        <p:spPr>
          <a:xfrm>
            <a:off x="8477250" y="4533900"/>
            <a:ext cx="1847850" cy="381000"/>
          </a:xfrm>
          <a:prstGeom prst="rect">
            <a:avLst/>
          </a:prstGeom>
          <a:noFill/>
          <a:ln w="9525">
            <a:noFill/>
            <a:prstDash val="solid"/>
          </a:ln>
        </p:spPr>
        <p:txBody>
          <a:bodyPr wrap="square" lIns="0" tIns="0" rIns="0" bIns="0" anchor="ctr">
            <a:noAutofit/>
          </a:bodyPr>
          <a:lstStyle>
            <a:defPPr algn="l">
              <a:defRPr sz="1500">
                <a:solidFill>
                  <a:srgbClr val="C44945"/>
                </a:solidFill>
                <a:latin typeface="TT Fors Bold"/>
                <a:ea typeface="TT Fors Bold"/>
                <a:cs typeface="TT Fors Bold"/>
              </a:defRPr>
            </a:defPPr>
          </a:lstStyle>
          <a:p>
            <a:pPr algn="l">
              <a:defRPr sz="1500">
                <a:solidFill>
                  <a:srgbClr val="C44945"/>
                </a:solidFill>
                <a:latin typeface="TT Fors Bold"/>
                <a:ea typeface="TT Fors Bold"/>
                <a:cs typeface="TT Fors Bold"/>
              </a:defRPr>
            </a:pPr>
            <a:r>
              <a:rPr sz="1500">
                <a:solidFill>
                  <a:srgbClr val="C44945"/>
                </a:solidFill>
                <a:latin typeface="TT Fors Bold"/>
                <a:ea typeface="TT Fors Bold"/>
                <a:cs typeface="TT Fors Bold"/>
              </a:rPr>
              <a:t>' OR 'b' &gt; 'a' -- </a:t>
            </a:r>
          </a:p>
        </p:txBody>
      </p:sp>
      <p:sp>
        <p:nvSpPr>
          <p:cNvPr id="2019" name="anim_http">
            <a:extLst>
              <a:ext uri="{FF2B5EF4-FFF2-40B4-BE49-F238E27FC236}">
                <a16:creationId xmlns:a16="http://schemas.microsoft.com/office/drawing/2014/main" id="{0394B133-2E9D-47CA-81BA-A0C761082F91}"/>
              </a:ext>
            </a:extLst>
          </p:cNvPr>
          <p:cNvSpPr>
            <a:spLocks/>
          </p:cNvSpPr>
          <p:nvPr/>
        </p:nvSpPr>
        <p:spPr>
          <a:xfrm>
            <a:off x="10506075" y="4152900"/>
            <a:ext cx="619125" cy="438150"/>
          </a:xfrm>
          <a:prstGeom prst="rect">
            <a:avLst/>
          </a:prstGeom>
          <a:solidFill>
            <a:srgbClr val="F7F7F7"/>
          </a:solidFill>
          <a:ln w="13335">
            <a:solidFill>
              <a:srgbClr val="2657C1"/>
            </a:solidFill>
            <a:prstDash val="solid"/>
          </a:ln>
        </p:spPr>
        <p:txBody>
          <a:bodyPr wrap="square" lIns="28575" tIns="28575" rIns="28575" bIns="28575"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HTTP</a:t>
            </a:r>
          </a:p>
        </p:txBody>
      </p:sp>
      <p:sp>
        <p:nvSpPr>
          <p:cNvPr id="2020" name="anim_review">
            <a:extLst>
              <a:ext uri="{FF2B5EF4-FFF2-40B4-BE49-F238E27FC236}">
                <a16:creationId xmlns:a16="http://schemas.microsoft.com/office/drawing/2014/main" id="{6536F7C9-B879-4603-B5EC-96F5EFD8E41D}"/>
              </a:ext>
            </a:extLst>
          </p:cNvPr>
          <p:cNvSpPr>
            <a:spLocks/>
          </p:cNvSpPr>
          <p:nvPr/>
        </p:nvSpPr>
        <p:spPr>
          <a:xfrm>
            <a:off x="11201400" y="4905375"/>
            <a:ext cx="2219325" cy="409575"/>
          </a:xfrm>
          <a:prstGeom prst="rect">
            <a:avLst/>
          </a:prstGeom>
          <a:noFill/>
          <a:ln w="9525">
            <a:noFill/>
            <a:prstDash val="solid"/>
          </a:ln>
        </p:spPr>
        <p:txBody>
          <a:bodyPr wrap="square" lIns="0" tIns="0" rIns="0" bIns="0"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Cas à examiner</a:t>
            </a:r>
          </a:p>
        </p:txBody>
      </p:sp>
      <p:grpSp>
        <p:nvGrpSpPr>
          <p:cNvPr id="9" name="anim_mlp">
            <a:extLst>
              <a:ext uri="{FF2B5EF4-FFF2-40B4-BE49-F238E27FC236}">
                <a16:creationId xmlns:a16="http://schemas.microsoft.com/office/drawing/2014/main" id="{091054A8-F59A-F895-83A5-F9D5A87E191B}"/>
              </a:ext>
            </a:extLst>
          </p:cNvPr>
          <p:cNvGrpSpPr/>
          <p:nvPr/>
        </p:nvGrpSpPr>
        <p:grpSpPr>
          <a:xfrm>
            <a:off x="10715625" y="5676900"/>
            <a:ext cx="2524125" cy="1914525"/>
            <a:chOff x="10715625" y="5676900"/>
            <a:chExt cx="2524125" cy="1914525"/>
          </a:xfrm>
        </p:grpSpPr>
        <p:sp>
          <p:nvSpPr>
            <p:cNvPr id="2021" name="mlp_frame">
              <a:extLst>
                <a:ext uri="{FF2B5EF4-FFF2-40B4-BE49-F238E27FC236}">
                  <a16:creationId xmlns:a16="http://schemas.microsoft.com/office/drawing/2014/main" id="{A968BCC4-D225-4689-A8E4-E8D068F2E839}"/>
                </a:ext>
              </a:extLst>
            </p:cNvPr>
            <p:cNvSpPr>
              <a:spLocks/>
            </p:cNvSpPr>
            <p:nvPr/>
          </p:nvSpPr>
          <p:spPr>
            <a:xfrm>
              <a:off x="10715625" y="6372225"/>
              <a:ext cx="2524125" cy="1219200"/>
            </a:xfrm>
            <a:prstGeom prst="rect">
              <a:avLst/>
            </a:prstGeom>
            <a:solidFill>
              <a:srgbClr val="E7EEFC"/>
            </a:solidFill>
            <a:ln w="19050">
              <a:solidFill>
                <a:srgbClr val="2657C1"/>
              </a:solidFill>
              <a:prstDash val="solid"/>
            </a:ln>
          </p:spPr>
        </p:sp>
        <p:sp>
          <p:nvSpPr>
            <p:cNvPr id="2022" name="mlp_title">
              <a:extLst>
                <a:ext uri="{FF2B5EF4-FFF2-40B4-BE49-F238E27FC236}">
                  <a16:creationId xmlns:a16="http://schemas.microsoft.com/office/drawing/2014/main" id="{46BF8341-2976-4F44-B811-DA998FEE2359}"/>
                </a:ext>
              </a:extLst>
            </p:cNvPr>
            <p:cNvSpPr>
              <a:spLocks/>
            </p:cNvSpPr>
            <p:nvPr/>
          </p:nvSpPr>
          <p:spPr>
            <a:xfrm>
              <a:off x="10868025" y="6505575"/>
              <a:ext cx="2219325" cy="552450"/>
            </a:xfrm>
            <a:prstGeom prst="rect">
              <a:avLst/>
            </a:prstGeom>
            <a:noFill/>
            <a:ln w="9525">
              <a:noFill/>
              <a:prstDash val="solid"/>
            </a:ln>
          </p:spPr>
          <p:txBody>
            <a:bodyPr wrap="square" lIns="0" tIns="0" rIns="0" bIns="0" anchor="ctr">
              <a:noAutofit/>
            </a:bodyPr>
            <a:lstStyle>
              <a:defPPr algn="ctr">
                <a:defRPr sz="2100">
                  <a:solidFill>
                    <a:srgbClr val="2657C1"/>
                  </a:solidFill>
                  <a:latin typeface="TT Fors Bold"/>
                  <a:ea typeface="TT Fors Bold"/>
                  <a:cs typeface="TT Fors Bold"/>
                </a:defRPr>
              </a:defPPr>
            </a:lstStyle>
            <a:p>
              <a:pPr algn="ctr">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MLP local</a:t>
              </a:r>
            </a:p>
          </p:txBody>
        </p:sp>
        <p:sp>
          <p:nvSpPr>
            <p:cNvPr id="2023" name="mlp_desc">
              <a:extLst>
                <a:ext uri="{FF2B5EF4-FFF2-40B4-BE49-F238E27FC236}">
                  <a16:creationId xmlns:a16="http://schemas.microsoft.com/office/drawing/2014/main" id="{94C86305-74DB-4759-8C2B-00E1F34C11F2}"/>
                </a:ext>
              </a:extLst>
            </p:cNvPr>
            <p:cNvSpPr>
              <a:spLocks/>
            </p:cNvSpPr>
            <p:nvPr/>
          </p:nvSpPr>
          <p:spPr>
            <a:xfrm>
              <a:off x="10858500" y="7115175"/>
              <a:ext cx="2238375" cy="40005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a:ea typeface="TT Fors"/>
                  <a:cs typeface="TT Fors"/>
                </a:defRPr>
              </a:defPPr>
            </a:lstStyle>
            <a:p>
              <a:pPr algn="ctr">
                <a:defRPr sz="1875">
                  <a:solidFill>
                    <a:srgbClr val="2657C1"/>
                  </a:solidFill>
                  <a:latin typeface="TT Fors"/>
                  <a:ea typeface="TT Fors"/>
                  <a:cs typeface="TT Fors"/>
                </a:defRPr>
              </a:pPr>
              <a:r>
                <a:rPr sz="1875">
                  <a:solidFill>
                    <a:srgbClr val="2657C1"/>
                  </a:solidFill>
                  <a:latin typeface="TT Fors"/>
                  <a:ea typeface="TT Fors"/>
                  <a:cs typeface="TT Fors"/>
                </a:rPr>
                <a:t>Analyse de la saisie</a:t>
              </a:r>
            </a:p>
          </p:txBody>
        </p:sp>
        <p:sp>
          <p:nvSpPr>
            <p:cNvPr id="2024" name="mlp_call">
              <a:extLst>
                <a:ext uri="{FF2B5EF4-FFF2-40B4-BE49-F238E27FC236}">
                  <a16:creationId xmlns:a16="http://schemas.microsoft.com/office/drawing/2014/main" id="{07E90F3A-D360-4AFD-826F-D14C0165C827}"/>
                </a:ext>
              </a:extLst>
            </p:cNvPr>
            <p:cNvSpPr>
              <a:spLocks/>
            </p:cNvSpPr>
            <p:nvPr/>
          </p:nvSpPr>
          <p:spPr>
            <a:xfrm>
              <a:off x="12239625" y="5676900"/>
              <a:ext cx="152400" cy="447675"/>
            </a:xfrm>
            <a:prstGeom prst="downArrow">
              <a:avLst/>
            </a:prstGeom>
            <a:solidFill>
              <a:srgbClr val="2657C1"/>
            </a:solidFill>
            <a:ln w="9525">
              <a:noFill/>
              <a:prstDash val="solid"/>
            </a:ln>
          </p:spPr>
        </p:sp>
      </p:grpSp>
      <p:sp>
        <p:nvSpPr>
          <p:cNvPr id="2025" name="anim_score">
            <a:extLst>
              <a:ext uri="{FF2B5EF4-FFF2-40B4-BE49-F238E27FC236}">
                <a16:creationId xmlns:a16="http://schemas.microsoft.com/office/drawing/2014/main" id="{7D2912BB-9D5F-4E67-A5FF-30F9D2E92978}"/>
              </a:ext>
            </a:extLst>
          </p:cNvPr>
          <p:cNvSpPr>
            <a:spLocks/>
          </p:cNvSpPr>
          <p:nvPr/>
        </p:nvSpPr>
        <p:spPr>
          <a:xfrm>
            <a:off x="13306425" y="6753225"/>
            <a:ext cx="838200" cy="438150"/>
          </a:xfrm>
          <a:prstGeom prst="rect">
            <a:avLst/>
          </a:prstGeom>
          <a:solidFill>
            <a:srgbClr val="F7F7F7"/>
          </a:solidFill>
          <a:ln w="13335">
            <a:solidFill>
              <a:srgbClr val="2657C1"/>
            </a:solidFill>
            <a:prstDash val="solid"/>
          </a:ln>
        </p:spPr>
        <p:txBody>
          <a:bodyPr wrap="square" lIns="28575" tIns="28575" rIns="28575" bIns="28575" anchor="ctr">
            <a:noAutofit/>
          </a:bodyPr>
          <a:lstStyle>
            <a:defPPr algn="ctr">
              <a:defRPr sz="1725">
                <a:solidFill>
                  <a:srgbClr val="2657C1"/>
                </a:solidFill>
                <a:latin typeface="TT Fors Bold"/>
                <a:ea typeface="TT Fors Bold"/>
                <a:cs typeface="TT Fors Bold"/>
              </a:defRPr>
            </a:defPPr>
          </a:lstStyle>
          <a:p>
            <a:pPr algn="ctr">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Score</a:t>
            </a:r>
          </a:p>
        </p:txBody>
      </p:sp>
      <p:grpSp>
        <p:nvGrpSpPr>
          <p:cNvPr id="13" name="anim_criterion">
            <a:extLst>
              <a:ext uri="{FF2B5EF4-FFF2-40B4-BE49-F238E27FC236}">
                <a16:creationId xmlns:a16="http://schemas.microsoft.com/office/drawing/2014/main" id="{F06E2902-06FD-84AB-39E9-07BB6238070C}"/>
              </a:ext>
            </a:extLst>
          </p:cNvPr>
          <p:cNvGrpSpPr/>
          <p:nvPr/>
        </p:nvGrpSpPr>
        <p:grpSpPr>
          <a:xfrm>
            <a:off x="14192250" y="6229350"/>
            <a:ext cx="1857375" cy="1628775"/>
            <a:chOff x="14192250" y="6229350"/>
            <a:chExt cx="1857375" cy="1628775"/>
          </a:xfrm>
        </p:grpSpPr>
        <p:sp>
          <p:nvSpPr>
            <p:cNvPr id="2026" name="criterion">
              <a:extLst>
                <a:ext uri="{FF2B5EF4-FFF2-40B4-BE49-F238E27FC236}">
                  <a16:creationId xmlns:a16="http://schemas.microsoft.com/office/drawing/2014/main" id="{6DD7080D-0BC2-46D9-A944-F83D47B42EBE}"/>
                </a:ext>
              </a:extLst>
            </p:cNvPr>
            <p:cNvSpPr>
              <a:spLocks/>
            </p:cNvSpPr>
            <p:nvPr/>
          </p:nvSpPr>
          <p:spPr>
            <a:xfrm>
              <a:off x="14192250" y="6229350"/>
              <a:ext cx="1857375" cy="1628775"/>
            </a:xfrm>
            <a:prstGeom prst="diamond">
              <a:avLst/>
            </a:prstGeom>
            <a:solidFill>
              <a:srgbClr val="F7F7F7"/>
            </a:solidFill>
            <a:ln w="19050">
              <a:solidFill>
                <a:srgbClr val="2657C1"/>
              </a:solidFill>
              <a:prstDash val="solid"/>
            </a:ln>
          </p:spPr>
        </p:sp>
        <p:sp>
          <p:nvSpPr>
            <p:cNvPr id="2027" name="criterion_label">
              <a:extLst>
                <a:ext uri="{FF2B5EF4-FFF2-40B4-BE49-F238E27FC236}">
                  <a16:creationId xmlns:a16="http://schemas.microsoft.com/office/drawing/2014/main" id="{A67C4DAC-7729-4A75-BDD9-B217B5908348}"/>
                </a:ext>
              </a:extLst>
            </p:cNvPr>
            <p:cNvSpPr>
              <a:spLocks/>
            </p:cNvSpPr>
            <p:nvPr/>
          </p:nvSpPr>
          <p:spPr>
            <a:xfrm>
              <a:off x="14363700" y="6610350"/>
              <a:ext cx="1514475" cy="876300"/>
            </a:xfrm>
            <a:prstGeom prst="rect">
              <a:avLst/>
            </a:prstGeom>
            <a:noFill/>
            <a:ln w="9525">
              <a:noFill/>
              <a:prstDash val="solid"/>
            </a:ln>
          </p:spPr>
          <p:txBody>
            <a:bodyPr wrap="square" lIns="0" tIns="0" rIns="0" bIns="0" anchor="ctr">
              <a:noAutofit/>
            </a:bodyPr>
            <a:lstStyle>
              <a:defPPr algn="ctr">
                <a:defRPr sz="1875">
                  <a:solidFill>
                    <a:srgbClr val="2657C1"/>
                  </a:solidFill>
                  <a:latin typeface="TT Fors Bold"/>
                  <a:ea typeface="TT Fors Bold"/>
                  <a:cs typeface="TT Fors Bold"/>
                </a:defRPr>
              </a:defPPr>
            </a:lstStyle>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Score MLP</a:t>
              </a:r>
            </a:p>
            <a:p>
              <a:pPr algn="ctr">
                <a:defRPr sz="1875">
                  <a:solidFill>
                    <a:srgbClr val="2657C1"/>
                  </a:solidFill>
                  <a:latin typeface="TT Fors Bold"/>
                  <a:ea typeface="TT Fors Bold"/>
                  <a:cs typeface="TT Fors Bold"/>
                </a:defRPr>
              </a:pPr>
              <a:r>
                <a:rPr sz="1875">
                  <a:solidFill>
                    <a:srgbClr val="2657C1"/>
                  </a:solidFill>
                  <a:latin typeface="TT Fors Bold"/>
                  <a:ea typeface="TT Fors Bold"/>
                  <a:cs typeface="TT Fors Bold"/>
                </a:rPr>
                <a:t>≥ 0,75 ?</a:t>
              </a:r>
            </a:p>
          </p:txBody>
        </p:sp>
      </p:grpSp>
      <p:grpSp>
        <p:nvGrpSpPr>
          <p:cNvPr id="18" name="anim_branches">
            <a:extLst>
              <a:ext uri="{FF2B5EF4-FFF2-40B4-BE49-F238E27FC236}">
                <a16:creationId xmlns:a16="http://schemas.microsoft.com/office/drawing/2014/main" id="{8680A77D-2891-8350-6B1D-CBD6AE9CADB5}"/>
              </a:ext>
            </a:extLst>
          </p:cNvPr>
          <p:cNvGrpSpPr/>
          <p:nvPr/>
        </p:nvGrpSpPr>
        <p:grpSpPr>
          <a:xfrm>
            <a:off x="13620750" y="5248275"/>
            <a:ext cx="2857500" cy="3314700"/>
            <a:chOff x="13620750" y="5248275"/>
            <a:chExt cx="2857500" cy="3314700"/>
          </a:xfrm>
        </p:grpSpPr>
        <p:sp>
          <p:nvSpPr>
            <p:cNvPr id="2028" name="no_branch">
              <a:extLst>
                <a:ext uri="{FF2B5EF4-FFF2-40B4-BE49-F238E27FC236}">
                  <a16:creationId xmlns:a16="http://schemas.microsoft.com/office/drawing/2014/main" id="{DFA40EB5-112A-4373-BD3A-706E151C8055}"/>
                </a:ext>
              </a:extLst>
            </p:cNvPr>
            <p:cNvSpPr>
              <a:spLocks/>
            </p:cNvSpPr>
            <p:nvPr/>
          </p:nvSpPr>
          <p:spPr>
            <a:xfrm>
              <a:off x="15125700" y="5553075"/>
              <a:ext cx="0" cy="676275"/>
            </a:xfrm>
            <a:prstGeom prst="line">
              <a:avLst/>
            </a:prstGeom>
            <a:noFill/>
            <a:ln w="19050">
              <a:solidFill>
                <a:srgbClr val="2657C1"/>
              </a:solidFill>
              <a:prstDash val="solid"/>
            </a:ln>
          </p:spPr>
        </p:sp>
        <p:sp>
          <p:nvSpPr>
            <p:cNvPr id="2029" name="no_label">
              <a:extLst>
                <a:ext uri="{FF2B5EF4-FFF2-40B4-BE49-F238E27FC236}">
                  <a16:creationId xmlns:a16="http://schemas.microsoft.com/office/drawing/2014/main" id="{DB232EFD-67AD-48D7-839B-C9737F63A994}"/>
                </a:ext>
              </a:extLst>
            </p:cNvPr>
            <p:cNvSpPr>
              <a:spLocks/>
            </p:cNvSpPr>
            <p:nvPr/>
          </p:nvSpPr>
          <p:spPr>
            <a:xfrm>
              <a:off x="15335250" y="5705475"/>
              <a:ext cx="714375" cy="342900"/>
            </a:xfrm>
            <a:prstGeom prst="rect">
              <a:avLst/>
            </a:prstGeom>
            <a:noFill/>
            <a:ln w="9525">
              <a:noFill/>
              <a:prstDash val="solid"/>
            </a:ln>
          </p:spPr>
          <p:txBody>
            <a:bodyPr wrap="square" lIns="0" tIns="0" rIns="0" bIns="0" anchor="ctr">
              <a:noAutofit/>
            </a:bodyPr>
            <a:lstStyle>
              <a:defPPr algn="l">
                <a:defRPr sz="1725">
                  <a:solidFill>
                    <a:srgbClr val="2657C1"/>
                  </a:solidFill>
                  <a:latin typeface="TT Fors Bold"/>
                  <a:ea typeface="TT Fors Bold"/>
                  <a:cs typeface="TT Fors Bold"/>
                </a:defRPr>
              </a:defPPr>
            </a:lstStyle>
            <a:p>
              <a:pPr algn="l">
                <a:defRPr sz="1725">
                  <a:solidFill>
                    <a:srgbClr val="2657C1"/>
                  </a:solidFill>
                  <a:latin typeface="TT Fors Bold"/>
                  <a:ea typeface="TT Fors Bold"/>
                  <a:cs typeface="TT Fors Bold"/>
                </a:defRPr>
              </a:pPr>
              <a:r>
                <a:rPr sz="1725">
                  <a:solidFill>
                    <a:srgbClr val="2657C1"/>
                  </a:solidFill>
                  <a:latin typeface="TT Fors Bold"/>
                  <a:ea typeface="TT Fors Bold"/>
                  <a:cs typeface="TT Fors Bold"/>
                </a:rPr>
                <a:t>Non</a:t>
              </a:r>
            </a:p>
          </p:txBody>
        </p:sp>
        <p:sp>
          <p:nvSpPr>
            <p:cNvPr id="2030" name="prepared">
              <a:extLst>
                <a:ext uri="{FF2B5EF4-FFF2-40B4-BE49-F238E27FC236}">
                  <a16:creationId xmlns:a16="http://schemas.microsoft.com/office/drawing/2014/main" id="{5107105E-44C0-433B-B217-AD348195B349}"/>
                </a:ext>
              </a:extLst>
            </p:cNvPr>
            <p:cNvSpPr>
              <a:spLocks/>
            </p:cNvSpPr>
            <p:nvPr/>
          </p:nvSpPr>
          <p:spPr>
            <a:xfrm>
              <a:off x="13954125" y="5248275"/>
              <a:ext cx="2333625" cy="381000"/>
            </a:xfrm>
            <a:prstGeom prst="rect">
              <a:avLst/>
            </a:prstGeom>
            <a:noFill/>
            <a:ln w="9525">
              <a:noFill/>
              <a:prstDash val="solid"/>
            </a:ln>
          </p:spPr>
          <p:txBody>
            <a:bodyPr wrap="square" lIns="0" tIns="0" rIns="0" bIns="0" anchor="ctr">
              <a:noAutofit/>
            </a:bodyPr>
            <a:lstStyle>
              <a:defPPr algn="ctr">
                <a:defRPr sz="1800">
                  <a:solidFill>
                    <a:srgbClr val="2657C1"/>
                  </a:solidFill>
                  <a:latin typeface="TT Fors Bold"/>
                  <a:ea typeface="TT Fors Bold"/>
                  <a:cs typeface="TT Fors Bold"/>
                </a:defRPr>
              </a:defPPr>
            </a:lstStyle>
            <a:p>
              <a:pPr algn="ctr">
                <a:defRPr sz="1800">
                  <a:solidFill>
                    <a:srgbClr val="2657C1"/>
                  </a:solidFill>
                  <a:latin typeface="TT Fors Bold"/>
                  <a:ea typeface="TT Fors Bold"/>
                  <a:cs typeface="TT Fors Bold"/>
                </a:defRPr>
              </a:pPr>
              <a:r>
                <a:rPr sz="1800">
                  <a:solidFill>
                    <a:srgbClr val="2657C1"/>
                  </a:solidFill>
                  <a:latin typeface="TT Fors Bold"/>
                  <a:ea typeface="TT Fors Bold"/>
                  <a:cs typeface="TT Fors Bold"/>
                </a:rPr>
                <a:t>Requête préparée</a:t>
              </a:r>
            </a:p>
          </p:txBody>
        </p:sp>
        <p:sp>
          <p:nvSpPr>
            <p:cNvPr id="2031" name="yes_branch">
              <a:extLst>
                <a:ext uri="{FF2B5EF4-FFF2-40B4-BE49-F238E27FC236}">
                  <a16:creationId xmlns:a16="http://schemas.microsoft.com/office/drawing/2014/main" id="{547063DC-301F-4D4E-BAAA-07EA344D8319}"/>
                </a:ext>
              </a:extLst>
            </p:cNvPr>
            <p:cNvSpPr>
              <a:spLocks/>
            </p:cNvSpPr>
            <p:nvPr/>
          </p:nvSpPr>
          <p:spPr>
            <a:xfrm>
              <a:off x="15125700" y="7867650"/>
              <a:ext cx="0" cy="190500"/>
            </a:xfrm>
            <a:prstGeom prst="line">
              <a:avLst/>
            </a:prstGeom>
            <a:noFill/>
            <a:ln w="19050">
              <a:solidFill>
                <a:srgbClr val="C44945"/>
              </a:solidFill>
              <a:prstDash val="solid"/>
            </a:ln>
          </p:spPr>
        </p:sp>
        <p:sp>
          <p:nvSpPr>
            <p:cNvPr id="2032" name="yes_label">
              <a:extLst>
                <a:ext uri="{FF2B5EF4-FFF2-40B4-BE49-F238E27FC236}">
                  <a16:creationId xmlns:a16="http://schemas.microsoft.com/office/drawing/2014/main" id="{03BF41A2-9725-4966-9479-AA083C104C63}"/>
                </a:ext>
              </a:extLst>
            </p:cNvPr>
            <p:cNvSpPr>
              <a:spLocks/>
            </p:cNvSpPr>
            <p:nvPr/>
          </p:nvSpPr>
          <p:spPr>
            <a:xfrm>
              <a:off x="15335250" y="7800975"/>
              <a:ext cx="714375" cy="342900"/>
            </a:xfrm>
            <a:prstGeom prst="rect">
              <a:avLst/>
            </a:prstGeom>
            <a:noFill/>
            <a:ln w="9525">
              <a:noFill/>
              <a:prstDash val="solid"/>
            </a:ln>
          </p:spPr>
          <p:txBody>
            <a:bodyPr wrap="square" lIns="0" tIns="0" rIns="0" bIns="0" anchor="ctr">
              <a:noAutofit/>
            </a:bodyPr>
            <a:lstStyle>
              <a:defPPr algn="l">
                <a:defRPr sz="1725">
                  <a:solidFill>
                    <a:srgbClr val="C44945"/>
                  </a:solidFill>
                  <a:latin typeface="TT Fors Bold"/>
                  <a:ea typeface="TT Fors Bold"/>
                  <a:cs typeface="TT Fors Bold"/>
                </a:defRPr>
              </a:defPPr>
            </a:lstStyle>
            <a:p>
              <a:pPr algn="l">
                <a:defRPr sz="1725">
                  <a:solidFill>
                    <a:srgbClr val="C44945"/>
                  </a:solidFill>
                  <a:latin typeface="TT Fors Bold"/>
                  <a:ea typeface="TT Fors Bold"/>
                  <a:cs typeface="TT Fors Bold"/>
                </a:defRPr>
              </a:pPr>
              <a:r>
                <a:rPr sz="1725">
                  <a:solidFill>
                    <a:srgbClr val="C44945"/>
                  </a:solidFill>
                  <a:latin typeface="TT Fors Bold"/>
                  <a:ea typeface="TT Fors Bold"/>
                  <a:cs typeface="TT Fors Bold"/>
                </a:rPr>
                <a:t>Oui</a:t>
              </a:r>
            </a:p>
          </p:txBody>
        </p:sp>
        <p:sp>
          <p:nvSpPr>
            <p:cNvPr id="2033" name="http403">
              <a:extLst>
                <a:ext uri="{FF2B5EF4-FFF2-40B4-BE49-F238E27FC236}">
                  <a16:creationId xmlns:a16="http://schemas.microsoft.com/office/drawing/2014/main" id="{C4323497-6A54-42A2-BB8A-D213FA33C7E7}"/>
                </a:ext>
              </a:extLst>
            </p:cNvPr>
            <p:cNvSpPr>
              <a:spLocks/>
            </p:cNvSpPr>
            <p:nvPr/>
          </p:nvSpPr>
          <p:spPr>
            <a:xfrm>
              <a:off x="13620750" y="8096250"/>
              <a:ext cx="2857500" cy="466725"/>
            </a:xfrm>
            <a:prstGeom prst="rect">
              <a:avLst/>
            </a:prstGeom>
            <a:noFill/>
            <a:ln w="9525">
              <a:noFill/>
              <a:prstDash val="solid"/>
            </a:ln>
          </p:spPr>
          <p:txBody>
            <a:bodyPr wrap="square" lIns="0" tIns="0" rIns="0" bIns="0" anchor="ctr">
              <a:noAutofit/>
            </a:bodyPr>
            <a:lstStyle>
              <a:defPPr algn="ctr">
                <a:defRPr sz="2325">
                  <a:solidFill>
                    <a:srgbClr val="C44945"/>
                  </a:solidFill>
                  <a:latin typeface="TT Fors Bold"/>
                  <a:ea typeface="TT Fors Bold"/>
                  <a:cs typeface="TT Fors Bold"/>
                </a:defRPr>
              </a:defPPr>
            </a:lstStyle>
            <a:p>
              <a:pPr algn="ctr">
                <a:defRPr sz="2325">
                  <a:solidFill>
                    <a:srgbClr val="C44945"/>
                  </a:solidFill>
                  <a:latin typeface="TT Fors Bold"/>
                  <a:ea typeface="TT Fors Bold"/>
                  <a:cs typeface="TT Fors Bold"/>
                </a:defRPr>
              </a:pPr>
              <a:r>
                <a:rPr sz="2325">
                  <a:solidFill>
                    <a:srgbClr val="C44945"/>
                  </a:solidFill>
                  <a:latin typeface="TT Fors Bold"/>
                  <a:ea typeface="TT Fors Bold"/>
                  <a:cs typeface="TT Fors Bold"/>
                </a:rPr>
                <a:t>HTTP 403</a:t>
              </a:r>
            </a:p>
          </p:txBody>
        </p:sp>
      </p:grpSp>
      <p:sp>
        <p:nvSpPr>
          <p:cNvPr id="2034" name="anim_conclusion">
            <a:extLst>
              <a:ext uri="{FF2B5EF4-FFF2-40B4-BE49-F238E27FC236}">
                <a16:creationId xmlns:a16="http://schemas.microsoft.com/office/drawing/2014/main" id="{CA7098D8-7359-412A-B771-54A448C830A6}"/>
              </a:ext>
            </a:extLst>
          </p:cNvPr>
          <p:cNvSpPr>
            <a:spLocks/>
          </p:cNvSpPr>
          <p:nvPr/>
        </p:nvSpPr>
        <p:spPr>
          <a:xfrm>
            <a:off x="8286750" y="9058275"/>
            <a:ext cx="7762875" cy="476250"/>
          </a:xfrm>
          <a:prstGeom prst="rect">
            <a:avLst/>
          </a:prstGeom>
          <a:noFill/>
          <a:ln w="9525">
            <a:noFill/>
            <a:prstDash val="solid"/>
          </a:ln>
        </p:spPr>
        <p:txBody>
          <a:bodyPr wrap="square" lIns="0" tIns="0" rIns="0" bIns="0" anchor="ctr">
            <a:noAutofit/>
          </a:bodyPr>
          <a:lstStyle>
            <a:defPPr algn="l">
              <a:defRPr sz="2025">
                <a:solidFill>
                  <a:srgbClr val="2657C1"/>
                </a:solidFill>
                <a:latin typeface="TT Fors Bold"/>
                <a:ea typeface="TT Fors Bold"/>
                <a:cs typeface="TT Fors Bold"/>
              </a:defRPr>
            </a:defPPr>
          </a:lstStyle>
          <a:p>
            <a:pPr algn="l">
              <a:defRPr sz="2025">
                <a:solidFill>
                  <a:srgbClr val="2657C1"/>
                </a:solidFill>
                <a:latin typeface="TT Fors Bold"/>
                <a:ea typeface="TT Fors Bold"/>
                <a:cs typeface="TT Fors Bold"/>
              </a:defRPr>
            </a:pPr>
            <a:r>
              <a:rPr sz="2025">
                <a:solidFill>
                  <a:srgbClr val="2657C1"/>
                </a:solidFill>
                <a:latin typeface="TT Fors Bold"/>
                <a:ea typeface="TT Fors Bold"/>
                <a:cs typeface="TT Fors Bold"/>
              </a:rPr>
              <a:t>SQL et valeurs restent séparés.</a:t>
            </a:r>
          </a:p>
        </p:txBody>
      </p:sp>
      <p:sp>
        <p:nvSpPr>
          <p:cNvPr id="2035" name="anim_phase_1">
            <a:extLst>
              <a:ext uri="{FF2B5EF4-FFF2-40B4-BE49-F238E27FC236}">
                <a16:creationId xmlns:a16="http://schemas.microsoft.com/office/drawing/2014/main" id="{B614BF51-7A9B-4B51-B80C-5A0BFF35B485}"/>
              </a:ext>
            </a:extLst>
          </p:cNvPr>
          <p:cNvSpPr>
            <a:spLocks/>
          </p:cNvSpPr>
          <p:nvPr/>
        </p:nvSpPr>
        <p:spPr>
          <a:xfrm>
            <a:off x="1028700" y="649605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01   Saisie</a:t>
            </a:r>
          </a:p>
        </p:txBody>
      </p:sp>
      <p:sp>
        <p:nvSpPr>
          <p:cNvPr id="2036" name="anim_phase_2">
            <a:extLst>
              <a:ext uri="{FF2B5EF4-FFF2-40B4-BE49-F238E27FC236}">
                <a16:creationId xmlns:a16="http://schemas.microsoft.com/office/drawing/2014/main" id="{11FB25A5-5941-4A67-AD28-58E52F7C8632}"/>
              </a:ext>
            </a:extLst>
          </p:cNvPr>
          <p:cNvSpPr>
            <a:spLocks/>
          </p:cNvSpPr>
          <p:nvPr/>
        </p:nvSpPr>
        <p:spPr>
          <a:xfrm>
            <a:off x="1028700" y="704850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02   Analyse locale</a:t>
            </a:r>
          </a:p>
        </p:txBody>
      </p:sp>
      <p:sp>
        <p:nvSpPr>
          <p:cNvPr id="2037" name="anim_phase_3">
            <a:extLst>
              <a:ext uri="{FF2B5EF4-FFF2-40B4-BE49-F238E27FC236}">
                <a16:creationId xmlns:a16="http://schemas.microsoft.com/office/drawing/2014/main" id="{C48E6117-239F-4418-80CC-9DFA5DA4725F}"/>
              </a:ext>
            </a:extLst>
          </p:cNvPr>
          <p:cNvSpPr>
            <a:spLocks/>
          </p:cNvSpPr>
          <p:nvPr/>
        </p:nvSpPr>
        <p:spPr>
          <a:xfrm>
            <a:off x="1028700" y="760095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03   Retour du score</a:t>
            </a:r>
          </a:p>
        </p:txBody>
      </p:sp>
      <p:sp>
        <p:nvSpPr>
          <p:cNvPr id="2038" name="anim_phase_4">
            <a:extLst>
              <a:ext uri="{FF2B5EF4-FFF2-40B4-BE49-F238E27FC236}">
                <a16:creationId xmlns:a16="http://schemas.microsoft.com/office/drawing/2014/main" id="{24FE5948-DF24-4234-B348-502CD0AC4DCA}"/>
              </a:ext>
            </a:extLst>
          </p:cNvPr>
          <p:cNvSpPr>
            <a:spLocks/>
          </p:cNvSpPr>
          <p:nvPr/>
        </p:nvSpPr>
        <p:spPr>
          <a:xfrm>
            <a:off x="1028700" y="8153400"/>
            <a:ext cx="6257925" cy="409575"/>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04   Deux issues possibles</a:t>
            </a:r>
          </a:p>
        </p:txBody>
      </p:sp>
    </p:spTree>
  </p:cSld>
  <p:clrMapOvr>
    <a:masterClrMapping/>
  </p:clrMapOvr>
  <mc:AlternateContent xmlns:mc="http://schemas.openxmlformats.org/markup-compatibility/2006">
    <mc:Choice xmlns:p14="http://schemas.microsoft.com/office/powerpoint/2010/main" Requires="p14">
      <p:transition p14:dur="40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par>
                                <p:cTn id="8" presetID="0" presetClass="entr" presetSubtype="0" accel="22000" decel="25000" fill="hold" grpId="1" nodeType="withEffect">
                                  <p:stCondLst>
                                    <p:cond delay="0"/>
                                  </p:stCondLst>
                                  <p:childTnLst>
                                    <p:set>
                                      <p:cBhvr>
                                        <p:cTn id="9" dur="1" fill="hold">
                                          <p:stCondLst>
                                            <p:cond delay="449"/>
                                          </p:stCondLst>
                                        </p:cTn>
                                        <p:tgtEl>
                                          <p:spTgt spid="12"/>
                                        </p:tgtEl>
                                        <p:attrNameLst>
                                          <p:attrName>style.visibility</p:attrName>
                                        </p:attrNameLst>
                                      </p:cBhvr>
                                      <p:to>
                                        <p:strVal val="visible"/>
                                      </p:to>
                                    </p:set>
                                    <p:animMotion origin="layout" path="M 0 0.01111111 L 0 0 E" pathEditMode="relative">
                                      <p:cBhvr from="" to="">
                                        <p:cTn id="10" dur="450" fill="hold">
                                          <p:stCondLst>
                                            <p:cond delay="0"/>
                                          </p:stCondLst>
                                        </p:cTn>
                                        <p:tgtEl>
                                          <p:spTgt spid="12"/>
                                        </p:tgtEl>
                                        <p:attrNameLst>
                                          <p:attrName>ppt_x</p:attrName>
                                          <p:attrName>ppt_y</p:attrName>
                                        </p:attrNameLst>
                                      </p:cBhvr>
                                    </p:animMotion>
                                  </p:childTnLst>
                                </p:cTn>
                              </p:par>
                            </p:childTnLst>
                          </p:cTn>
                        </p:par>
                        <p:par>
                          <p:cTn id="11"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2001"/>
                                        </p:tgtEl>
                                        <p:attrNameLst>
                                          <p:attrName>style.visibility</p:attrName>
                                        </p:attrNameLst>
                                      </p:cBhvr>
                                      <p:to>
                                        <p:strVal val="visible"/>
                                      </p:to>
                                    </p:set>
                                    <p:animEffect transition="in" filter="fade">
                                      <p:cBhvr>
                                        <p:cTn id="14" dur="320"/>
                                        <p:tgtEl>
                                          <p:spTgt spid="200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iterate type="lt">
                                    <p:tmPct val="10000"/>
                                  </p:iterate>
                                  <p:childTnLst>
                                    <p:set>
                                      <p:cBhvr>
                                        <p:cTn id="18" dur="1" fill="hold">
                                          <p:stCondLst>
                                            <p:cond delay="0"/>
                                          </p:stCondLst>
                                        </p:cTn>
                                        <p:tgtEl>
                                          <p:spTgt spid="2018"/>
                                        </p:tgtEl>
                                        <p:attrNameLst>
                                          <p:attrName>style.visibility</p:attrName>
                                        </p:attrNameLst>
                                      </p:cBhvr>
                                      <p:to>
                                        <p:strVal val="visible"/>
                                      </p:to>
                                    </p:set>
                                    <p:animEffect transition="in" filter="fade">
                                      <p:cBhvr>
                                        <p:cTn id="19" dur="650"/>
                                        <p:tgtEl>
                                          <p:spTgt spid="20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35"/>
                                        </p:tgtEl>
                                        <p:attrNameLst>
                                          <p:attrName>style.visibility</p:attrName>
                                        </p:attrNameLst>
                                      </p:cBhvr>
                                      <p:to>
                                        <p:strVal val="visible"/>
                                      </p:to>
                                    </p:set>
                                    <p:animEffect transition="in" filter="fade">
                                      <p:cBhvr>
                                        <p:cTn id="22" dur="350"/>
                                        <p:tgtEl>
                                          <p:spTgt spid="2035"/>
                                        </p:tgtEl>
                                      </p:cBhvr>
                                    </p:animEffect>
                                  </p:childTnLst>
                                </p:cTn>
                              </p:par>
                              <p:par>
                                <p:cTn id="23" presetID="0" presetClass="entr" presetSubtype="0" accel="22000" decel="25000" fill="hold" grpId="1" nodeType="withEffect">
                                  <p:stCondLst>
                                    <p:cond delay="0"/>
                                  </p:stCondLst>
                                  <p:childTnLst>
                                    <p:set>
                                      <p:cBhvr>
                                        <p:cTn id="24" dur="1" fill="hold">
                                          <p:stCondLst>
                                            <p:cond delay="449"/>
                                          </p:stCondLst>
                                        </p:cTn>
                                        <p:tgtEl>
                                          <p:spTgt spid="2035"/>
                                        </p:tgtEl>
                                        <p:attrNameLst>
                                          <p:attrName>style.visibility</p:attrName>
                                        </p:attrNameLst>
                                      </p:cBhvr>
                                      <p:to>
                                        <p:strVal val="visible"/>
                                      </p:to>
                                    </p:set>
                                    <p:animMotion origin="layout" path="M 0 0.01111111 L 0 0 E" pathEditMode="relative">
                                      <p:cBhvr from="" to="">
                                        <p:cTn id="25" dur="450" fill="hold">
                                          <p:stCondLst>
                                            <p:cond delay="0"/>
                                          </p:stCondLst>
                                        </p:cTn>
                                        <p:tgtEl>
                                          <p:spTgt spid="2035"/>
                                        </p:tgtEl>
                                        <p:attrNameLst>
                                          <p:attrName>ppt_x</p:attrName>
                                          <p:attrName>ppt_y</p:attrName>
                                        </p:attrNameLst>
                                      </p:cBhvr>
                                    </p:animMotion>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19"/>
                                        </p:tgtEl>
                                        <p:attrNameLst>
                                          <p:attrName>style.visibility</p:attrName>
                                        </p:attrNameLst>
                                      </p:cBhvr>
                                      <p:to>
                                        <p:strVal val="visible"/>
                                      </p:to>
                                    </p:set>
                                    <p:animEffect transition="in" filter="fade">
                                      <p:cBhvr>
                                        <p:cTn id="30" dur="320"/>
                                        <p:tgtEl>
                                          <p:spTgt spid="2019"/>
                                        </p:tgtEl>
                                      </p:cBhvr>
                                    </p:animEffect>
                                  </p:childTnLst>
                                </p:cTn>
                              </p:par>
                            </p:childTnLst>
                          </p:cTn>
                        </p:par>
                        <p:par>
                          <p:cTn id="31" fill="hold">
                            <p:stCondLst>
                              <p:cond delay="320"/>
                            </p:stCondLst>
                            <p:childTnLst>
                              <p:par>
                                <p:cTn id="32" presetID="0" presetClass="entr" presetSubtype="0" accel="22000" decel="25000" fill="hold" grpId="1" nodeType="afterEffect">
                                  <p:stCondLst>
                                    <p:cond delay="0"/>
                                  </p:stCondLst>
                                  <p:childTnLst>
                                    <p:set>
                                      <p:cBhvr>
                                        <p:cTn id="33" dur="1" fill="hold">
                                          <p:stCondLst>
                                            <p:cond delay="649"/>
                                          </p:stCondLst>
                                        </p:cTn>
                                        <p:tgtEl>
                                          <p:spTgt spid="2019"/>
                                        </p:tgtEl>
                                        <p:attrNameLst>
                                          <p:attrName>style.visibility</p:attrName>
                                        </p:attrNameLst>
                                      </p:cBhvr>
                                      <p:to>
                                        <p:strVal val="visible"/>
                                      </p:to>
                                    </p:set>
                                    <p:animMotion origin="layout" path="M 0 0 L 0.03020833 0 E" pathEditMode="relative">
                                      <p:cBhvr from="" to="">
                                        <p:cTn id="34" dur="650" fill="hold">
                                          <p:stCondLst>
                                            <p:cond delay="0"/>
                                          </p:stCondLst>
                                        </p:cTn>
                                        <p:tgtEl>
                                          <p:spTgt spid="2019"/>
                                        </p:tgtEl>
                                        <p:attrNameLst>
                                          <p:attrName>ppt_x</p:attrName>
                                          <p:attrName>ppt_y</p:attrName>
                                        </p:attrNameLst>
                                      </p:cBhvr>
                                    </p:animMotion>
                                  </p:childTnLst>
                                </p:cTn>
                              </p:par>
                            </p:childTnLst>
                          </p:cTn>
                        </p:par>
                        <p:par>
                          <p:cTn id="35" fill="hold">
                            <p:stCondLst>
                              <p:cond delay="970"/>
                            </p:stCondLst>
                            <p:childTnLst>
                              <p:par>
                                <p:cTn id="36" presetID="10" presetClass="exit" presetSubtype="0" fill="hold" grpId="2" nodeType="afterEffect">
                                  <p:stCondLst>
                                    <p:cond delay="0"/>
                                  </p:stCondLst>
                                  <p:childTnLst>
                                    <p:animEffect transition="out" filter="fade">
                                      <p:cBhvr>
                                        <p:cTn id="37" dur="500"/>
                                        <p:tgtEl>
                                          <p:spTgt spid="2019"/>
                                        </p:tgtEl>
                                      </p:cBhvr>
                                    </p:animEffect>
                                    <p:set>
                                      <p:cBhvr>
                                        <p:cTn id="38" dur="1" fill="hold">
                                          <p:stCondLst>
                                            <p:cond delay="499"/>
                                          </p:stCondLst>
                                        </p:cTn>
                                        <p:tgtEl>
                                          <p:spTgt spid="2019"/>
                                        </p:tgtEl>
                                        <p:attrNameLst>
                                          <p:attrName>style.visibility</p:attrName>
                                        </p:attrNameLst>
                                      </p:cBhvr>
                                      <p:to>
                                        <p:strVal val="hidden"/>
                                      </p:to>
                                    </p:set>
                                  </p:childTnLst>
                                </p:cTn>
                              </p:par>
                            </p:childTnLst>
                          </p:cTn>
                        </p:par>
                        <p:par>
                          <p:cTn id="39" fill="hold">
                            <p:stCondLst>
                              <p:cond delay="1470"/>
                            </p:stCondLst>
                            <p:childTnLst>
                              <p:par>
                                <p:cTn id="40" presetID="10" presetClass="entr" presetSubtype="0" fill="hold" grpId="0" nodeType="afterEffect">
                                  <p:stCondLst>
                                    <p:cond delay="0"/>
                                  </p:stCondLst>
                                  <p:childTnLst>
                                    <p:set>
                                      <p:cBhvr>
                                        <p:cTn id="41" dur="1" fill="hold">
                                          <p:stCondLst>
                                            <p:cond delay="0"/>
                                          </p:stCondLst>
                                        </p:cTn>
                                        <p:tgtEl>
                                          <p:spTgt spid="2020"/>
                                        </p:tgtEl>
                                        <p:attrNameLst>
                                          <p:attrName>style.visibility</p:attrName>
                                        </p:attrNameLst>
                                      </p:cBhvr>
                                      <p:to>
                                        <p:strVal val="visible"/>
                                      </p:to>
                                    </p:set>
                                    <p:animEffect transition="in" filter="fade">
                                      <p:cBhvr>
                                        <p:cTn id="42" dur="350"/>
                                        <p:tgtEl>
                                          <p:spTgt spid="2020"/>
                                        </p:tgtEl>
                                      </p:cBhvr>
                                    </p:animEffect>
                                  </p:childTnLst>
                                </p:cTn>
                              </p:par>
                              <p:par>
                                <p:cTn id="43" presetID="0" presetClass="entr" presetSubtype="0" accel="22000" decel="25000" fill="hold" grpId="1" nodeType="withEffect">
                                  <p:stCondLst>
                                    <p:cond delay="0"/>
                                  </p:stCondLst>
                                  <p:childTnLst>
                                    <p:set>
                                      <p:cBhvr>
                                        <p:cTn id="44" dur="1" fill="hold">
                                          <p:stCondLst>
                                            <p:cond delay="449"/>
                                          </p:stCondLst>
                                        </p:cTn>
                                        <p:tgtEl>
                                          <p:spTgt spid="2020"/>
                                        </p:tgtEl>
                                        <p:attrNameLst>
                                          <p:attrName>style.visibility</p:attrName>
                                        </p:attrNameLst>
                                      </p:cBhvr>
                                      <p:to>
                                        <p:strVal val="visible"/>
                                      </p:to>
                                    </p:set>
                                    <p:animMotion origin="layout" path="M 0 0.01111111 L 0 0 E" pathEditMode="relative">
                                      <p:cBhvr from="" to="">
                                        <p:cTn id="45" dur="450" fill="hold">
                                          <p:stCondLst>
                                            <p:cond delay="0"/>
                                          </p:stCondLst>
                                        </p:cTn>
                                        <p:tgtEl>
                                          <p:spTgt spid="2020"/>
                                        </p:tgtEl>
                                        <p:attrNameLst>
                                          <p:attrName>ppt_x</p:attrName>
                                          <p:attrName>ppt_y</p:attrName>
                                        </p:attrNameLst>
                                      </p:cBhvr>
                                    </p:animMotion>
                                  </p:childTnLst>
                                </p:cTn>
                              </p:par>
                            </p:childTnLst>
                          </p:cTn>
                        </p:par>
                        <p:par>
                          <p:cTn id="46" fill="hold">
                            <p:stCondLst>
                              <p:cond delay="1920"/>
                            </p:stCondLst>
                            <p:childTnLst>
                              <p:par>
                                <p:cTn id="47" presetID="22" presetClass="entr" presetSubtype="4" fill="hold" nodeType="after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down)">
                                      <p:cBhvr>
                                        <p:cTn id="49" dur="500"/>
                                        <p:tgtEl>
                                          <p:spTgt spid="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36"/>
                                        </p:tgtEl>
                                        <p:attrNameLst>
                                          <p:attrName>style.visibility</p:attrName>
                                        </p:attrNameLst>
                                      </p:cBhvr>
                                      <p:to>
                                        <p:strVal val="visible"/>
                                      </p:to>
                                    </p:set>
                                    <p:animEffect transition="in" filter="fade">
                                      <p:cBhvr>
                                        <p:cTn id="52" dur="350"/>
                                        <p:tgtEl>
                                          <p:spTgt spid="2036"/>
                                        </p:tgtEl>
                                      </p:cBhvr>
                                    </p:animEffect>
                                  </p:childTnLst>
                                </p:cTn>
                              </p:par>
                              <p:par>
                                <p:cTn id="53" presetID="0" presetClass="entr" presetSubtype="0" accel="22000" decel="25000" fill="hold" grpId="1" nodeType="withEffect">
                                  <p:stCondLst>
                                    <p:cond delay="0"/>
                                  </p:stCondLst>
                                  <p:childTnLst>
                                    <p:set>
                                      <p:cBhvr>
                                        <p:cTn id="54" dur="1" fill="hold">
                                          <p:stCondLst>
                                            <p:cond delay="449"/>
                                          </p:stCondLst>
                                        </p:cTn>
                                        <p:tgtEl>
                                          <p:spTgt spid="2036"/>
                                        </p:tgtEl>
                                        <p:attrNameLst>
                                          <p:attrName>style.visibility</p:attrName>
                                        </p:attrNameLst>
                                      </p:cBhvr>
                                      <p:to>
                                        <p:strVal val="visible"/>
                                      </p:to>
                                    </p:set>
                                    <p:animMotion origin="layout" path="M 0 0.01111111 L 0 0 E" pathEditMode="relative">
                                      <p:cBhvr from="" to="">
                                        <p:cTn id="55" dur="450" fill="hold">
                                          <p:stCondLst>
                                            <p:cond delay="0"/>
                                          </p:stCondLst>
                                        </p:cTn>
                                        <p:tgtEl>
                                          <p:spTgt spid="2036"/>
                                        </p:tgtEl>
                                        <p:attrNameLst>
                                          <p:attrName>ppt_x</p:attrName>
                                          <p:attrName>ppt_y</p:attrName>
                                        </p:attrNameLst>
                                      </p:cBhvr>
                                    </p:animMotion>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025"/>
                                        </p:tgtEl>
                                        <p:attrNameLst>
                                          <p:attrName>style.visibility</p:attrName>
                                        </p:attrNameLst>
                                      </p:cBhvr>
                                      <p:to>
                                        <p:strVal val="visible"/>
                                      </p:to>
                                    </p:set>
                                    <p:animEffect transition="in" filter="fade">
                                      <p:cBhvr>
                                        <p:cTn id="60" dur="320"/>
                                        <p:tgtEl>
                                          <p:spTgt spid="2025"/>
                                        </p:tgtEl>
                                      </p:cBhvr>
                                    </p:animEffect>
                                  </p:childTnLst>
                                </p:cTn>
                              </p:par>
                            </p:childTnLst>
                          </p:cTn>
                        </p:par>
                        <p:par>
                          <p:cTn id="61" fill="hold">
                            <p:stCondLst>
                              <p:cond delay="320"/>
                            </p:stCondLst>
                            <p:childTnLst>
                              <p:par>
                                <p:cTn id="62" presetID="0" presetClass="entr" presetSubtype="0" accel="22000" decel="25000" fill="hold" grpId="1" nodeType="afterEffect">
                                  <p:stCondLst>
                                    <p:cond delay="0"/>
                                  </p:stCondLst>
                                  <p:childTnLst>
                                    <p:set>
                                      <p:cBhvr>
                                        <p:cTn id="63" dur="1" fill="hold">
                                          <p:stCondLst>
                                            <p:cond delay="649"/>
                                          </p:stCondLst>
                                        </p:cTn>
                                        <p:tgtEl>
                                          <p:spTgt spid="2025"/>
                                        </p:tgtEl>
                                        <p:attrNameLst>
                                          <p:attrName>style.visibility</p:attrName>
                                        </p:attrNameLst>
                                      </p:cBhvr>
                                      <p:to>
                                        <p:strVal val="visible"/>
                                      </p:to>
                                    </p:set>
                                    <p:animMotion origin="layout" path="M 0 0 L 0.04427083 0 E" pathEditMode="relative">
                                      <p:cBhvr from="" to="">
                                        <p:cTn id="64" dur="650" fill="hold">
                                          <p:stCondLst>
                                            <p:cond delay="0"/>
                                          </p:stCondLst>
                                        </p:cTn>
                                        <p:tgtEl>
                                          <p:spTgt spid="2025"/>
                                        </p:tgtEl>
                                        <p:attrNameLst>
                                          <p:attrName>ppt_x</p:attrName>
                                          <p:attrName>ppt_y</p:attrName>
                                        </p:attrNameLst>
                                      </p:cBhvr>
                                    </p:animMotion>
                                  </p:childTnLst>
                                </p:cTn>
                              </p:par>
                            </p:childTnLst>
                          </p:cTn>
                        </p:par>
                        <p:par>
                          <p:cTn id="65" fill="hold">
                            <p:stCondLst>
                              <p:cond delay="970"/>
                            </p:stCondLst>
                            <p:childTnLst>
                              <p:par>
                                <p:cTn id="66" presetID="10" presetClass="exit" presetSubtype="0" fill="hold" grpId="2" nodeType="afterEffect">
                                  <p:stCondLst>
                                    <p:cond delay="0"/>
                                  </p:stCondLst>
                                  <p:childTnLst>
                                    <p:animEffect transition="out" filter="fade">
                                      <p:cBhvr>
                                        <p:cTn id="67" dur="500"/>
                                        <p:tgtEl>
                                          <p:spTgt spid="2025"/>
                                        </p:tgtEl>
                                      </p:cBhvr>
                                    </p:animEffect>
                                    <p:set>
                                      <p:cBhvr>
                                        <p:cTn id="68" dur="1" fill="hold">
                                          <p:stCondLst>
                                            <p:cond delay="499"/>
                                          </p:stCondLst>
                                        </p:cTn>
                                        <p:tgtEl>
                                          <p:spTgt spid="2025"/>
                                        </p:tgtEl>
                                        <p:attrNameLst>
                                          <p:attrName>style.visibility</p:attrName>
                                        </p:attrNameLst>
                                      </p:cBhvr>
                                      <p:to>
                                        <p:strVal val="hidden"/>
                                      </p:to>
                                    </p:set>
                                  </p:childTnLst>
                                </p:cTn>
                              </p:par>
                            </p:childTnLst>
                          </p:cTn>
                        </p:par>
                        <p:par>
                          <p:cTn id="69" fill="hold">
                            <p:stCondLst>
                              <p:cond delay="1470"/>
                            </p:stCondLst>
                            <p:childTnLst>
                              <p:par>
                                <p:cTn id="70" presetID="10" presetClass="entr" presetSubtype="0" fill="hold" nodeType="after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350"/>
                                        <p:tgtEl>
                                          <p:spTgt spid="13"/>
                                        </p:tgtEl>
                                      </p:cBhvr>
                                    </p:animEffect>
                                  </p:childTnLst>
                                </p:cTn>
                              </p:par>
                              <p:par>
                                <p:cTn id="73" presetID="0" presetClass="entr" presetSubtype="0" accel="22000" decel="25000" fill="hold" nodeType="withEffect">
                                  <p:stCondLst>
                                    <p:cond delay="0"/>
                                  </p:stCondLst>
                                  <p:childTnLst>
                                    <p:set>
                                      <p:cBhvr>
                                        <p:cTn id="74" dur="1" fill="hold">
                                          <p:stCondLst>
                                            <p:cond delay="449"/>
                                          </p:stCondLst>
                                        </p:cTn>
                                        <p:tgtEl>
                                          <p:spTgt spid="13"/>
                                        </p:tgtEl>
                                        <p:attrNameLst>
                                          <p:attrName>style.visibility</p:attrName>
                                        </p:attrNameLst>
                                      </p:cBhvr>
                                      <p:to>
                                        <p:strVal val="visible"/>
                                      </p:to>
                                    </p:set>
                                    <p:animMotion origin="layout" path="M 0 0.01111111 L 0 0 E" pathEditMode="relative">
                                      <p:cBhvr from="" to="">
                                        <p:cTn id="75" dur="450" fill="hold">
                                          <p:stCondLst>
                                            <p:cond delay="0"/>
                                          </p:stCondLst>
                                        </p:cTn>
                                        <p:tgtEl>
                                          <p:spTgt spid="13"/>
                                        </p:tgtEl>
                                        <p:attrNameLst>
                                          <p:attrName>ppt_x</p:attrName>
                                          <p:attrName>ppt_y</p:attrName>
                                        </p:attrNameLst>
                                      </p:cBhvr>
                                    </p:animMotion>
                                  </p:childTnLst>
                                </p:cTn>
                              </p:par>
                              <p:par>
                                <p:cTn id="76" presetID="10" presetClass="entr" presetSubtype="0" fill="hold" grpId="0" nodeType="withEffect">
                                  <p:stCondLst>
                                    <p:cond delay="0"/>
                                  </p:stCondLst>
                                  <p:childTnLst>
                                    <p:set>
                                      <p:cBhvr>
                                        <p:cTn id="77" dur="1" fill="hold">
                                          <p:stCondLst>
                                            <p:cond delay="0"/>
                                          </p:stCondLst>
                                        </p:cTn>
                                        <p:tgtEl>
                                          <p:spTgt spid="2037"/>
                                        </p:tgtEl>
                                        <p:attrNameLst>
                                          <p:attrName>style.visibility</p:attrName>
                                        </p:attrNameLst>
                                      </p:cBhvr>
                                      <p:to>
                                        <p:strVal val="visible"/>
                                      </p:to>
                                    </p:set>
                                    <p:animEffect transition="in" filter="fade">
                                      <p:cBhvr>
                                        <p:cTn id="78" dur="350"/>
                                        <p:tgtEl>
                                          <p:spTgt spid="2037"/>
                                        </p:tgtEl>
                                      </p:cBhvr>
                                    </p:animEffect>
                                  </p:childTnLst>
                                </p:cTn>
                              </p:par>
                              <p:par>
                                <p:cTn id="79" presetID="0" presetClass="entr" presetSubtype="0" accel="22000" decel="25000" fill="hold" grpId="1" nodeType="withEffect">
                                  <p:stCondLst>
                                    <p:cond delay="0"/>
                                  </p:stCondLst>
                                  <p:childTnLst>
                                    <p:set>
                                      <p:cBhvr>
                                        <p:cTn id="80" dur="1" fill="hold">
                                          <p:stCondLst>
                                            <p:cond delay="449"/>
                                          </p:stCondLst>
                                        </p:cTn>
                                        <p:tgtEl>
                                          <p:spTgt spid="2037"/>
                                        </p:tgtEl>
                                        <p:attrNameLst>
                                          <p:attrName>style.visibility</p:attrName>
                                        </p:attrNameLst>
                                      </p:cBhvr>
                                      <p:to>
                                        <p:strVal val="visible"/>
                                      </p:to>
                                    </p:set>
                                    <p:animMotion origin="layout" path="M 0 0.01111111 L 0 0 E" pathEditMode="relative">
                                      <p:cBhvr from="" to="">
                                        <p:cTn id="81" dur="450" fill="hold">
                                          <p:stCondLst>
                                            <p:cond delay="0"/>
                                          </p:stCondLst>
                                        </p:cTn>
                                        <p:tgtEl>
                                          <p:spTgt spid="2037"/>
                                        </p:tgtEl>
                                        <p:attrNameLst>
                                          <p:attrName>ppt_x</p:attrName>
                                          <p:attrName>ppt_y</p:attrName>
                                        </p:attrNameLst>
                                      </p:cBhvr>
                                    </p:animMotion>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wipe(down)">
                                      <p:cBhvr>
                                        <p:cTn id="86" dur="500"/>
                                        <p:tgtEl>
                                          <p:spTgt spid="18"/>
                                        </p:tgtEl>
                                      </p:cBhvr>
                                    </p:animEffect>
                                  </p:childTnLst>
                                </p:cTn>
                              </p:par>
                            </p:childTnLst>
                          </p:cTn>
                        </p:par>
                        <p:par>
                          <p:cTn id="87" fill="hold">
                            <p:stCondLst>
                              <p:cond delay="500"/>
                            </p:stCondLst>
                            <p:childTnLst>
                              <p:par>
                                <p:cTn id="88" presetID="10" presetClass="entr" presetSubtype="0" fill="hold" grpId="0" nodeType="afterEffect">
                                  <p:stCondLst>
                                    <p:cond delay="0"/>
                                  </p:stCondLst>
                                  <p:childTnLst>
                                    <p:set>
                                      <p:cBhvr>
                                        <p:cTn id="89" dur="1" fill="hold">
                                          <p:stCondLst>
                                            <p:cond delay="0"/>
                                          </p:stCondLst>
                                        </p:cTn>
                                        <p:tgtEl>
                                          <p:spTgt spid="2034"/>
                                        </p:tgtEl>
                                        <p:attrNameLst>
                                          <p:attrName>style.visibility</p:attrName>
                                        </p:attrNameLst>
                                      </p:cBhvr>
                                      <p:to>
                                        <p:strVal val="visible"/>
                                      </p:to>
                                    </p:set>
                                    <p:animEffect transition="in" filter="fade">
                                      <p:cBhvr>
                                        <p:cTn id="90" dur="350"/>
                                        <p:tgtEl>
                                          <p:spTgt spid="2034"/>
                                        </p:tgtEl>
                                      </p:cBhvr>
                                    </p:animEffect>
                                  </p:childTnLst>
                                </p:cTn>
                              </p:par>
                              <p:par>
                                <p:cTn id="91" presetID="0" presetClass="entr" presetSubtype="0" accel="22000" decel="25000" fill="hold" grpId="1" nodeType="withEffect">
                                  <p:stCondLst>
                                    <p:cond delay="0"/>
                                  </p:stCondLst>
                                  <p:childTnLst>
                                    <p:set>
                                      <p:cBhvr>
                                        <p:cTn id="92" dur="1" fill="hold">
                                          <p:stCondLst>
                                            <p:cond delay="449"/>
                                          </p:stCondLst>
                                        </p:cTn>
                                        <p:tgtEl>
                                          <p:spTgt spid="2034"/>
                                        </p:tgtEl>
                                        <p:attrNameLst>
                                          <p:attrName>style.visibility</p:attrName>
                                        </p:attrNameLst>
                                      </p:cBhvr>
                                      <p:to>
                                        <p:strVal val="visible"/>
                                      </p:to>
                                    </p:set>
                                    <p:animMotion origin="layout" path="M 0 0.01111111 L 0 0 E" pathEditMode="relative">
                                      <p:cBhvr from="" to="">
                                        <p:cTn id="93" dur="450" fill="hold">
                                          <p:stCondLst>
                                            <p:cond delay="0"/>
                                          </p:stCondLst>
                                        </p:cTn>
                                        <p:tgtEl>
                                          <p:spTgt spid="2034"/>
                                        </p:tgtEl>
                                        <p:attrNameLst>
                                          <p:attrName>ppt_x</p:attrName>
                                          <p:attrName>ppt_y</p:attrName>
                                        </p:attrNameLst>
                                      </p:cBhvr>
                                    </p:animMotion>
                                  </p:childTnLst>
                                </p:cTn>
                              </p:par>
                              <p:par>
                                <p:cTn id="94" presetID="10" presetClass="entr" presetSubtype="0" fill="hold" grpId="0" nodeType="withEffect">
                                  <p:stCondLst>
                                    <p:cond delay="0"/>
                                  </p:stCondLst>
                                  <p:childTnLst>
                                    <p:set>
                                      <p:cBhvr>
                                        <p:cTn id="95" dur="1" fill="hold">
                                          <p:stCondLst>
                                            <p:cond delay="0"/>
                                          </p:stCondLst>
                                        </p:cTn>
                                        <p:tgtEl>
                                          <p:spTgt spid="2038"/>
                                        </p:tgtEl>
                                        <p:attrNameLst>
                                          <p:attrName>style.visibility</p:attrName>
                                        </p:attrNameLst>
                                      </p:cBhvr>
                                      <p:to>
                                        <p:strVal val="visible"/>
                                      </p:to>
                                    </p:set>
                                    <p:animEffect transition="in" filter="fade">
                                      <p:cBhvr>
                                        <p:cTn id="96" dur="350"/>
                                        <p:tgtEl>
                                          <p:spTgt spid="2038"/>
                                        </p:tgtEl>
                                      </p:cBhvr>
                                    </p:animEffect>
                                  </p:childTnLst>
                                </p:cTn>
                              </p:par>
                              <p:par>
                                <p:cTn id="97" presetID="0" presetClass="entr" presetSubtype="0" accel="22000" decel="25000" fill="hold" grpId="1" nodeType="withEffect">
                                  <p:stCondLst>
                                    <p:cond delay="0"/>
                                  </p:stCondLst>
                                  <p:childTnLst>
                                    <p:set>
                                      <p:cBhvr>
                                        <p:cTn id="98" dur="1" fill="hold">
                                          <p:stCondLst>
                                            <p:cond delay="449"/>
                                          </p:stCondLst>
                                        </p:cTn>
                                        <p:tgtEl>
                                          <p:spTgt spid="2038"/>
                                        </p:tgtEl>
                                        <p:attrNameLst>
                                          <p:attrName>style.visibility</p:attrName>
                                        </p:attrNameLst>
                                      </p:cBhvr>
                                      <p:to>
                                        <p:strVal val="visible"/>
                                      </p:to>
                                    </p:set>
                                    <p:animMotion origin="layout" path="M 0 0.01111111 L 0 0 E" pathEditMode="relative">
                                      <p:cBhvr from="" to="">
                                        <p:cTn id="99" dur="450" fill="hold">
                                          <p:stCondLst>
                                            <p:cond delay="0"/>
                                          </p:stCondLst>
                                        </p:cTn>
                                        <p:tgtEl>
                                          <p:spTgt spid="203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2001" grpId="0"/>
      <p:bldP spid="2018" grpId="0"/>
      <p:bldP spid="2019" grpId="0" animBg="1"/>
      <p:bldP spid="2019" grpId="1" animBg="1"/>
      <p:bldP spid="2019" grpId="2" animBg="1"/>
      <p:bldP spid="2020" grpId="0"/>
      <p:bldP spid="2020" grpId="1"/>
      <p:bldP spid="2025" grpId="0" animBg="1"/>
      <p:bldP spid="2025" grpId="1" animBg="1"/>
      <p:bldP spid="2025" grpId="2" animBg="1"/>
      <p:bldP spid="2034" grpId="0"/>
      <p:bldP spid="2034" grpId="1"/>
      <p:bldP spid="2035" grpId="0"/>
      <p:bldP spid="2035" grpId="1"/>
      <p:bldP spid="2036" grpId="0"/>
      <p:bldP spid="2036" grpId="1"/>
      <p:bldP spid="2037" grpId="0"/>
      <p:bldP spid="2037" grpId="1"/>
      <p:bldP spid="2038" grpId="0"/>
      <p:bldP spid="2038"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259300" y="1170833"/>
            <a:ext cx="1765318" cy="1765318"/>
          </a:xfrm>
          <a:custGeom>
            <a:avLst/>
            <a:gdLst/>
            <a:ahLst/>
            <a:cxnLst/>
            <a:rect l="l" t="t" r="r" b="b"/>
            <a:pathLst>
              <a:path w="1765318" h="1765318">
                <a:moveTo>
                  <a:pt x="0" y="0"/>
                </a:moveTo>
                <a:lnTo>
                  <a:pt x="1765318" y="0"/>
                </a:lnTo>
                <a:lnTo>
                  <a:pt x="1765318" y="1765318"/>
                </a:lnTo>
                <a:lnTo>
                  <a:pt x="0" y="1765318"/>
                </a:lnTo>
                <a:lnTo>
                  <a:pt x="0" y="0"/>
                </a:lnTo>
                <a:close/>
              </a:path>
            </a:pathLst>
          </a:custGeom>
          <a:blipFill>
            <a:blip r:embed="rId3"/>
            <a:stretch>
              <a:fillRect/>
            </a:stretch>
          </a:blipFill>
        </p:spPr>
      </p:sp>
      <p:sp>
        <p:nvSpPr>
          <p:cNvPr id="3" name="Freeform 3"/>
          <p:cNvSpPr/>
          <p:nvPr/>
        </p:nvSpPr>
        <p:spPr>
          <a:xfrm>
            <a:off x="-976303" y="8481158"/>
            <a:ext cx="2967217" cy="2967217"/>
          </a:xfrm>
          <a:custGeom>
            <a:avLst/>
            <a:gdLst/>
            <a:ahLst/>
            <a:cxnLst/>
            <a:rect l="l" t="t" r="r" b="b"/>
            <a:pathLst>
              <a:path w="2967217" h="2967217">
                <a:moveTo>
                  <a:pt x="0" y="0"/>
                </a:moveTo>
                <a:lnTo>
                  <a:pt x="2967217" y="0"/>
                </a:lnTo>
                <a:lnTo>
                  <a:pt x="2967217" y="2967217"/>
                </a:lnTo>
                <a:lnTo>
                  <a:pt x="0" y="2967217"/>
                </a:lnTo>
                <a:lnTo>
                  <a:pt x="0" y="0"/>
                </a:lnTo>
                <a:close/>
              </a:path>
            </a:pathLst>
          </a:custGeom>
          <a:blipFill>
            <a:blip r:embed="rId3"/>
            <a:stretch>
              <a:fillRect/>
            </a:stretch>
          </a:blipFill>
        </p:spPr>
      </p:sp>
      <p:sp>
        <p:nvSpPr>
          <p:cNvPr id="4" name="Freeform 4"/>
          <p:cNvSpPr/>
          <p:nvPr/>
        </p:nvSpPr>
        <p:spPr>
          <a:xfrm>
            <a:off x="16053186" y="8908955"/>
            <a:ext cx="3369168" cy="3369168"/>
          </a:xfrm>
          <a:custGeom>
            <a:avLst/>
            <a:gdLst/>
            <a:ahLst/>
            <a:cxnLst/>
            <a:rect l="l" t="t" r="r" b="b"/>
            <a:pathLst>
              <a:path w="3369168" h="3369168">
                <a:moveTo>
                  <a:pt x="0" y="0"/>
                </a:moveTo>
                <a:lnTo>
                  <a:pt x="3369168" y="0"/>
                </a:lnTo>
                <a:lnTo>
                  <a:pt x="3369168" y="3369168"/>
                </a:lnTo>
                <a:lnTo>
                  <a:pt x="0" y="33691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0" y="0"/>
            <a:ext cx="18288000" cy="213007"/>
            <a:chOff x="0" y="0"/>
            <a:chExt cx="4816593" cy="56101"/>
          </a:xfrm>
        </p:grpSpPr>
        <p:sp>
          <p:nvSpPr>
            <p:cNvPr id="6" name="Freeform 6"/>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sp>
        <p:sp>
          <p:nvSpPr>
            <p:cNvPr id="7" name="TextBox 7"/>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9" name="TextBox 9"/>
          <p:cNvSpPr txBox="1"/>
          <p:nvPr/>
        </p:nvSpPr>
        <p:spPr>
          <a:xfrm>
            <a:off x="1028700" y="726850"/>
            <a:ext cx="3166518" cy="298159"/>
          </a:xfrm>
          <a:prstGeom prst="rect">
            <a:avLst/>
          </a:prstGeom>
        </p:spPr>
        <p:txBody>
          <a:bodyPr lIns="0" tIns="0" rIns="0" bIns="0" rtlCol="0" anchor="t">
            <a:spAutoFit/>
          </a:bodyPr>
          <a:lstStyle/>
          <a:p>
            <a:pPr algn="l">
              <a:lnSpc>
                <a:spcPts val="2182"/>
              </a:lnSpc>
            </a:pPr>
            <a:r>
              <a:rPr lang="en-US" sz="2250" b="1">
                <a:solidFill>
                  <a:srgbClr val="2657C1"/>
                </a:solidFill>
                <a:latin typeface="TT Fors Bold"/>
                <a:ea typeface="TT Fors Bold"/>
                <a:cs typeface="TT Fors Bold"/>
                <a:sym typeface="TT Fors Bold"/>
              </a:rPr>
              <a:t>CYBERSHIELD AI</a:t>
            </a:r>
          </a:p>
        </p:txBody>
      </p:sp>
      <p:sp>
        <p:nvSpPr>
          <p:cNvPr id="10" name="TextBox 10"/>
          <p:cNvSpPr txBox="1"/>
          <p:nvPr/>
        </p:nvSpPr>
        <p:spPr>
          <a:xfrm>
            <a:off x="9144000" y="631600"/>
            <a:ext cx="1662550"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Projet</a:t>
            </a:r>
          </a:p>
        </p:txBody>
      </p:sp>
      <p:grpSp>
        <p:nvGrpSpPr>
          <p:cNvPr id="8" name="anim_heading">
            <a:extLst>
              <a:ext uri="{FF2B5EF4-FFF2-40B4-BE49-F238E27FC236}">
                <a16:creationId xmlns:a16="http://schemas.microsoft.com/office/drawing/2014/main" id="{4C657149-DE36-2D49-33AC-FC3B75495A3F}"/>
              </a:ext>
            </a:extLst>
          </p:cNvPr>
          <p:cNvGrpSpPr/>
          <p:nvPr/>
        </p:nvGrpSpPr>
        <p:grpSpPr>
          <a:xfrm>
            <a:off x="1028700" y="2301142"/>
            <a:ext cx="6783859" cy="4451210"/>
            <a:chOff x="1028700" y="2301142"/>
            <a:chExt cx="6783859" cy="4451210"/>
          </a:xfrm>
        </p:grpSpPr>
        <p:sp>
          <p:nvSpPr>
            <p:cNvPr id="11" name="TextBox 11"/>
            <p:cNvSpPr txBox="1"/>
            <p:nvPr/>
          </p:nvSpPr>
          <p:spPr>
            <a:xfrm>
              <a:off x="1028700" y="2301142"/>
              <a:ext cx="6783859" cy="2762134"/>
            </a:xfrm>
            <a:prstGeom prst="rect">
              <a:avLst/>
            </a:prstGeom>
          </p:spPr>
          <p:txBody>
            <a:bodyPr lIns="0" tIns="0" rIns="0" bIns="0" rtlCol="0" anchor="t">
              <a:spAutoFit/>
            </a:bodyPr>
            <a:lstStyle/>
            <a:p>
              <a:pPr algn="l">
                <a:lnSpc>
                  <a:spcPts val="10595"/>
                </a:lnSpc>
              </a:pPr>
              <a:r>
                <a:rPr lang="en-US" sz="10922" spc="-109">
                  <a:solidFill>
                    <a:srgbClr val="2657C1"/>
                  </a:solidFill>
                  <a:latin typeface="Etna Sans Serif"/>
                  <a:ea typeface="Etna Sans Serif"/>
                  <a:cs typeface="Etna Sans Serif"/>
                  <a:sym typeface="Etna Sans Serif"/>
                </a:rPr>
                <a:t>Résultats</a:t>
              </a:r>
            </a:p>
            <a:p>
              <a:pPr algn="l">
                <a:lnSpc>
                  <a:spcPts val="10595"/>
                </a:lnSpc>
              </a:pPr>
              <a:r>
                <a:rPr lang="en-US" sz="10922" spc="-109">
                  <a:solidFill>
                    <a:srgbClr val="2657C1"/>
                  </a:solidFill>
                  <a:latin typeface="Etna Sans Serif"/>
                  <a:ea typeface="Etna Sans Serif"/>
                  <a:cs typeface="Etna Sans Serif"/>
                  <a:sym typeface="Etna Sans Serif"/>
                </a:rPr>
                <a:t>et limites</a:t>
              </a:r>
            </a:p>
          </p:txBody>
        </p:sp>
        <p:sp>
          <p:nvSpPr>
            <p:cNvPr id="12" name="TextBox 12"/>
            <p:cNvSpPr txBox="1"/>
            <p:nvPr/>
          </p:nvSpPr>
          <p:spPr>
            <a:xfrm>
              <a:off x="1028700" y="5276948"/>
              <a:ext cx="6783859" cy="1475404"/>
            </a:xfrm>
            <a:prstGeom prst="rect">
              <a:avLst/>
            </a:prstGeom>
          </p:spPr>
          <p:txBody>
            <a:bodyPr lIns="0" tIns="0" rIns="0" bIns="0" rtlCol="0" anchor="t">
              <a:spAutoFit/>
            </a:bodyPr>
            <a:lstStyle/>
            <a:p>
              <a:pPr marL="0" lvl="0" indent="0" algn="just">
                <a:lnSpc>
                  <a:spcPts val="2940"/>
                </a:lnSpc>
                <a:spcBef>
                  <a:spcPct val="0"/>
                </a:spcBef>
              </a:pPr>
              <a:r>
                <a:rPr lang="fr-FR" sz="2100">
                  <a:solidFill>
                    <a:srgbClr val="2657C1"/>
                  </a:solidFill>
                  <a:latin typeface="TT Fors"/>
                  <a:ea typeface="TT Fors"/>
                  <a:cs typeface="TT Fors"/>
                  <a:sym typeface="TT Fors"/>
                </a:rPr>
                <a:t>MLP v2 sur SR-BH 2020.</a:t>
              </a:r>
            </a:p>
            <a:p>
              <a:pPr marL="0" lvl="0" indent="0" algn="just">
                <a:lnSpc>
                  <a:spcPts val="2940"/>
                </a:lnSpc>
                <a:spcBef>
                  <a:spcPct val="0"/>
                </a:spcBef>
              </a:pPr>
              <a:r>
                <a:rPr lang="fr-FR" sz="2100">
                  <a:solidFill>
                    <a:srgbClr val="2657C1"/>
                  </a:solidFill>
                  <a:latin typeface="TT Fors"/>
                  <a:ea typeface="TT Fors"/>
                  <a:cs typeface="TT Fors"/>
                  <a:sym typeface="TT Fors"/>
                </a:rPr>
                <a:t>Un honeypot, douze jours.</a:t>
              </a:r>
            </a:p>
            <a:p>
              <a:pPr marL="0" lvl="0" indent="0" algn="just">
                <a:lnSpc>
                  <a:spcPts val="2940"/>
                </a:lnSpc>
                <a:spcBef>
                  <a:spcPct val="0"/>
                </a:spcBef>
              </a:pPr>
              <a:r>
                <a:rPr lang="fr-FR" sz="2100">
                  <a:solidFill>
                    <a:srgbClr val="2657C1"/>
                  </a:solidFill>
                  <a:latin typeface="TT Fors"/>
                  <a:ea typeface="TT Fors"/>
                  <a:cs typeface="TT Fors"/>
                  <a:sym typeface="TT Fors"/>
                </a:rPr>
                <a:t>Une capture ne valide pas tous les sites.</a:t>
              </a:r>
            </a:p>
            <a:p>
              <a:pPr marL="0" lvl="0" indent="0" algn="just">
                <a:lnSpc>
                  <a:spcPts val="2940"/>
                </a:lnSpc>
                <a:spcBef>
                  <a:spcPct val="0"/>
                </a:spcBef>
              </a:pPr>
              <a:r>
                <a:rPr lang="fr-FR" sz="2100">
                  <a:solidFill>
                    <a:srgbClr val="2657C1"/>
                  </a:solidFill>
                  <a:latin typeface="TT Fors"/>
                  <a:ea typeface="TT Fors"/>
                  <a:cs typeface="TT Fors"/>
                  <a:sym typeface="TT Fors"/>
                </a:rPr>
                <a:t>Repères ISO : aucune certification revendiquée.</a:t>
              </a:r>
              <a:endParaRPr lang="en-US" sz="2100">
                <a:solidFill>
                  <a:srgbClr val="2657C1"/>
                </a:solidFill>
                <a:latin typeface="TT Fors"/>
                <a:ea typeface="TT Fors"/>
                <a:cs typeface="TT Fors"/>
                <a:sym typeface="TT Fors"/>
              </a:endParaRPr>
            </a:p>
          </p:txBody>
        </p:sp>
      </p:grpSp>
      <p:sp>
        <p:nvSpPr>
          <p:cNvPr id="13" name="TextBox 13"/>
          <p:cNvSpPr txBox="1"/>
          <p:nvPr/>
        </p:nvSpPr>
        <p:spPr>
          <a:xfrm>
            <a:off x="13726729" y="631600"/>
            <a:ext cx="1916881"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Bold" panose="020B0604020202020204" charset="0"/>
                <a:ea typeface="TT Fors"/>
                <a:cs typeface="TT Fors"/>
                <a:sym typeface="TT Fors"/>
              </a:rPr>
              <a:t>Résultats</a:t>
            </a:r>
          </a:p>
        </p:txBody>
      </p:sp>
      <p:sp>
        <p:nvSpPr>
          <p:cNvPr id="14" name="TextBox 14"/>
          <p:cNvSpPr txBox="1"/>
          <p:nvPr/>
        </p:nvSpPr>
        <p:spPr>
          <a:xfrm>
            <a:off x="16053186" y="633813"/>
            <a:ext cx="1206114"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Suite</a:t>
            </a:r>
          </a:p>
        </p:txBody>
      </p:sp>
      <p:sp>
        <p:nvSpPr>
          <p:cNvPr id="15" name="TextBox 15"/>
          <p:cNvSpPr txBox="1"/>
          <p:nvPr/>
        </p:nvSpPr>
        <p:spPr>
          <a:xfrm>
            <a:off x="11362447" y="633813"/>
            <a:ext cx="1907082" cy="394403"/>
          </a:xfrm>
          <a:prstGeom prst="rect">
            <a:avLst/>
          </a:prstGeom>
        </p:spPr>
        <p:txBody>
          <a:bodyPr lIns="0" tIns="0" rIns="0" bIns="0" rtlCol="0" anchor="t">
            <a:spAutoFit/>
          </a:bodyPr>
          <a:lstStyle/>
          <a:p>
            <a:pPr marL="0" lvl="0" indent="0" algn="l">
              <a:lnSpc>
                <a:spcPts val="3151"/>
              </a:lnSpc>
              <a:spcBef>
                <a:spcPct val="0"/>
              </a:spcBef>
            </a:pPr>
            <a:r>
              <a:rPr lang="en-US" sz="2251" b="1">
                <a:solidFill>
                  <a:srgbClr val="2657C1"/>
                </a:solidFill>
                <a:latin typeface="TT Fors" panose="020B0604020202020204" charset="0"/>
                <a:ea typeface="TT Fors Bold"/>
                <a:cs typeface="TT Fors Bold"/>
                <a:sym typeface="TT Fors Bold"/>
              </a:rPr>
              <a:t>Solution</a:t>
            </a:r>
          </a:p>
        </p:txBody>
      </p:sp>
      <p:grpSp>
        <p:nvGrpSpPr>
          <p:cNvPr id="16" name="anim_capture">
            <a:extLst>
              <a:ext uri="{FF2B5EF4-FFF2-40B4-BE49-F238E27FC236}">
                <a16:creationId xmlns:a16="http://schemas.microsoft.com/office/drawing/2014/main" id="{D9E20BC9-D177-C97E-046A-2F101CAA520B}"/>
              </a:ext>
            </a:extLst>
          </p:cNvPr>
          <p:cNvGrpSpPr/>
          <p:nvPr/>
        </p:nvGrpSpPr>
        <p:grpSpPr>
          <a:xfrm>
            <a:off x="8705850" y="2552700"/>
            <a:ext cx="8534400" cy="2257425"/>
            <a:chOff x="8705850" y="2552700"/>
            <a:chExt cx="8534400" cy="2257425"/>
          </a:xfrm>
        </p:grpSpPr>
        <p:sp>
          <p:nvSpPr>
            <p:cNvPr id="2001" name="capture_n">
              <a:extLst>
                <a:ext uri="{FF2B5EF4-FFF2-40B4-BE49-F238E27FC236}">
                  <a16:creationId xmlns:a16="http://schemas.microsoft.com/office/drawing/2014/main" id="{4F7E40AB-20E7-484E-9F61-7DECAD1C6420}"/>
                </a:ext>
              </a:extLst>
            </p:cNvPr>
            <p:cNvSpPr>
              <a:spLocks/>
            </p:cNvSpPr>
            <p:nvPr/>
          </p:nvSpPr>
          <p:spPr>
            <a:xfrm>
              <a:off x="8705850" y="2552700"/>
              <a:ext cx="8429625" cy="1638300"/>
            </a:xfrm>
            <a:prstGeom prst="rect">
              <a:avLst/>
            </a:prstGeom>
            <a:noFill/>
            <a:ln w="9525">
              <a:noFill/>
              <a:prstDash val="solid"/>
            </a:ln>
          </p:spPr>
          <p:txBody>
            <a:bodyPr wrap="square" lIns="0" tIns="0" rIns="0" bIns="0" anchor="ctr">
              <a:noAutofit/>
            </a:bodyPr>
            <a:lstStyle>
              <a:defPPr algn="l">
                <a:defRPr sz="10920">
                  <a:solidFill>
                    <a:srgbClr val="2657C1"/>
                  </a:solidFill>
                  <a:latin typeface="Etna Sans Serif"/>
                  <a:ea typeface="Etna Sans Serif"/>
                  <a:cs typeface="Etna Sans Serif"/>
                </a:defRPr>
              </a:defPPr>
            </a:lstStyle>
            <a:p>
              <a:pPr algn="l">
                <a:defRPr sz="10920">
                  <a:solidFill>
                    <a:srgbClr val="2657C1"/>
                  </a:solidFill>
                  <a:latin typeface="Etna Sans Serif"/>
                  <a:ea typeface="Etna Sans Serif"/>
                  <a:cs typeface="Etna Sans Serif"/>
                </a:defRPr>
              </a:pPr>
              <a:r>
                <a:rPr sz="10920">
                  <a:solidFill>
                    <a:srgbClr val="2657C1"/>
                  </a:solidFill>
                  <a:latin typeface="Etna Sans Serif"/>
                  <a:ea typeface="Etna Sans Serif"/>
                  <a:cs typeface="Etna Sans Serif"/>
                </a:rPr>
                <a:t>775 506</a:t>
              </a:r>
            </a:p>
          </p:txBody>
        </p:sp>
        <p:sp>
          <p:nvSpPr>
            <p:cNvPr id="2002" name="capture_label">
              <a:extLst>
                <a:ext uri="{FF2B5EF4-FFF2-40B4-BE49-F238E27FC236}">
                  <a16:creationId xmlns:a16="http://schemas.microsoft.com/office/drawing/2014/main" id="{2D3F10F9-F408-4938-9851-3BD0CF47D6F4}"/>
                </a:ext>
              </a:extLst>
            </p:cNvPr>
            <p:cNvSpPr>
              <a:spLocks/>
            </p:cNvSpPr>
            <p:nvPr/>
          </p:nvSpPr>
          <p:spPr>
            <a:xfrm>
              <a:off x="8763000" y="4286250"/>
              <a:ext cx="8477250" cy="523875"/>
            </a:xfrm>
            <a:prstGeom prst="rect">
              <a:avLst/>
            </a:prstGeom>
            <a:noFill/>
            <a:ln w="9525">
              <a:noFill/>
              <a:prstDash val="solid"/>
            </a:ln>
          </p:spPr>
          <p:txBody>
            <a:bodyPr wrap="square" lIns="0" tIns="0" rIns="0" bIns="0" anchor="ctr">
              <a:noAutofit/>
            </a:bodyPr>
            <a:lstStyle>
              <a:defPPr algn="l">
                <a:defRPr sz="2325">
                  <a:solidFill>
                    <a:srgbClr val="2657C1"/>
                  </a:solidFill>
                  <a:latin typeface="TT Fors"/>
                  <a:ea typeface="TT Fors"/>
                  <a:cs typeface="TT Fors"/>
                </a:defRPr>
              </a:defPPr>
            </a:lstStyle>
            <a:p>
              <a:pPr algn="l">
                <a:defRPr sz="2325">
                  <a:solidFill>
                    <a:srgbClr val="2657C1"/>
                  </a:solidFill>
                  <a:latin typeface="TT Fors"/>
                  <a:ea typeface="TT Fors"/>
                  <a:cs typeface="TT Fors"/>
                </a:defRPr>
              </a:pPr>
              <a:r>
                <a:rPr sz="2325">
                  <a:solidFill>
                    <a:srgbClr val="2657C1"/>
                  </a:solidFill>
                  <a:latin typeface="TT Fors"/>
                  <a:ea typeface="TT Fors"/>
                  <a:cs typeface="TT Fors"/>
                </a:rPr>
                <a:t>requêtes normales ou SQLi évaluées</a:t>
              </a:r>
            </a:p>
          </p:txBody>
        </p:sp>
      </p:grpSp>
      <p:grpSp>
        <p:nvGrpSpPr>
          <p:cNvPr id="17" name="anim_metrics">
            <a:extLst>
              <a:ext uri="{FF2B5EF4-FFF2-40B4-BE49-F238E27FC236}">
                <a16:creationId xmlns:a16="http://schemas.microsoft.com/office/drawing/2014/main" id="{F3C78ECA-8AF0-4D12-7E5E-7AED599DC02A}"/>
              </a:ext>
            </a:extLst>
          </p:cNvPr>
          <p:cNvGrpSpPr/>
          <p:nvPr/>
        </p:nvGrpSpPr>
        <p:grpSpPr>
          <a:xfrm>
            <a:off x="8705850" y="5381625"/>
            <a:ext cx="8572500" cy="1790700"/>
            <a:chOff x="8705850" y="5381625"/>
            <a:chExt cx="8572500" cy="1790700"/>
          </a:xfrm>
        </p:grpSpPr>
        <p:sp>
          <p:nvSpPr>
            <p:cNvPr id="2003" name="f1">
              <a:extLst>
                <a:ext uri="{FF2B5EF4-FFF2-40B4-BE49-F238E27FC236}">
                  <a16:creationId xmlns:a16="http://schemas.microsoft.com/office/drawing/2014/main" id="{C7C09EBB-88FD-4996-AC1C-FEECC0CA2C94}"/>
                </a:ext>
              </a:extLst>
            </p:cNvPr>
            <p:cNvSpPr>
              <a:spLocks/>
            </p:cNvSpPr>
            <p:nvPr/>
          </p:nvSpPr>
          <p:spPr>
            <a:xfrm>
              <a:off x="8705850" y="5381625"/>
              <a:ext cx="3905250" cy="1200150"/>
            </a:xfrm>
            <a:prstGeom prst="rect">
              <a:avLst/>
            </a:prstGeom>
            <a:noFill/>
            <a:ln w="9525">
              <a:noFill/>
              <a:prstDash val="solid"/>
            </a:ln>
          </p:spPr>
          <p:txBody>
            <a:bodyPr wrap="square" lIns="0" tIns="0" rIns="0" bIns="0" anchor="ctr">
              <a:noAutofit/>
            </a:bodyPr>
            <a:lstStyle>
              <a:defPPr algn="l">
                <a:defRPr sz="7800">
                  <a:solidFill>
                    <a:srgbClr val="2657C1"/>
                  </a:solidFill>
                  <a:latin typeface="Etna Sans Serif"/>
                  <a:ea typeface="Etna Sans Serif"/>
                  <a:cs typeface="Etna Sans Serif"/>
                </a:defRPr>
              </a:defPPr>
            </a:lstStyle>
            <a:p>
              <a:pPr algn="l">
                <a:defRPr sz="7800">
                  <a:solidFill>
                    <a:srgbClr val="2657C1"/>
                  </a:solidFill>
                  <a:latin typeface="Etna Sans Serif"/>
                  <a:ea typeface="Etna Sans Serif"/>
                  <a:cs typeface="Etna Sans Serif"/>
                </a:defRPr>
              </a:pPr>
              <a:r>
                <a:rPr sz="7800">
                  <a:solidFill>
                    <a:srgbClr val="2657C1"/>
                  </a:solidFill>
                  <a:latin typeface="Etna Sans Serif"/>
                  <a:ea typeface="Etna Sans Serif"/>
                  <a:cs typeface="Etna Sans Serif"/>
                </a:rPr>
                <a:t>0,862</a:t>
              </a:r>
            </a:p>
          </p:txBody>
        </p:sp>
        <p:sp>
          <p:nvSpPr>
            <p:cNvPr id="2004" name="f1_label">
              <a:extLst>
                <a:ext uri="{FF2B5EF4-FFF2-40B4-BE49-F238E27FC236}">
                  <a16:creationId xmlns:a16="http://schemas.microsoft.com/office/drawing/2014/main" id="{D0A42678-DAEE-4416-A400-9E156B5B6D0A}"/>
                </a:ext>
              </a:extLst>
            </p:cNvPr>
            <p:cNvSpPr>
              <a:spLocks/>
            </p:cNvSpPr>
            <p:nvPr/>
          </p:nvSpPr>
          <p:spPr>
            <a:xfrm>
              <a:off x="8763000" y="6724650"/>
              <a:ext cx="3981450" cy="447675"/>
            </a:xfrm>
            <a:prstGeom prst="rect">
              <a:avLst/>
            </a:prstGeom>
            <a:noFill/>
            <a:ln w="9525">
              <a:noFill/>
              <a:prstDash val="solid"/>
            </a:ln>
          </p:spPr>
          <p:txBody>
            <a:bodyPr wrap="square" lIns="0" tIns="0" rIns="0" bIns="0" anchor="ctr">
              <a:noAutofit/>
            </a:bodyPr>
            <a:lstStyle>
              <a:defPPr algn="l">
                <a:defRPr sz="2175">
                  <a:solidFill>
                    <a:srgbClr val="2657C1"/>
                  </a:solidFill>
                  <a:latin typeface="TT Fors Bold"/>
                  <a:ea typeface="TT Fors Bold"/>
                  <a:cs typeface="TT Fors Bold"/>
                </a:defRPr>
              </a:defPPr>
            </a:lstStyle>
            <a:p>
              <a:pPr algn="l">
                <a:defRPr sz="2175">
                  <a:solidFill>
                    <a:srgbClr val="2657C1"/>
                  </a:solidFill>
                  <a:latin typeface="TT Fors Bold"/>
                  <a:ea typeface="TT Fors Bold"/>
                  <a:cs typeface="TT Fors Bold"/>
                </a:defRPr>
              </a:pPr>
              <a:r>
                <a:rPr sz="2175">
                  <a:solidFill>
                    <a:srgbClr val="2657C1"/>
                  </a:solidFill>
                  <a:latin typeface="TT Fors Bold"/>
                  <a:ea typeface="TT Fors Bold"/>
                  <a:cs typeface="TT Fors Bold"/>
                </a:rPr>
                <a:t>F1 du MLP seul</a:t>
              </a:r>
            </a:p>
          </p:txBody>
        </p:sp>
        <p:sp>
          <p:nvSpPr>
            <p:cNvPr id="2005" name="recall">
              <a:extLst>
                <a:ext uri="{FF2B5EF4-FFF2-40B4-BE49-F238E27FC236}">
                  <a16:creationId xmlns:a16="http://schemas.microsoft.com/office/drawing/2014/main" id="{0E7E2F22-DB08-4B2C-81A9-899A30604442}"/>
                </a:ext>
              </a:extLst>
            </p:cNvPr>
            <p:cNvSpPr>
              <a:spLocks/>
            </p:cNvSpPr>
            <p:nvPr/>
          </p:nvSpPr>
          <p:spPr>
            <a:xfrm>
              <a:off x="13239750" y="5381625"/>
              <a:ext cx="3905250" cy="1200150"/>
            </a:xfrm>
            <a:prstGeom prst="rect">
              <a:avLst/>
            </a:prstGeom>
            <a:noFill/>
            <a:ln w="9525">
              <a:noFill/>
              <a:prstDash val="solid"/>
            </a:ln>
          </p:spPr>
          <p:txBody>
            <a:bodyPr wrap="square" lIns="0" tIns="0" rIns="0" bIns="0" anchor="ctr">
              <a:noAutofit/>
            </a:bodyPr>
            <a:lstStyle>
              <a:defPPr algn="l">
                <a:defRPr sz="7800">
                  <a:solidFill>
                    <a:srgbClr val="2657C1"/>
                  </a:solidFill>
                  <a:latin typeface="Etna Sans Serif"/>
                  <a:ea typeface="Etna Sans Serif"/>
                  <a:cs typeface="Etna Sans Serif"/>
                </a:defRPr>
              </a:defPPr>
            </a:lstStyle>
            <a:p>
              <a:pPr algn="l">
                <a:defRPr sz="7800">
                  <a:solidFill>
                    <a:srgbClr val="2657C1"/>
                  </a:solidFill>
                  <a:latin typeface="Etna Sans Serif"/>
                  <a:ea typeface="Etna Sans Serif"/>
                  <a:cs typeface="Etna Sans Serif"/>
                </a:defRPr>
              </a:pPr>
              <a:r>
                <a:rPr sz="7800">
                  <a:solidFill>
                    <a:srgbClr val="2657C1"/>
                  </a:solidFill>
                  <a:latin typeface="Etna Sans Serif"/>
                  <a:ea typeface="Etna Sans Serif"/>
                  <a:cs typeface="Etna Sans Serif"/>
                </a:rPr>
                <a:t>0,859</a:t>
              </a:r>
            </a:p>
          </p:txBody>
        </p:sp>
        <p:sp>
          <p:nvSpPr>
            <p:cNvPr id="2006" name="recall_label">
              <a:extLst>
                <a:ext uri="{FF2B5EF4-FFF2-40B4-BE49-F238E27FC236}">
                  <a16:creationId xmlns:a16="http://schemas.microsoft.com/office/drawing/2014/main" id="{7B35FE5C-BA5A-4A95-A99D-78577830A050}"/>
                </a:ext>
              </a:extLst>
            </p:cNvPr>
            <p:cNvSpPr>
              <a:spLocks/>
            </p:cNvSpPr>
            <p:nvPr/>
          </p:nvSpPr>
          <p:spPr>
            <a:xfrm>
              <a:off x="13296900" y="6724650"/>
              <a:ext cx="3981450" cy="447675"/>
            </a:xfrm>
            <a:prstGeom prst="rect">
              <a:avLst/>
            </a:prstGeom>
            <a:noFill/>
            <a:ln w="9525">
              <a:noFill/>
              <a:prstDash val="solid"/>
            </a:ln>
          </p:spPr>
          <p:txBody>
            <a:bodyPr wrap="square" lIns="0" tIns="0" rIns="0" bIns="0" anchor="ctr">
              <a:noAutofit/>
            </a:bodyPr>
            <a:lstStyle>
              <a:defPPr algn="l">
                <a:defRPr sz="2175">
                  <a:solidFill>
                    <a:srgbClr val="2657C1"/>
                  </a:solidFill>
                  <a:latin typeface="TT Fors Bold"/>
                  <a:ea typeface="TT Fors Bold"/>
                  <a:cs typeface="TT Fors Bold"/>
                </a:defRPr>
              </a:defPPr>
            </a:lstStyle>
            <a:p>
              <a:pPr algn="l">
                <a:defRPr sz="2175">
                  <a:solidFill>
                    <a:srgbClr val="2657C1"/>
                  </a:solidFill>
                  <a:latin typeface="TT Fors Bold"/>
                  <a:ea typeface="TT Fors Bold"/>
                  <a:cs typeface="TT Fors Bold"/>
                </a:defRPr>
              </a:pPr>
              <a:r>
                <a:rPr sz="2175">
                  <a:solidFill>
                    <a:srgbClr val="2657C1"/>
                  </a:solidFill>
                  <a:latin typeface="TT Fors Bold"/>
                  <a:ea typeface="TT Fors Bold"/>
                  <a:cs typeface="TT Fors Bold"/>
                </a:rPr>
                <a:t>Rappel du MLP seul</a:t>
              </a:r>
            </a:p>
          </p:txBody>
        </p:sp>
      </p:grpSp>
      <p:grpSp>
        <p:nvGrpSpPr>
          <p:cNvPr id="18" name="anim_limits">
            <a:extLst>
              <a:ext uri="{FF2B5EF4-FFF2-40B4-BE49-F238E27FC236}">
                <a16:creationId xmlns:a16="http://schemas.microsoft.com/office/drawing/2014/main" id="{28F174B6-C1E2-4DAB-6B81-9348D78584E6}"/>
              </a:ext>
            </a:extLst>
          </p:cNvPr>
          <p:cNvGrpSpPr/>
          <p:nvPr/>
        </p:nvGrpSpPr>
        <p:grpSpPr>
          <a:xfrm>
            <a:off x="8753475" y="7753350"/>
            <a:ext cx="8477250" cy="1543050"/>
            <a:chOff x="8753475" y="7753350"/>
            <a:chExt cx="8477250" cy="1543050"/>
          </a:xfrm>
        </p:grpSpPr>
        <p:sp>
          <p:nvSpPr>
            <p:cNvPr id="2007" name="fp">
              <a:extLst>
                <a:ext uri="{FF2B5EF4-FFF2-40B4-BE49-F238E27FC236}">
                  <a16:creationId xmlns:a16="http://schemas.microsoft.com/office/drawing/2014/main" id="{EFA2FC66-BA16-4E64-BA9F-2A4F57557AF7}"/>
                </a:ext>
              </a:extLst>
            </p:cNvPr>
            <p:cNvSpPr>
              <a:spLocks/>
            </p:cNvSpPr>
            <p:nvPr/>
          </p:nvSpPr>
          <p:spPr>
            <a:xfrm>
              <a:off x="8753475" y="7753350"/>
              <a:ext cx="8477250" cy="40005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33 518 faux positifs</a:t>
              </a:r>
            </a:p>
          </p:txBody>
        </p:sp>
        <p:sp>
          <p:nvSpPr>
            <p:cNvPr id="2008" name="fn">
              <a:extLst>
                <a:ext uri="{FF2B5EF4-FFF2-40B4-BE49-F238E27FC236}">
                  <a16:creationId xmlns:a16="http://schemas.microsoft.com/office/drawing/2014/main" id="{24B8655A-85CC-40F1-9C32-3B1EDCFE9257}"/>
                </a:ext>
              </a:extLst>
            </p:cNvPr>
            <p:cNvSpPr>
              <a:spLocks/>
            </p:cNvSpPr>
            <p:nvPr/>
          </p:nvSpPr>
          <p:spPr>
            <a:xfrm>
              <a:off x="8753475" y="8239125"/>
              <a:ext cx="8477250" cy="40005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35 252 faux négatifs</a:t>
              </a:r>
            </a:p>
          </p:txBody>
        </p:sp>
        <p:sp>
          <p:nvSpPr>
            <p:cNvPr id="2009" name="hybrid_limit">
              <a:extLst>
                <a:ext uri="{FF2B5EF4-FFF2-40B4-BE49-F238E27FC236}">
                  <a16:creationId xmlns:a16="http://schemas.microsoft.com/office/drawing/2014/main" id="{87357B58-39E2-4570-8224-CC64B0BFFE5F}"/>
                </a:ext>
              </a:extLst>
            </p:cNvPr>
            <p:cNvSpPr>
              <a:spLocks/>
            </p:cNvSpPr>
            <p:nvPr/>
          </p:nvSpPr>
          <p:spPr>
            <a:xfrm>
              <a:off x="8753475" y="8886825"/>
              <a:ext cx="8477250" cy="409575"/>
            </a:xfrm>
            <a:prstGeom prst="rect">
              <a:avLst/>
            </a:prstGeom>
            <a:noFill/>
            <a:ln w="9525">
              <a:noFill/>
              <a:prstDash val="solid"/>
            </a:ln>
          </p:spPr>
          <p:txBody>
            <a:bodyPr wrap="square" lIns="0" tIns="0" rIns="0" bIns="0" anchor="ctr">
              <a:noAutofit/>
            </a:bodyPr>
            <a:lstStyle>
              <a:defPPr algn="l">
                <a:defRPr sz="1875">
                  <a:solidFill>
                    <a:srgbClr val="2657C1"/>
                  </a:solidFill>
                  <a:latin typeface="TT Fors"/>
                  <a:ea typeface="TT Fors"/>
                  <a:cs typeface="TT Fors"/>
                </a:defRPr>
              </a:defPPr>
            </a:lstStyle>
            <a:p>
              <a:pPr algn="l">
                <a:defRPr sz="1875">
                  <a:solidFill>
                    <a:srgbClr val="2657C1"/>
                  </a:solidFill>
                  <a:latin typeface="TT Fors"/>
                  <a:ea typeface="TT Fors"/>
                  <a:cs typeface="TT Fors"/>
                </a:defRPr>
              </a:pPr>
              <a:r>
                <a:rPr sz="1875">
                  <a:solidFill>
                    <a:srgbClr val="2657C1"/>
                  </a:solidFill>
                  <a:latin typeface="TT Fors"/>
                  <a:ea typeface="TT Fors"/>
                  <a:cs typeface="TT Fors"/>
                </a:rPr>
                <a:t>Pipeline hybride : rejeu de développement.</a:t>
              </a:r>
            </a:p>
          </p:txBody>
        </p:sp>
      </p:grpSp>
    </p:spTree>
  </p:cSld>
  <p:clrMapOvr>
    <a:masterClrMapping/>
  </p:clrMapOvr>
  <mc:AlternateContent xmlns:mc="http://schemas.openxmlformats.org/markup-compatibility/2006">
    <mc:Choice xmlns:p14="http://schemas.microsoft.com/office/powerpoint/2010/main" Requires="p14">
      <p:transition p14:dur="40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par>
                                <p:cTn id="8" presetID="0" presetClass="entr" presetSubtype="0" accel="22000" decel="25000" fill="hold" nodeType="withEffect">
                                  <p:stCondLst>
                                    <p:cond delay="0"/>
                                  </p:stCondLst>
                                  <p:childTnLst>
                                    <p:set>
                                      <p:cBhvr>
                                        <p:cTn id="9" dur="1" fill="hold">
                                          <p:stCondLst>
                                            <p:cond delay="449"/>
                                          </p:stCondLst>
                                        </p:cTn>
                                        <p:tgtEl>
                                          <p:spTgt spid="8"/>
                                        </p:tgtEl>
                                        <p:attrNameLst>
                                          <p:attrName>style.visibility</p:attrName>
                                        </p:attrNameLst>
                                      </p:cBhvr>
                                      <p:to>
                                        <p:strVal val="visible"/>
                                      </p:to>
                                    </p:set>
                                    <p:animMotion origin="layout" path="M 0 0.01111111 L 0 0 E" pathEditMode="relative">
                                      <p:cBhvr from="" to="">
                                        <p:cTn id="10" dur="450" fill="hold">
                                          <p:stCondLst>
                                            <p:cond delay="0"/>
                                          </p:stCondLst>
                                        </p:cTn>
                                        <p:tgtEl>
                                          <p:spTgt spid="8"/>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16"/>
                                        </p:tgtEl>
                                        <p:attrNameLst>
                                          <p:attrName>style.visibility</p:attrName>
                                        </p:attrNameLst>
                                      </p:cBhvr>
                                      <p:to>
                                        <p:strVal val="visible"/>
                                      </p:to>
                                    </p:set>
                                    <p:animMotion origin="layout" path="M 0 0.01111111 L 0 0 E" pathEditMode="relative">
                                      <p:cBhvr from="" to="">
                                        <p:cTn id="18" dur="450" fill="hold">
                                          <p:stCondLst>
                                            <p:cond delay="0"/>
                                          </p:stCondLst>
                                        </p:cTn>
                                        <p:tgtEl>
                                          <p:spTgt spid="16"/>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350"/>
                                        <p:tgtEl>
                                          <p:spTgt spid="17"/>
                                        </p:tgtEl>
                                      </p:cBhvr>
                                    </p:animEffect>
                                  </p:childTnLst>
                                </p:cTn>
                              </p:par>
                              <p:par>
                                <p:cTn id="24" presetID="0" presetClass="entr" presetSubtype="0" accel="22000" decel="25000" fill="hold" nodeType="withEffect">
                                  <p:stCondLst>
                                    <p:cond delay="0"/>
                                  </p:stCondLst>
                                  <p:childTnLst>
                                    <p:set>
                                      <p:cBhvr>
                                        <p:cTn id="25" dur="1" fill="hold">
                                          <p:stCondLst>
                                            <p:cond delay="449"/>
                                          </p:stCondLst>
                                        </p:cTn>
                                        <p:tgtEl>
                                          <p:spTgt spid="17"/>
                                        </p:tgtEl>
                                        <p:attrNameLst>
                                          <p:attrName>style.visibility</p:attrName>
                                        </p:attrNameLst>
                                      </p:cBhvr>
                                      <p:to>
                                        <p:strVal val="visible"/>
                                      </p:to>
                                    </p:set>
                                    <p:animMotion origin="layout" path="M 0 0.01111111 L 0 0 E" pathEditMode="relative">
                                      <p:cBhvr from="" to="">
                                        <p:cTn id="26" dur="450" fill="hold">
                                          <p:stCondLst>
                                            <p:cond delay="0"/>
                                          </p:stCondLst>
                                        </p:cTn>
                                        <p:tgtEl>
                                          <p:spTgt spid="17"/>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350"/>
                                        <p:tgtEl>
                                          <p:spTgt spid="18"/>
                                        </p:tgtEl>
                                      </p:cBhvr>
                                    </p:animEffect>
                                  </p:childTnLst>
                                </p:cTn>
                              </p:par>
                              <p:par>
                                <p:cTn id="32" presetID="0" presetClass="entr" presetSubtype="0" accel="22000" decel="25000" fill="hold" nodeType="withEffect">
                                  <p:stCondLst>
                                    <p:cond delay="0"/>
                                  </p:stCondLst>
                                  <p:childTnLst>
                                    <p:set>
                                      <p:cBhvr>
                                        <p:cTn id="33" dur="1" fill="hold">
                                          <p:stCondLst>
                                            <p:cond delay="449"/>
                                          </p:stCondLst>
                                        </p:cTn>
                                        <p:tgtEl>
                                          <p:spTgt spid="18"/>
                                        </p:tgtEl>
                                        <p:attrNameLst>
                                          <p:attrName>style.visibility</p:attrName>
                                        </p:attrNameLst>
                                      </p:cBhvr>
                                      <p:to>
                                        <p:strVal val="visible"/>
                                      </p:to>
                                    </p:set>
                                    <p:animMotion origin="layout" path="M 0 0.01111111 L 0 0 E" pathEditMode="relative">
                                      <p:cBhvr from="" to="">
                                        <p:cTn id="34" dur="450" fill="hold">
                                          <p:stCondLst>
                                            <p:cond delay="0"/>
                                          </p:stCondLst>
                                        </p:cTn>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259300" y="1677723"/>
            <a:ext cx="1765318" cy="1765318"/>
          </a:xfrm>
          <a:custGeom>
            <a:avLst/>
            <a:gdLst/>
            <a:ahLst/>
            <a:cxnLst/>
            <a:rect l="l" t="t" r="r" b="b"/>
            <a:pathLst>
              <a:path w="1765318" h="1765318">
                <a:moveTo>
                  <a:pt x="0" y="0"/>
                </a:moveTo>
                <a:lnTo>
                  <a:pt x="1765318" y="0"/>
                </a:lnTo>
                <a:lnTo>
                  <a:pt x="1765318" y="1765318"/>
                </a:lnTo>
                <a:lnTo>
                  <a:pt x="0" y="1765318"/>
                </a:lnTo>
                <a:lnTo>
                  <a:pt x="0" y="0"/>
                </a:lnTo>
                <a:close/>
              </a:path>
            </a:pathLst>
          </a:custGeom>
          <a:blipFill>
            <a:blip r:embed="rId3"/>
            <a:stretch>
              <a:fillRect/>
            </a:stretch>
          </a:blipFill>
        </p:spPr>
      </p:sp>
      <p:sp>
        <p:nvSpPr>
          <p:cNvPr id="3" name="Freeform 3"/>
          <p:cNvSpPr/>
          <p:nvPr/>
        </p:nvSpPr>
        <p:spPr>
          <a:xfrm>
            <a:off x="-1483608" y="8908955"/>
            <a:ext cx="2967217" cy="2967217"/>
          </a:xfrm>
          <a:custGeom>
            <a:avLst/>
            <a:gdLst/>
            <a:ahLst/>
            <a:cxnLst/>
            <a:rect l="l" t="t" r="r" b="b"/>
            <a:pathLst>
              <a:path w="2967217" h="2967217">
                <a:moveTo>
                  <a:pt x="0" y="0"/>
                </a:moveTo>
                <a:lnTo>
                  <a:pt x="2967216" y="0"/>
                </a:lnTo>
                <a:lnTo>
                  <a:pt x="2967216" y="2967217"/>
                </a:lnTo>
                <a:lnTo>
                  <a:pt x="0" y="2967217"/>
                </a:lnTo>
                <a:lnTo>
                  <a:pt x="0" y="0"/>
                </a:lnTo>
                <a:close/>
              </a:path>
            </a:pathLst>
          </a:custGeom>
          <a:blipFill>
            <a:blip r:embed="rId3"/>
            <a:stretch>
              <a:fillRect/>
            </a:stretch>
          </a:blipFill>
        </p:spPr>
      </p:sp>
      <p:sp>
        <p:nvSpPr>
          <p:cNvPr id="4" name="Freeform 4"/>
          <p:cNvSpPr/>
          <p:nvPr/>
        </p:nvSpPr>
        <p:spPr>
          <a:xfrm>
            <a:off x="16053186" y="8908955"/>
            <a:ext cx="3369168" cy="3369168"/>
          </a:xfrm>
          <a:custGeom>
            <a:avLst/>
            <a:gdLst/>
            <a:ahLst/>
            <a:cxnLst/>
            <a:rect l="l" t="t" r="r" b="b"/>
            <a:pathLst>
              <a:path w="3369168" h="3369168">
                <a:moveTo>
                  <a:pt x="0" y="0"/>
                </a:moveTo>
                <a:lnTo>
                  <a:pt x="3369168" y="0"/>
                </a:lnTo>
                <a:lnTo>
                  <a:pt x="3369168" y="3369168"/>
                </a:lnTo>
                <a:lnTo>
                  <a:pt x="0" y="33691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0" y="0"/>
            <a:ext cx="18288000" cy="213007"/>
            <a:chOff x="0" y="0"/>
            <a:chExt cx="4816593" cy="56101"/>
          </a:xfrm>
        </p:grpSpPr>
        <p:sp>
          <p:nvSpPr>
            <p:cNvPr id="6" name="Freeform 6"/>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sp>
        <p:sp>
          <p:nvSpPr>
            <p:cNvPr id="7" name="TextBox 7"/>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8" name="anim_illustration"/>
          <p:cNvSpPr/>
          <p:nvPr/>
        </p:nvSpPr>
        <p:spPr>
          <a:xfrm>
            <a:off x="8656967" y="1976275"/>
            <a:ext cx="8855731" cy="6903780"/>
          </a:xfrm>
          <a:custGeom>
            <a:avLst/>
            <a:gdLst/>
            <a:ahLst/>
            <a:cxnLst/>
            <a:rect l="l" t="t" r="r" b="b"/>
            <a:pathLst>
              <a:path w="8855731" h="6903780">
                <a:moveTo>
                  <a:pt x="0" y="0"/>
                </a:moveTo>
                <a:lnTo>
                  <a:pt x="8855731" y="0"/>
                </a:lnTo>
                <a:lnTo>
                  <a:pt x="8855731" y="6903781"/>
                </a:lnTo>
                <a:lnTo>
                  <a:pt x="0" y="6903781"/>
                </a:lnTo>
                <a:lnTo>
                  <a:pt x="0" y="0"/>
                </a:lnTo>
                <a:close/>
              </a:path>
            </a:pathLst>
          </a:custGeom>
          <a:blipFill>
            <a:blip r:embed="rId6"/>
            <a:stretch>
              <a:fillRect/>
            </a:stretch>
          </a:blipFill>
        </p:spPr>
      </p:sp>
      <p:sp>
        <p:nvSpPr>
          <p:cNvPr id="9" name="TextBox 9"/>
          <p:cNvSpPr txBox="1"/>
          <p:nvPr/>
        </p:nvSpPr>
        <p:spPr>
          <a:xfrm>
            <a:off x="1028700" y="726850"/>
            <a:ext cx="3166518" cy="298159"/>
          </a:xfrm>
          <a:prstGeom prst="rect">
            <a:avLst/>
          </a:prstGeom>
        </p:spPr>
        <p:txBody>
          <a:bodyPr lIns="0" tIns="0" rIns="0" bIns="0" rtlCol="0" anchor="t">
            <a:spAutoFit/>
          </a:bodyPr>
          <a:lstStyle/>
          <a:p>
            <a:pPr algn="l">
              <a:lnSpc>
                <a:spcPts val="2182"/>
              </a:lnSpc>
            </a:pPr>
            <a:r>
              <a:rPr lang="en-US" sz="2250" b="1">
                <a:solidFill>
                  <a:srgbClr val="2657C1"/>
                </a:solidFill>
                <a:latin typeface="TT Fors Bold"/>
                <a:ea typeface="TT Fors Bold"/>
                <a:cs typeface="TT Fors Bold"/>
                <a:sym typeface="TT Fors Bold"/>
              </a:rPr>
              <a:t>CYBERSHIELD AI</a:t>
            </a:r>
          </a:p>
        </p:txBody>
      </p:sp>
      <p:sp>
        <p:nvSpPr>
          <p:cNvPr id="10" name="TextBox 10"/>
          <p:cNvSpPr txBox="1"/>
          <p:nvPr/>
        </p:nvSpPr>
        <p:spPr>
          <a:xfrm>
            <a:off x="9144000" y="631600"/>
            <a:ext cx="1662550"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Projet</a:t>
            </a:r>
          </a:p>
        </p:txBody>
      </p:sp>
      <p:sp>
        <p:nvSpPr>
          <p:cNvPr id="11" name="anim_heading"/>
          <p:cNvSpPr txBox="1"/>
          <p:nvPr/>
        </p:nvSpPr>
        <p:spPr>
          <a:xfrm>
            <a:off x="1028700" y="3430091"/>
            <a:ext cx="6783859" cy="1416768"/>
          </a:xfrm>
          <a:prstGeom prst="rect">
            <a:avLst/>
          </a:prstGeom>
        </p:spPr>
        <p:txBody>
          <a:bodyPr lIns="0" tIns="0" rIns="0" bIns="0" rtlCol="0" anchor="t">
            <a:spAutoFit/>
          </a:bodyPr>
          <a:lstStyle/>
          <a:p>
            <a:pPr algn="l">
              <a:lnSpc>
                <a:spcPts val="10595"/>
              </a:lnSpc>
            </a:pPr>
            <a:r>
              <a:rPr lang="en-US" sz="10922" spc="-109">
                <a:solidFill>
                  <a:srgbClr val="2657C1"/>
                </a:solidFill>
                <a:latin typeface="Etna Sans Serif"/>
                <a:ea typeface="Etna Sans Serif"/>
                <a:cs typeface="Etna Sans Serif"/>
                <a:sym typeface="Etna Sans Serif"/>
              </a:rPr>
              <a:t>Conclusion</a:t>
            </a:r>
          </a:p>
        </p:txBody>
      </p:sp>
      <p:sp>
        <p:nvSpPr>
          <p:cNvPr id="13" name="TextBox 13"/>
          <p:cNvSpPr txBox="1"/>
          <p:nvPr/>
        </p:nvSpPr>
        <p:spPr>
          <a:xfrm>
            <a:off x="13726729" y="631600"/>
            <a:ext cx="1916881" cy="394403"/>
          </a:xfrm>
          <a:prstGeom prst="rect">
            <a:avLst/>
          </a:prstGeom>
        </p:spPr>
        <p:txBody>
          <a:bodyPr lIns="0" tIns="0" rIns="0" bIns="0" rtlCol="0" anchor="t">
            <a:spAutoFit/>
          </a:bodyPr>
          <a:lstStyle/>
          <a:p>
            <a:pPr marL="0" lvl="0" indent="0" algn="l">
              <a:lnSpc>
                <a:spcPts val="3151"/>
              </a:lnSpc>
              <a:spcBef>
                <a:spcPct val="0"/>
              </a:spcBef>
            </a:pPr>
            <a:r>
              <a:rPr lang="en-US" sz="2251" b="1">
                <a:solidFill>
                  <a:srgbClr val="2657C1"/>
                </a:solidFill>
                <a:latin typeface="TT Fors" panose="020B0604020202020204" charset="0"/>
                <a:ea typeface="TT Fors Bold"/>
                <a:cs typeface="TT Fors Bold"/>
                <a:sym typeface="TT Fors Bold"/>
              </a:rPr>
              <a:t>Résultats</a:t>
            </a:r>
          </a:p>
        </p:txBody>
      </p:sp>
      <p:sp>
        <p:nvSpPr>
          <p:cNvPr id="14" name="TextBox 14"/>
          <p:cNvSpPr txBox="1"/>
          <p:nvPr/>
        </p:nvSpPr>
        <p:spPr>
          <a:xfrm>
            <a:off x="16053186" y="633813"/>
            <a:ext cx="1206114"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Bold" panose="020B0604020202020204" charset="0"/>
                <a:ea typeface="TT Fors"/>
                <a:cs typeface="TT Fors"/>
                <a:sym typeface="TT Fors"/>
              </a:rPr>
              <a:t>Suite</a:t>
            </a:r>
          </a:p>
        </p:txBody>
      </p:sp>
      <p:sp>
        <p:nvSpPr>
          <p:cNvPr id="15" name="TextBox 15"/>
          <p:cNvSpPr txBox="1"/>
          <p:nvPr/>
        </p:nvSpPr>
        <p:spPr>
          <a:xfrm>
            <a:off x="11362447" y="633813"/>
            <a:ext cx="1907082" cy="394403"/>
          </a:xfrm>
          <a:prstGeom prst="rect">
            <a:avLst/>
          </a:prstGeom>
        </p:spPr>
        <p:txBody>
          <a:bodyPr lIns="0" tIns="0" rIns="0" bIns="0" rtlCol="0" anchor="t">
            <a:spAutoFit/>
          </a:bodyPr>
          <a:lstStyle/>
          <a:p>
            <a:pPr marL="0" lvl="0" indent="0" algn="l">
              <a:lnSpc>
                <a:spcPts val="3151"/>
              </a:lnSpc>
              <a:spcBef>
                <a:spcPct val="0"/>
              </a:spcBef>
            </a:pPr>
            <a:r>
              <a:rPr lang="en-US" sz="2251">
                <a:solidFill>
                  <a:srgbClr val="2657C1"/>
                </a:solidFill>
                <a:latin typeface="TT Fors" panose="020B0604020202020204" charset="0"/>
                <a:ea typeface="TT Fors"/>
                <a:cs typeface="TT Fors"/>
                <a:sym typeface="TT Fors"/>
              </a:rPr>
              <a:t>Solution</a:t>
            </a:r>
          </a:p>
        </p:txBody>
      </p:sp>
      <p:sp>
        <p:nvSpPr>
          <p:cNvPr id="16" name="Freeform 16"/>
          <p:cNvSpPr/>
          <p:nvPr/>
        </p:nvSpPr>
        <p:spPr>
          <a:xfrm>
            <a:off x="7880597" y="2172197"/>
            <a:ext cx="776370" cy="776370"/>
          </a:xfrm>
          <a:custGeom>
            <a:avLst/>
            <a:gdLst/>
            <a:ahLst/>
            <a:cxnLst/>
            <a:rect l="l" t="t" r="r" b="b"/>
            <a:pathLst>
              <a:path w="776370" h="776370">
                <a:moveTo>
                  <a:pt x="0" y="0"/>
                </a:moveTo>
                <a:lnTo>
                  <a:pt x="776370" y="0"/>
                </a:lnTo>
                <a:lnTo>
                  <a:pt x="776370" y="776369"/>
                </a:lnTo>
                <a:lnTo>
                  <a:pt x="0" y="7763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01" name="anim_value">
            <a:extLst>
              <a:ext uri="{FF2B5EF4-FFF2-40B4-BE49-F238E27FC236}">
                <a16:creationId xmlns:a16="http://schemas.microsoft.com/office/drawing/2014/main" id="{9E5317CE-0E2F-4D06-B714-9BEABAE4DFE2}"/>
              </a:ext>
            </a:extLst>
          </p:cNvPr>
          <p:cNvSpPr>
            <a:spLocks/>
          </p:cNvSpPr>
          <p:nvPr/>
        </p:nvSpPr>
        <p:spPr>
          <a:xfrm>
            <a:off x="1028700" y="4886325"/>
            <a:ext cx="6781800" cy="55245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a:ea typeface="TT Fors"/>
                <a:cs typeface="TT Fors"/>
              </a:defRPr>
            </a:defPPr>
          </a:lstStyle>
          <a:p>
            <a:pPr algn="l">
              <a:defRPr sz="2100">
                <a:solidFill>
                  <a:srgbClr val="2657C1"/>
                </a:solidFill>
                <a:latin typeface="TT Fors"/>
                <a:ea typeface="TT Fors"/>
                <a:cs typeface="TT Fors"/>
              </a:defRPr>
            </a:pPr>
            <a:r>
              <a:rPr sz="2100">
                <a:solidFill>
                  <a:srgbClr val="2657C1"/>
                </a:solidFill>
                <a:latin typeface="TT Fors"/>
                <a:ea typeface="TT Fors"/>
                <a:cs typeface="TT Fors"/>
              </a:rPr>
              <a:t>Une protection observable et locale.</a:t>
            </a:r>
          </a:p>
        </p:txBody>
      </p:sp>
      <p:grpSp>
        <p:nvGrpSpPr>
          <p:cNvPr id="12" name="anim_roadmap">
            <a:extLst>
              <a:ext uri="{FF2B5EF4-FFF2-40B4-BE49-F238E27FC236}">
                <a16:creationId xmlns:a16="http://schemas.microsoft.com/office/drawing/2014/main" id="{4EB04368-037F-C23E-9482-BD5C38A67F8F}"/>
              </a:ext>
            </a:extLst>
          </p:cNvPr>
          <p:cNvGrpSpPr/>
          <p:nvPr/>
        </p:nvGrpSpPr>
        <p:grpSpPr>
          <a:xfrm>
            <a:off x="1028700" y="5619750"/>
            <a:ext cx="6781800" cy="1485900"/>
            <a:chOff x="1028700" y="5619750"/>
            <a:chExt cx="6781800" cy="1485900"/>
          </a:xfrm>
        </p:grpSpPr>
        <p:sp>
          <p:nvSpPr>
            <p:cNvPr id="2002" name="pilot">
              <a:extLst>
                <a:ext uri="{FF2B5EF4-FFF2-40B4-BE49-F238E27FC236}">
                  <a16:creationId xmlns:a16="http://schemas.microsoft.com/office/drawing/2014/main" id="{4D52E1A1-A4C6-4D47-99B6-5DE233C5B279}"/>
                </a:ext>
              </a:extLst>
            </p:cNvPr>
            <p:cNvSpPr>
              <a:spLocks/>
            </p:cNvSpPr>
            <p:nvPr/>
          </p:nvSpPr>
          <p:spPr>
            <a:xfrm>
              <a:off x="1028700" y="5619750"/>
              <a:ext cx="6781800" cy="41910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Pilote en observation</a:t>
              </a:r>
            </a:p>
          </p:txBody>
        </p:sp>
        <p:sp>
          <p:nvSpPr>
            <p:cNvPr id="2003" name="independent">
              <a:extLst>
                <a:ext uri="{FF2B5EF4-FFF2-40B4-BE49-F238E27FC236}">
                  <a16:creationId xmlns:a16="http://schemas.microsoft.com/office/drawing/2014/main" id="{50850104-21F4-42F0-85A0-A1171B68564A}"/>
                </a:ext>
              </a:extLst>
            </p:cNvPr>
            <p:cNvSpPr>
              <a:spLocks/>
            </p:cNvSpPr>
            <p:nvPr/>
          </p:nvSpPr>
          <p:spPr>
            <a:xfrm>
              <a:off x="1028700" y="6153150"/>
              <a:ext cx="6781800" cy="41910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Validation indépendante</a:t>
              </a:r>
            </a:p>
          </p:txBody>
        </p:sp>
        <p:sp>
          <p:nvSpPr>
            <p:cNvPr id="2004" name="deployment">
              <a:extLst>
                <a:ext uri="{FF2B5EF4-FFF2-40B4-BE49-F238E27FC236}">
                  <a16:creationId xmlns:a16="http://schemas.microsoft.com/office/drawing/2014/main" id="{1C86C65D-96E9-4105-8798-A87B98D65601}"/>
                </a:ext>
              </a:extLst>
            </p:cNvPr>
            <p:cNvSpPr>
              <a:spLocks/>
            </p:cNvSpPr>
            <p:nvPr/>
          </p:nvSpPr>
          <p:spPr>
            <a:xfrm>
              <a:off x="1028700" y="6686550"/>
              <a:ext cx="6781800" cy="41910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Déploiement encadré</a:t>
              </a:r>
            </a:p>
          </p:txBody>
        </p:sp>
      </p:grpSp>
      <p:sp>
        <p:nvSpPr>
          <p:cNvPr id="2005" name="anim_ask">
            <a:extLst>
              <a:ext uri="{FF2B5EF4-FFF2-40B4-BE49-F238E27FC236}">
                <a16:creationId xmlns:a16="http://schemas.microsoft.com/office/drawing/2014/main" id="{234A0DB8-018A-4EC7-8BCB-EA71BC01E7FC}"/>
              </a:ext>
            </a:extLst>
          </p:cNvPr>
          <p:cNvSpPr>
            <a:spLocks/>
          </p:cNvSpPr>
          <p:nvPr/>
        </p:nvSpPr>
        <p:spPr>
          <a:xfrm>
            <a:off x="1028700" y="7296150"/>
            <a:ext cx="6781800" cy="552450"/>
          </a:xfrm>
          <a:prstGeom prst="rect">
            <a:avLst/>
          </a:prstGeom>
          <a:noFill/>
          <a:ln w="9525">
            <a:noFill/>
            <a:prstDash val="solid"/>
          </a:ln>
        </p:spPr>
        <p:txBody>
          <a:bodyPr wrap="square" lIns="0" tIns="0" rIns="0" bIns="0" anchor="ctr">
            <a:noAutofit/>
          </a:bodyPr>
          <a:lstStyle>
            <a:defPPr algn="l">
              <a:defRPr sz="2100">
                <a:solidFill>
                  <a:srgbClr val="2657C1"/>
                </a:solidFill>
                <a:latin typeface="TT Fors Bold"/>
                <a:ea typeface="TT Fors Bold"/>
                <a:cs typeface="TT Fors Bold"/>
              </a:defRPr>
            </a:defPPr>
          </a:lstStyle>
          <a:p>
            <a:pPr algn="l">
              <a:defRPr sz="2100">
                <a:solidFill>
                  <a:srgbClr val="2657C1"/>
                </a:solidFill>
                <a:latin typeface="TT Fors Bold"/>
                <a:ea typeface="TT Fors Bold"/>
                <a:cs typeface="TT Fors Bold"/>
              </a:defRPr>
            </a:pPr>
            <a:r>
              <a:rPr sz="2100">
                <a:solidFill>
                  <a:srgbClr val="2657C1"/>
                </a:solidFill>
                <a:latin typeface="TT Fors Bold"/>
                <a:ea typeface="TT Fors Bold"/>
                <a:cs typeface="TT Fors Bold"/>
              </a:rPr>
              <a:t>Un partenaire pour un premier pilote.</a:t>
            </a:r>
          </a:p>
        </p:txBody>
      </p:sp>
    </p:spTree>
  </p:cSld>
  <p:clrMapOvr>
    <a:masterClrMapping/>
  </p:clrMapOvr>
  <mc:AlternateContent xmlns:mc="http://schemas.openxmlformats.org/markup-compatibility/2006">
    <mc:Choice xmlns:p14="http://schemas.microsoft.com/office/powerpoint/2010/main" Requires="p14">
      <p:transition p14:dur="40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par>
                                <p:cTn id="8" presetID="0" presetClass="entr" presetSubtype="0" accel="22000" decel="25000" fill="hold" grpId="1" nodeType="withEffect">
                                  <p:stCondLst>
                                    <p:cond delay="0"/>
                                  </p:stCondLst>
                                  <p:childTnLst>
                                    <p:set>
                                      <p:cBhvr>
                                        <p:cTn id="9" dur="1" fill="hold">
                                          <p:stCondLst>
                                            <p:cond delay="449"/>
                                          </p:stCondLst>
                                        </p:cTn>
                                        <p:tgtEl>
                                          <p:spTgt spid="11"/>
                                        </p:tgtEl>
                                        <p:attrNameLst>
                                          <p:attrName>style.visibility</p:attrName>
                                        </p:attrNameLst>
                                      </p:cBhvr>
                                      <p:to>
                                        <p:strVal val="visible"/>
                                      </p:to>
                                    </p:set>
                                    <p:animMotion origin="layout" path="M 0 0.01111111 L 0 0 E" pathEditMode="relative">
                                      <p:cBhvr from="" to="">
                                        <p:cTn id="10" dur="450" fill="hold">
                                          <p:stCondLst>
                                            <p:cond delay="0"/>
                                          </p:stCondLst>
                                        </p:cTn>
                                        <p:tgtEl>
                                          <p:spTgt spid="11"/>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50"/>
                                        <p:tgtEl>
                                          <p:spTgt spid="8"/>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8"/>
                                        </p:tgtEl>
                                        <p:attrNameLst>
                                          <p:attrName>style.visibility</p:attrName>
                                        </p:attrNameLst>
                                      </p:cBhvr>
                                      <p:to>
                                        <p:strVal val="visible"/>
                                      </p:to>
                                    </p:set>
                                    <p:animMotion origin="layout" path="M 0 0.01111111 L 0 0 E" pathEditMode="relative">
                                      <p:cBhvr from="" to="">
                                        <p:cTn id="18" dur="450" fill="hold">
                                          <p:stCondLst>
                                            <p:cond delay="0"/>
                                          </p:stCondLst>
                                        </p:cTn>
                                        <p:tgtEl>
                                          <p:spTgt spid="8"/>
                                        </p:tgtEl>
                                        <p:attrNameLst>
                                          <p:attrName>ppt_x</p:attrName>
                                          <p:attrName>ppt_y</p:attrName>
                                        </p:attrNameLst>
                                      </p:cBhvr>
                                    </p:animMotion>
                                  </p:childTnLst>
                                </p:cTn>
                              </p:par>
                              <p:par>
                                <p:cTn id="19" presetID="10" presetClass="entr" presetSubtype="0" fill="hold" grpId="0" nodeType="withEffect">
                                  <p:stCondLst>
                                    <p:cond delay="0"/>
                                  </p:stCondLst>
                                  <p:childTnLst>
                                    <p:set>
                                      <p:cBhvr>
                                        <p:cTn id="20" dur="1" fill="hold">
                                          <p:stCondLst>
                                            <p:cond delay="0"/>
                                          </p:stCondLst>
                                        </p:cTn>
                                        <p:tgtEl>
                                          <p:spTgt spid="2001"/>
                                        </p:tgtEl>
                                        <p:attrNameLst>
                                          <p:attrName>style.visibility</p:attrName>
                                        </p:attrNameLst>
                                      </p:cBhvr>
                                      <p:to>
                                        <p:strVal val="visible"/>
                                      </p:to>
                                    </p:set>
                                    <p:animEffect transition="in" filter="fade">
                                      <p:cBhvr>
                                        <p:cTn id="21" dur="320"/>
                                        <p:tgtEl>
                                          <p:spTgt spid="200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down)">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05"/>
                                        </p:tgtEl>
                                        <p:attrNameLst>
                                          <p:attrName>style.visibility</p:attrName>
                                        </p:attrNameLst>
                                      </p:cBhvr>
                                      <p:to>
                                        <p:strVal val="visible"/>
                                      </p:to>
                                    </p:set>
                                    <p:animEffect transition="in" filter="fade">
                                      <p:cBhvr>
                                        <p:cTn id="31" dur="350"/>
                                        <p:tgtEl>
                                          <p:spTgt spid="2005"/>
                                        </p:tgtEl>
                                      </p:cBhvr>
                                    </p:animEffect>
                                  </p:childTnLst>
                                </p:cTn>
                              </p:par>
                              <p:par>
                                <p:cTn id="32" presetID="0" presetClass="entr" presetSubtype="0" accel="22000" decel="25000" fill="hold" grpId="1" nodeType="withEffect">
                                  <p:stCondLst>
                                    <p:cond delay="0"/>
                                  </p:stCondLst>
                                  <p:childTnLst>
                                    <p:set>
                                      <p:cBhvr>
                                        <p:cTn id="33" dur="1" fill="hold">
                                          <p:stCondLst>
                                            <p:cond delay="449"/>
                                          </p:stCondLst>
                                        </p:cTn>
                                        <p:tgtEl>
                                          <p:spTgt spid="2005"/>
                                        </p:tgtEl>
                                        <p:attrNameLst>
                                          <p:attrName>style.visibility</p:attrName>
                                        </p:attrNameLst>
                                      </p:cBhvr>
                                      <p:to>
                                        <p:strVal val="visible"/>
                                      </p:to>
                                    </p:set>
                                    <p:animMotion origin="layout" path="M 0 0.01111111 L 0 0 E" pathEditMode="relative">
                                      <p:cBhvr from="" to="">
                                        <p:cTn id="34" dur="450" fill="hold">
                                          <p:stCondLst>
                                            <p:cond delay="0"/>
                                          </p:stCondLst>
                                        </p:cTn>
                                        <p:tgtEl>
                                          <p:spTgt spid="200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2001" grpId="0"/>
      <p:bldP spid="2005" grpId="0"/>
      <p:bldP spid="2005" grpId="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1321</Words>
  <Application>Microsoft Office PowerPoint</Application>
  <PresentationFormat>Personnalisé</PresentationFormat>
  <Paragraphs>200</Paragraphs>
  <Slides>9</Slides>
  <Notes>7</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9</vt:i4>
      </vt:variant>
    </vt:vector>
  </HeadingPairs>
  <TitlesOfParts>
    <vt:vector size="16" baseType="lpstr">
      <vt:lpstr>Arial</vt:lpstr>
      <vt:lpstr>Calibri</vt:lpstr>
      <vt:lpstr>TT Fors</vt:lpstr>
      <vt:lpstr>Aptos</vt:lpstr>
      <vt:lpstr>Etna Sans Serif</vt:lpstr>
      <vt:lpstr>TT Fors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Doucoure Sékou</cp:lastModifiedBy>
  <cp:revision>2</cp:revision>
  <dcterms:created xsi:type="dcterms:W3CDTF">2006-08-16T00:00:00Z</dcterms:created>
  <dcterms:modified xsi:type="dcterms:W3CDTF">2026-10-17T17:17:59Z</dcterms:modified>
  <dc:identifier>DAHYRdgUdbA</dc:identifier>
</cp:coreProperties>
</file>