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65"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entury Gothic" panose="020B0502020202020204" pitchFamily="34" charset="0"/>
      <p:regular r:id="rId12"/>
      <p:bold r:id="rId13"/>
      <p:italic r:id="rId14"/>
      <p:boldItalic r:id="rId15"/>
    </p:embeddedFont>
    <p:embeddedFont>
      <p:font typeface="Consolas" panose="020B0609020204030204" pitchFamily="49" charset="0"/>
      <p:regular r:id="rId16"/>
      <p:bold r:id="rId17"/>
      <p:italic r:id="rId18"/>
      <p:boldItalic r:id="rId19"/>
    </p:embeddedFont>
    <p:embeddedFont>
      <p:font typeface="Open Sauce" panose="020B0604020202020204" charset="0"/>
      <p:regular r:id="rId20"/>
    </p:embeddedFont>
    <p:embeddedFont>
      <p:font typeface="Open Sauce Bold" panose="020B0604020202020204" charset="0"/>
      <p:regular r:id="rId21"/>
    </p:embeddedFont>
    <p:embeddedFont>
      <p:font typeface="Open Sauce Medium" panose="020B0604020202020204" charset="0"/>
      <p:regular r:id="rId22"/>
    </p:embeddedFont>
    <p:embeddedFont>
      <p:font typeface="Segoe UI" panose="020B0502040204020203"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821E4-D69D-40B4-AFCA-0674E5011AA2}" type="datetimeFigureOut">
              <a:rPr lang="fr-FR" smtClean="0"/>
              <a:t>19/10/2026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26241-C7B2-44E7-9F83-0FAF1894CB8C}" type="slidenum">
              <a:rPr lang="fr-FR" smtClean="0"/>
              <a:t>‹N°›</a:t>
            </a:fld>
            <a:endParaRPr lang="fr-FR"/>
          </a:p>
        </p:txBody>
      </p:sp>
    </p:spTree>
    <p:extLst>
      <p:ext uri="{BB962C8B-B14F-4D97-AF65-F5344CB8AC3E}">
        <p14:creationId xmlns:p14="http://schemas.microsoft.com/office/powerpoint/2010/main" val="1022850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Équipe CyberShield AI : Sekou Doucoure et Hawa Thiama.</a:t>
            </a:r>
          </a:p>
          <a:p>
            <a:r>
              <a:t>JNC 2026, concours d’innovation. Bamako, 26–30 octobre 2026.</a:t>
            </a:r>
          </a:p>
          <a:p>
            <a:r>
              <a:t>La couverture présente automatiquement le titre. Un clic fait passer à la diapositive suivante.</a:t>
            </a:r>
          </a:p>
          <a:p>
            <a:r>
              <a:t>Sources des logos : https://invitation.jnc-mali.com/logo/LOGO%20JNC.png ; https://invitation.jnc-mali.com/logo/logoamrtp.png</a:t>
            </a:r>
          </a:p>
          <a:p>
            <a:r>
              <a:t>La présence du logo AMRTP identifie l’événement et ne constitue pas une certification du projet.</a:t>
            </a:r>
          </a:p>
        </p:txBody>
      </p:sp>
      <p:sp>
        <p:nvSpPr>
          <p:cNvPr id="4" name="Slide Number Placeholder 3"/>
          <p:cNvSpPr>
            <a:spLocks noGrp="1"/>
          </p:cNvSpPr>
          <p:nvPr>
            <p:ph type="sldNum" idx="5"/>
          </p:nvPr>
        </p:nvSpPr>
        <p:spPr/>
        <p:txBody>
          <a:bodyPr/>
          <a:lstStyle/>
          <a:p>
            <a:endParaRPr/>
          </a:p>
        </p:txBody>
      </p:sp>
    </p:spTree>
    <p:extLst>
      <p:ext uri="{BB962C8B-B14F-4D97-AF65-F5344CB8AC3E}">
        <ns2:creationId val="3576916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problème, environ 25 secondes. Trois clics font apparaître la saisie, le traitement applicatif puis la base. Les images illustrent les étapes, elles ne constituent pas des captures d'un incident. Les saisies deviennent dangereuses si le code les concatène au SQL. Les requêtes préparées séparent le SQL des données. Les liens de navigation en haut servent aux questions du jury.</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2</a:t>
            </a:fld>
            <a:endParaRPr lang="fr-FR"/>
          </a:p>
        </p:txBody>
      </p:sp>
    </p:spTree>
    <p:extLst>
      <p:ext uri="{BB962C8B-B14F-4D97-AF65-F5344CB8AC3E}">
        <p14:creationId xmlns:p14="http://schemas.microsoft.com/office/powerpoint/2010/main" val="1801078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solution, environ 25 secondes. Premier clic : entrée HTTP et règles. Deuxième clic : analyse locale ciblée de certains cas puis application de la politique. Le MLP est sollicité de façon ciblée et bornée, il ne traite pas obligatoirement chaque requête. Une signature forte peut conduire directement au blocage. Troisième clic : trace minimisée et assistant consultatif. L'assistant LangGraph et Ollama reste en lecture seule, il ne décide pas du verdict et ne pilote pas la base. Cliquer sur Règles ou MLP permet de rejoindre la démonstration correspondante. Les requêtes préparées restent la protection de base. Sources : security/hybrid_analyzer.php, security/middleware.php, ia/ASSISTANT_LANGGRAPH.md.</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3</a:t>
            </a:fld>
            <a:endParaRPr lang="fr-FR"/>
          </a:p>
        </p:txBody>
      </p:sp>
    </p:spTree>
    <p:extLst>
      <p:ext uri="{BB962C8B-B14F-4D97-AF65-F5344CB8AC3E}">
        <p14:creationId xmlns:p14="http://schemas.microsoft.com/office/powerpoint/2010/main" val="1523000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Architecture, environ 40 secondes, quatre clics. Clic 1 : le client envoie des paramètres HTTP à PHP. Le moteur de règles traite les signatures ; une signature forte conduit directement à la décision. Clic 2 : le MLP local est une branche ciblée, pas un passage systématique. Le middleware traite les cas à examiner et présélectionne jusqu’aux quatre premières valeurs non immédiatement bloquées, avec un budget borné. Clic 3 : en mode blocage le filtre peut retourner HTTP 403 ; sinon la logique métier utilise une requête préparée avant MariaDB. En mode observation, le verdict SQLi est consigné sans ce blocage. Clic 4 : les traces minimisées alimentent le journal et la console. Des compteurs et métadonnées autorisées alimentent séparément LangGraph et Ollama, en lecture seule. Le LLM ne pilote ni la base ni le verdict. Sources techniques : security/hybrid_analyzer.php, security/middleware.php, config/ai.php, ia/ASSISTANT_LANGGRAPH.md. Mise en page inspirée du PDF fourni Cyber Security, pages 2 et 9 : grandes marges, titre géométrique et composition asymétrique.</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4</a:t>
            </a:fld>
            <a:endParaRPr lang="fr-FR"/>
          </a:p>
        </p:txBody>
      </p:sp>
    </p:spTree>
    <p:extLst>
      <p:ext uri="{BB962C8B-B14F-4D97-AF65-F5344CB8AC3E}">
        <p14:creationId xmlns:p14="http://schemas.microsoft.com/office/powerpoint/2010/main" val="3155212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Démo vulnérable, environ 20 secondes, quatre clics. 1 La saisie apparaît caractère par caractère. 2 Le paramètre HTTP arrive à PHP et le code le concatène dans la condition SQL. 3 Le SQL altéré rejoint la base et peut élargir les résultats. 4 Les résultats reviennent. Cet exemple est fictif : il illustre une concaténation dangereuse, pas le fonctionnement protégé de CyberShield. Aucun SQL n’est exécuté pendant cette animation.</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5</a:t>
            </a:fld>
            <a:endParaRPr lang="fr-FR"/>
          </a:p>
        </p:txBody>
      </p:sp>
    </p:spTree>
    <p:extLst>
      <p:ext uri="{BB962C8B-B14F-4D97-AF65-F5344CB8AC3E}">
        <p14:creationId xmlns:p14="http://schemas.microsoft.com/office/powerpoint/2010/main" val="1585943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Démo règles, environ 25 secondes, quatre clics. La même saisie arrive par HTTP. Le moteur reconnaît NUMERIC_BOOLEAN : score de règles 90, seuil de blocage 80. Ces scores sont ceux de la règle, pas une probabilité ML. La requête s’arrête avant l’accès SQL. Le MLP n’est pas appelé pour cette signature forte. Le serveur retourne HTTP 403 et consigne une trace minimisée. Mode blocage requis ; l’observation consigne le signal sans ce blocage. Sources : security/detector.php, security/hybrid_analyzer.php, security/response_handler.php.</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6</a:t>
            </a:fld>
            <a:endParaRPr lang="fr-FR"/>
          </a:p>
        </p:txBody>
      </p:sp>
    </p:spTree>
    <p:extLst>
      <p:ext uri="{BB962C8B-B14F-4D97-AF65-F5344CB8AC3E}">
        <p14:creationId xmlns:p14="http://schemas.microsoft.com/office/powerpoint/2010/main" val="2001784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Démo MLP, environ 25 secondes, quatre clics. Une saisie fictive ambiguë arrive. L’analyse locale fournit un score SQLi ; le filtre le compare au seuil 0,75. Présenter les deux issues conditionnelles : score au moins égal au seuil, blocage HTTP 403 ; score inférieur, poursuite avec une requête préparée. Aucune prédiction n’a été mesurée pour cette saisie : ne pas annoncer de score inventé ni convertir 0,75 en 75 % de fiabilité. Le score est non calibré. Le MLP s’inscrit dans une analyse ciblée et bornée, incluant la présélection des premières valeurs. Sources : config/ai.php ; security/hybrid_analyzer.php ; ia/README.md. L’assistant LLM n’intervient pas dans la décision.</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7</a:t>
            </a:fld>
            <a:endParaRPr lang="fr-FR"/>
          </a:p>
        </p:txBody>
      </p:sp>
    </p:spTree>
    <p:extLst>
      <p:ext uri="{BB962C8B-B14F-4D97-AF65-F5344CB8AC3E}">
        <p14:creationId xmlns:p14="http://schemas.microsoft.com/office/powerpoint/2010/main" val="3094310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Évaluation, environ 25 secondes, trois clics. 1 Capture SR-BH 2020, 775506 lignes strictement normales ou SQLi, un honeypot WordPress et 12 jours. 2 MLP v2 seul : F1 0.862153, rappel 0.859167, précision 0.86516, spécificité 0.93618. 3 Matrice : 33518 faux positifs, 35252 faux négatifs, 215059 vrais positifs et 491677 vrais négatifs. La capture ne valide pas tous les sites. Le modèle et son seuil de 0,75 n’ont pas été entraînés ou réglés sur cette capture. La politique de présélection du pipeline hybride a été choisie après diagnostic sur cette même capture : son F1 0,860560 et son rappel 0,856075 sont des mesures de développement, pas une confirmation indépendante après ce choix. Ce rejeu ne mesure pas une charge HTTP réelle. Le test public HttpParamsDataset norm/sqli comporte 10051 lignes et donne F1 0,999170, mais appartient à la même famille de données que l’entraînement : il ne prouve pas l’efficacité en production. Sources locales : ia/models/honeypot_evaluation.json ; ia/models/external_evaluation.json ; ia/README.md. Modèle version cybershield-mlp-httpparams-v2, empreinte SHA256 94777a563f51f7c357743afb2c257d0fcddbc79f3bd17d3484feab92fa38cb2e, vérifiée sur model.joblib lors de la préparation. Dataset : https://dataverse.harvard.edu/dataset.xhtml?persistentId=doi:10.7910/DVN/OGOIXX ; licence CC0 1.0. Repères normatifs hérités du dossier : ISO 9241-210:2019, ISO/IEC 25010:2023, ISO/IEC 27001:2022 et ISO/IEC 42001:2023. Ce sont des repères de travail, sans certification revendiquée. Aucun nouveau benchmark n’a été exécuté pour cette présentation.</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8</a:t>
            </a:fld>
            <a:endParaRPr lang="fr-FR"/>
          </a:p>
        </p:txBody>
      </p:sp>
    </p:spTree>
    <p:extLst>
      <p:ext uri="{BB962C8B-B14F-4D97-AF65-F5344CB8AC3E}">
        <p14:creationId xmlns:p14="http://schemas.microsoft.com/office/powerpoint/2010/main" val="3831803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Conclusion, environ 20 secondes, trois clics. 1 CyberShield vise une protection observable : décisions explicables et données traitées localement. 2 Proposer un pilote en observation sur un système représentatif ; mesurer notamment les faux positifs et faire évaluer indépendamment les résultats, les performances et le périmètre ; décider ensuite d’un déploiement encadré. Ces jalons sont à venir et ne représentent pas des validations déjà obtenues. 3 Demander un partenaire et un accès à un terrain pilote. Ne pas promettre une note du jury, une protection absolue ou une certification. Mise en page inspirée du PDF fourni Cyber Security, page 14 : titre court, grande aire visuelle et composition asymétrique.</a:t>
            </a:r>
          </a:p>
          <a:p>
            <a:r>
              <a:rPr lang="fr-FR"/>
              <a:t>Équipe CyberShield AI : Sekou Doucoure et Hawa Thiama. Pour les questions, utiliser les liens Architecture, Démonstrations et Résultats. Le bouton de l'application ouvre http://127.0.0.1:8080/ sur la machine de démonstration, avec Docker démarré. Le diaporama lui-même reste utilisable sans réseau ni moteur LLM.</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9</a:t>
            </a:fld>
            <a:endParaRPr lang="fr-FR"/>
          </a:p>
        </p:txBody>
      </p:sp>
    </p:spTree>
    <p:extLst>
      <p:ext uri="{BB962C8B-B14F-4D97-AF65-F5344CB8AC3E}">
        <p14:creationId xmlns:p14="http://schemas.microsoft.com/office/powerpoint/2010/main" val="4269325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5.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slide" Target="slide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slide" Target="slide4.xml"/><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slide" Target="slide8.xml"/><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slide" Target="slide5.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33.png"/><Relationship Id="rId3" Type="http://schemas.openxmlformats.org/officeDocument/2006/relationships/image" Target="../media/image12.png"/><Relationship Id="rId21" Type="http://schemas.openxmlformats.org/officeDocument/2006/relationships/image" Target="../media/image28.png"/><Relationship Id="rId7" Type="http://schemas.openxmlformats.org/officeDocument/2006/relationships/image" Target="../media/image15.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29" Type="http://schemas.openxmlformats.org/officeDocument/2006/relationships/slide" Target="slide5.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7.xml"/><Relationship Id="rId24" Type="http://schemas.openxmlformats.org/officeDocument/2006/relationships/image" Target="../media/image31.png"/><Relationship Id="rId5" Type="http://schemas.openxmlformats.org/officeDocument/2006/relationships/image" Target="../media/image14.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slide" Target="slide4.xml"/><Relationship Id="rId10" Type="http://schemas.openxmlformats.org/officeDocument/2006/relationships/image" Target="../media/image18.png"/><Relationship Id="rId19" Type="http://schemas.openxmlformats.org/officeDocument/2006/relationships/image" Target="../media/image26.png"/><Relationship Id="rId4" Type="http://schemas.openxmlformats.org/officeDocument/2006/relationships/image" Target="../media/image13.png"/><Relationship Id="rId9" Type="http://schemas.openxmlformats.org/officeDocument/2006/relationships/image" Target="../media/image17.pn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slide" Target="slide1.xml"/><Relationship Id="rId30" Type="http://schemas.openxmlformats.org/officeDocument/2006/relationships/slide" Target="slide8.xml"/></Relationships>
</file>

<file path=ppt/slides/_rels/slide4.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 Target="slide1.xml"/><Relationship Id="rId7"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slide" Target="slide7.xml"/><Relationship Id="rId4" Type="http://schemas.openxmlformats.org/officeDocument/2006/relationships/slide" Target="slide6.xml"/></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4.xml"/></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4.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4.xml"/></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hyperlink" Target="http://127.0.0.1:8080/"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4.xml"/></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name="CyberShield AI · JNC 2026">
    <p:bg>
      <p:bgPr>
        <a:solidFill>
          <a:srgbClr val="F4F1E9"/>
        </a:solidFill>
        <a:effectLst/>
      </p:bgPr>
    </p:bg>
    <p:spTree>
      <p:nvGrpSpPr>
        <p:cNvPr id="1" name=""/>
        <p:cNvGrpSpPr/>
        <p:nvPr/>
      </p:nvGrpSpPr>
      <p:grpSpPr>
        <a:xfrm/>
      </p:grpSpPr>
      <p:pic>
        <p:nvPicPr>
          <p:cNvPr id="9" name="official_jnc" descr="Logo original JNC">
            <a:extLst>
              <a:ext uri="{FF2B5EF4-FFF2-40B4-BE49-F238E27FC236}">
                <ns2:creationId id="{DA48FFF6-A3A8-424D-BD7C-5BAE8B3F9F45}"/>
              </a:ext>
            </a:extLst>
          </p:cNvPr>
          <p:cNvPicPr>
            <a:picLocks noChangeAspect="1"/>
          </p:cNvPicPr>
          <p:nvPr/>
        </p:nvPicPr>
        <p:blipFill>
          <a:blip r:embed="rId3"/>
          <a:stretch/>
        </p:blipFill>
        <p:spPr>
          <a:xfrm>
            <a:off x="1143007" y="619125"/>
            <a:ext cx="5333985" cy="1161031"/>
          </a:xfrm>
          <a:prstGeom prst="rect">
            <a:avLst/>
          </a:prstGeom>
        </p:spPr>
      </p:pic>
      <p:pic>
        <p:nvPicPr>
          <p:cNvPr id="2" name="official_amrtp" descr="Logo original AMRTP">
            <a:extLst>
              <a:ext uri="{FF2B5EF4-FFF2-40B4-BE49-F238E27FC236}">
                <ns2:creationId id="{097B154A-3B85-4A1A-B698-8F1CB9D059BA}"/>
              </a:ext>
            </a:extLst>
          </p:cNvPr>
          <p:cNvPicPr>
            <a:picLocks noChangeAspect="1"/>
          </p:cNvPicPr>
          <p:nvPr/>
        </p:nvPicPr>
        <p:blipFill>
          <a:blip r:embed="rId4"/>
          <a:stretch/>
        </p:blipFill>
        <p:spPr>
          <a:xfrm>
            <a:off x="15811500" y="571501"/>
            <a:ext cx="1333500" cy="1255059"/>
          </a:xfrm>
          <a:prstGeom prst="rect">
            <a:avLst/>
          </a:prstGeom>
        </p:spPr>
      </p:pic>
      <p:sp>
        <p:nvSpPr>
          <p:cNvPr id="3" name="event_year">
            <a:extLst>
              <a:ext uri="{FF2B5EF4-FFF2-40B4-BE49-F238E27FC236}">
                <ns2:creationId id="{518E1099-AD97-4C1B-A550-F060BA5522F4}"/>
              </a:ext>
            </a:extLst>
          </p:cNvPr>
          <p:cNvSpPr>
            <a:spLocks noGrp="1"/>
          </p:cNvSpPr>
          <p:nvPr/>
        </p:nvSpPr>
        <p:spPr>
          <a:xfrm>
            <a:off x="9620250" y="762000"/>
            <a:ext cx="5238750" cy="428625"/>
          </a:xfrm>
          <a:prstGeom prst="rect">
            <a:avLst/>
          </a:prstGeom>
          <a:noFill/>
          <a:ln w="0">
            <a:noFill/>
          </a:ln>
        </p:spPr>
        <p:txBody>
          <a:bodyPr wrap="square" lIns="0" tIns="0" rIns="0" bIns="0" anchor="ctr">
            <a:noAutofit/>
          </a:bodyPr>
          <a:lstStyle>
            <a:defPPr algn="l">
              <a:defRPr sz="2175">
                <a:solidFill>
                  <a:srgbClr val="21406C"/>
                </a:solidFill>
                <a:latin typeface="Open Sauce Bold"/>
                <a:ea typeface="Open Sauce Bold"/>
                <a:cs typeface="Open Sauce Bold"/>
              </a:defRPr>
            </a:defPPr>
          </a:lstStyle>
          <a:p>
            <a:pPr algn="l">
              <a:defRPr sz="2175">
                <a:solidFill>
                  <a:srgbClr val="21406C"/>
                </a:solidFill>
                <a:latin typeface="Open Sauce Bold"/>
                <a:ea typeface="Open Sauce Bold"/>
                <a:cs typeface="Open Sauce Bold"/>
              </a:defRPr>
            </a:pPr>
            <a:r>
              <a:rPr sz="2175">
                <a:solidFill>
                  <a:srgbClr val="21406C"/>
                </a:solidFill>
                <a:latin typeface="Open Sauce Bold"/>
                <a:ea typeface="Open Sauce Bold"/>
                <a:cs typeface="Open Sauce Bold"/>
              </a:rPr>
              <a:t>JNC 2026</a:t>
            </a:r>
          </a:p>
        </p:txBody>
      </p:sp>
      <p:sp>
        <p:nvSpPr>
          <p:cNvPr id="4" name="event_competition">
            <a:extLst>
              <a:ext uri="{FF2B5EF4-FFF2-40B4-BE49-F238E27FC236}">
                <ns2:creationId id="{E453BD1D-197F-4918-8824-46D01D5951C3}"/>
              </a:ext>
            </a:extLst>
          </p:cNvPr>
          <p:cNvSpPr>
            <a:spLocks noGrp="1"/>
          </p:cNvSpPr>
          <p:nvPr/>
        </p:nvSpPr>
        <p:spPr>
          <a:xfrm>
            <a:off x="9620250" y="1209675"/>
            <a:ext cx="5238750" cy="409575"/>
          </a:xfrm>
          <a:prstGeom prst="rect">
            <a:avLst/>
          </a:prstGeom>
          <a:noFill/>
          <a:ln w="0">
            <a:noFill/>
          </a:ln>
        </p:spPr>
        <p:txBody>
          <a:bodyPr wrap="square" lIns="0" tIns="0" rIns="0" bIns="0" anchor="ctr">
            <a:noAutofit/>
          </a:bodyPr>
          <a:lstStyle>
            <a:defPPr algn="l">
              <a:defRPr sz="1950">
                <a:solidFill>
                  <a:srgbClr val="637368"/>
                </a:solidFill>
                <a:latin typeface="Open Sauce Medium"/>
                <a:ea typeface="Open Sauce Medium"/>
                <a:cs typeface="Open Sauce Medium"/>
              </a:defRPr>
            </a:defPPr>
          </a:lstStyle>
          <a:p>
            <a:pPr algn="l">
              <a:defRPr sz="1950">
                <a:solidFill>
                  <a:srgbClr val="637368"/>
                </a:solidFill>
                <a:latin typeface="Open Sauce Medium"/>
                <a:ea typeface="Open Sauce Medium"/>
                <a:cs typeface="Open Sauce Medium"/>
              </a:defRPr>
            </a:pPr>
            <a:r>
              <a:rPr sz="1950">
                <a:solidFill>
                  <a:srgbClr val="637368"/>
                </a:solidFill>
                <a:latin typeface="Open Sauce Medium"/>
                <a:ea typeface="Open Sauce Medium"/>
                <a:cs typeface="Open Sauce Medium"/>
              </a:rPr>
              <a:t>Concours d’innovation</a:t>
            </a:r>
          </a:p>
        </p:txBody>
      </p:sp>
      <p:sp>
        <p:nvSpPr>
          <p:cNvPr id="5" name="project_title">
            <a:extLst>
              <a:ext uri="{FF2B5EF4-FFF2-40B4-BE49-F238E27FC236}">
                <ns2:creationId id="{8F6D3036-4D88-47D5-BB87-D3D48640EEAB}"/>
              </a:ext>
            </a:extLst>
          </p:cNvPr>
          <p:cNvSpPr>
            <a:spLocks noGrp="1"/>
          </p:cNvSpPr>
          <p:nvPr/>
        </p:nvSpPr>
        <p:spPr>
          <a:xfrm>
            <a:off x="1047750" y="3390900"/>
            <a:ext cx="16192500" cy="2190750"/>
          </a:xfrm>
          <a:prstGeom prst="rect">
            <a:avLst/>
          </a:prstGeom>
          <a:noFill/>
          <a:ln w="0">
            <a:noFill/>
          </a:ln>
        </p:spPr>
        <p:txBody>
          <a:bodyPr wrap="square" lIns="0" tIns="0" rIns="0" bIns="0" anchor="ctr">
            <a:noAutofit/>
          </a:bodyPr>
          <a:lstStyle>
            <a:defPPr algn="l">
              <a:defRPr sz="12300">
                <a:solidFill>
                  <a:srgbClr val="213D30"/>
                </a:solidFill>
                <a:latin typeface="Open Sauce Bold"/>
                <a:ea typeface="Open Sauce Bold"/>
                <a:cs typeface="Open Sauce Bold"/>
              </a:defRPr>
            </a:defPPr>
          </a:lstStyle>
          <a:p>
            <a:pPr algn="l">
              <a:defRPr sz="12300">
                <a:solidFill>
                  <a:srgbClr val="213D30"/>
                </a:solidFill>
                <a:latin typeface="Open Sauce Bold"/>
                <a:ea typeface="Open Sauce Bold"/>
                <a:cs typeface="Open Sauce Bold"/>
              </a:defRPr>
            </a:pPr>
            <a:r>
              <a:rPr sz="12300">
                <a:solidFill>
                  <a:srgbClr val="213D30"/>
                </a:solidFill>
                <a:latin typeface="Open Sauce Bold"/>
                <a:ea typeface="Open Sauce Bold"/>
                <a:cs typeface="Open Sauce Bold"/>
              </a:rPr>
              <a:t>CyberShield AI</a:t>
            </a:r>
          </a:p>
        </p:txBody>
      </p:sp>
      <p:sp>
        <p:nvSpPr>
          <p:cNvPr id="6" name="project_subtitle">
            <a:extLst>
              <a:ext uri="{FF2B5EF4-FFF2-40B4-BE49-F238E27FC236}">
                <ns2:creationId id="{3AD79525-6D98-44A5-A3E7-3EDB4A5128C1}"/>
              </a:ext>
            </a:extLst>
          </p:cNvPr>
          <p:cNvSpPr>
            <a:spLocks noGrp="1"/>
          </p:cNvSpPr>
          <p:nvPr/>
        </p:nvSpPr>
        <p:spPr>
          <a:xfrm>
            <a:off x="1143000" y="5715000"/>
            <a:ext cx="15430500" cy="838200"/>
          </a:xfrm>
          <a:prstGeom prst="rect">
            <a:avLst/>
          </a:prstGeom>
          <a:noFill/>
          <a:ln w="0">
            <a:noFill/>
          </a:ln>
        </p:spPr>
        <p:txBody>
          <a:bodyPr wrap="square" lIns="0" tIns="0" rIns="0" bIns="0" anchor="ctr">
            <a:noAutofit/>
          </a:bodyPr>
          <a:lstStyle>
            <a:defPPr algn="l">
              <a:defRPr sz="3000">
                <a:solidFill>
                  <a:srgbClr val="637368"/>
                </a:solidFill>
                <a:latin typeface="Open Sauce Medium"/>
                <a:ea typeface="Open Sauce Medium"/>
                <a:cs typeface="Open Sauce Medium"/>
              </a:defRPr>
            </a:defPPr>
          </a:lstStyle>
          <a:p>
            <a:pPr algn="l">
              <a:defRPr sz="3000">
                <a:solidFill>
                  <a:srgbClr val="637368"/>
                </a:solidFill>
                <a:latin typeface="Open Sauce Medium"/>
                <a:ea typeface="Open Sauce Medium"/>
                <a:cs typeface="Open Sauce Medium"/>
              </a:defRPr>
            </a:pPr>
            <a:r>
              <a:rPr sz="3000">
                <a:solidFill>
                  <a:srgbClr val="637368"/>
                </a:solidFill>
                <a:latin typeface="Open Sauce Medium"/>
                <a:ea typeface="Open Sauce Medium"/>
                <a:cs typeface="Open Sauce Medium"/>
              </a:rPr>
              <a:t>Détection des injections SQL</a:t>
            </a:r>
          </a:p>
        </p:txBody>
      </p:sp>
      <p:sp>
        <p:nvSpPr>
          <p:cNvPr id="7" name="team_names">
            <a:extLst>
              <a:ext uri="{FF2B5EF4-FFF2-40B4-BE49-F238E27FC236}">
                <ns2:creationId id="{37BF9931-CA2A-474F-96E4-D0FBB0B65411}"/>
              </a:ext>
            </a:extLst>
          </p:cNvPr>
          <p:cNvSpPr>
            <a:spLocks noGrp="1"/>
          </p:cNvSpPr>
          <p:nvPr/>
        </p:nvSpPr>
        <p:spPr>
          <a:xfrm>
            <a:off x="1143000" y="8524875"/>
            <a:ext cx="10572750" cy="571500"/>
          </a:xfrm>
          <a:prstGeom prst="rect">
            <a:avLst/>
          </a:prstGeom>
          <a:noFill/>
          <a:ln w="0">
            <a:noFill/>
          </a:ln>
        </p:spPr>
        <p:txBody>
          <a:bodyPr wrap="square" lIns="0" tIns="0" rIns="0" bIns="0" anchor="ctr">
            <a:noAutofit/>
          </a:bodyPr>
          <a:lstStyle>
            <a:defPPr algn="l">
              <a:defRPr sz="2400">
                <a:solidFill>
                  <a:srgbClr val="213D30"/>
                </a:solidFill>
                <a:latin typeface="Open Sauce Medium"/>
                <a:ea typeface="Open Sauce Medium"/>
                <a:cs typeface="Open Sauce Medium"/>
              </a:defRPr>
            </a:defPPr>
          </a:lstStyle>
          <a:p>
            <a:pPr algn="l">
              <a:defRPr sz="2400">
                <a:solidFill>
                  <a:srgbClr val="213D30"/>
                </a:solidFill>
                <a:latin typeface="Open Sauce Medium"/>
                <a:ea typeface="Open Sauce Medium"/>
                <a:cs typeface="Open Sauce Medium"/>
              </a:defRPr>
            </a:pPr>
            <a:r>
              <a:rPr sz="2400">
                <a:solidFill>
                  <a:srgbClr val="213D30"/>
                </a:solidFill>
                <a:latin typeface="Open Sauce Medium"/>
                <a:ea typeface="Open Sauce Medium"/>
                <a:cs typeface="Open Sauce Medium"/>
              </a:rPr>
              <a:t>Sekou Doucoure et Hawa Thiama</a:t>
            </a:r>
          </a:p>
        </p:txBody>
      </p:sp>
      <p:sp>
        <p:nvSpPr>
          <p:cNvPr id="8" name="event_location">
            <a:extLst>
              <a:ext uri="{FF2B5EF4-FFF2-40B4-BE49-F238E27FC236}">
                <ns2:creationId id="{9E63F1B0-1162-4D61-BEDF-F910B2FFFD5B}"/>
              </a:ext>
            </a:extLst>
          </p:cNvPr>
          <p:cNvSpPr>
            <a:spLocks noGrp="1"/>
          </p:cNvSpPr>
          <p:nvPr/>
        </p:nvSpPr>
        <p:spPr>
          <a:xfrm>
            <a:off x="12192000" y="8610600"/>
            <a:ext cx="4953000" cy="457200"/>
          </a:xfrm>
          <a:prstGeom prst="rect">
            <a:avLst/>
          </a:prstGeom>
          <a:noFill/>
          <a:ln w="0">
            <a:noFill/>
          </a:ln>
        </p:spPr>
        <p:txBody>
          <a:bodyPr wrap="square" lIns="0" tIns="0" rIns="0" bIns="0" anchor="ctr">
            <a:noAutofit/>
          </a:bodyPr>
          <a:lstStyle>
            <a:defPPr algn="r">
              <a:defRPr sz="1800">
                <a:solidFill>
                  <a:srgbClr val="637368"/>
                </a:solidFill>
                <a:latin typeface="Open Sauce Medium"/>
                <a:ea typeface="Open Sauce Medium"/>
                <a:cs typeface="Open Sauce Medium"/>
              </a:defRPr>
            </a:defPPr>
          </a:lstStyle>
          <a:p>
            <a:pPr algn="r">
              <a:defRPr sz="1800">
                <a:solidFill>
                  <a:srgbClr val="637368"/>
                </a:solidFill>
                <a:latin typeface="Open Sauce Medium"/>
                <a:ea typeface="Open Sauce Medium"/>
                <a:cs typeface="Open Sauce Medium"/>
              </a:defRPr>
            </a:pPr>
            <a:r>
              <a:rPr sz="1800">
                <a:solidFill>
                  <a:srgbClr val="637368"/>
                </a:solidFill>
                <a:latin typeface="Open Sauce Medium"/>
                <a:ea typeface="Open Sauce Medium"/>
                <a:cs typeface="Open Sauce Medium"/>
              </a:rPr>
              <a:t>Bamako, 26–30 octobre 2026</a:t>
            </a:r>
          </a:p>
        </p:txBody>
      </p:sp>
    </p:spTree>
    <p:extLst>
      <p:ext uri="{BB962C8B-B14F-4D97-AF65-F5344CB8AC3E}">
        <ns4:creationId val="4112799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20"/>
                                        <p:tgtEl>
                                          <p:spTgt spid="5"/>
                                        </p:tgtEl>
                                      </p:cBhvr>
                                    </p:animEffect>
                                  </p:childTnLst>
                                </p:cTn>
                              </p:par>
                              <p:par>
                                <p:cTn id="8" presetID="0" presetClass="entr" presetSubtype="0" accel="20000" decel="30000" fill="hold" grpId="1" nodeType="withEffect">
                                  <p:stCondLst>
                                    <p:cond delay="0"/>
                                  </p:stCondLst>
                                  <p:childTnLst>
                                    <p:set>
                                      <p:cBhvr>
                                        <p:cTn id="9" dur="1" fill="hold">
                                          <p:stCondLst>
                                            <p:cond delay="449"/>
                                          </p:stCondLst>
                                        </p:cTn>
                                        <p:tgtEl>
                                          <p:spTgt spid="5"/>
                                        </p:tgtEl>
                                        <p:attrNameLst>
                                          <p:attrName>style.visibility</p:attrName>
                                        </p:attrNameLst>
                                      </p:cBhvr>
                                      <p:to>
                                        <p:strVal val="visible"/>
                                      </p:to>
                                    </p:set>
                                    <p:animMotion origin="layout" path="M 0 0.01111111 L 0 0 E" pathEditMode="relative">
                                      <p:cBhvr from="" to="">
                                        <p:cTn id="10" dur="450" fill="hold">
                                          <p:stCondLst>
                                            <p:cond delay="0"/>
                                          </p:stCondLst>
                                        </p:cTn>
                                        <p:tgtEl>
                                          <p:spTgt spid="5"/>
                                        </p:tgtEl>
                                        <p:attrNameLst>
                                          <p:attrName>ppt_x</p:attrName>
                                          <p:attrName>ppt_y</p:attrName>
                                        </p:attrNameLst>
                                      </p:cBhvr>
                                    </p:animMotion>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20"/>
                                        <p:tgtEl>
                                          <p:spTgt spid="6"/>
                                        </p:tgtEl>
                                      </p:cBhvr>
                                    </p:animEffect>
                                  </p:childTnLst>
                                </p:cTn>
                              </p:par>
                              <p:par>
                                <p:cTn id="14" presetID="0" presetClass="entr" presetSubtype="0" accel="20000" decel="30000" fill="hold" grpId="1" nodeType="withEffect">
                                  <p:stCondLst>
                                    <p:cond delay="0"/>
                                  </p:stCondLst>
                                  <p:childTnLst>
                                    <p:set>
                                      <p:cBhvr>
                                        <p:cTn id="15" dur="1" fill="hold">
                                          <p:stCondLst>
                                            <p:cond delay="449"/>
                                          </p:stCondLst>
                                        </p:cTn>
                                        <p:tgtEl>
                                          <p:spTgt spid="6"/>
                                        </p:tgtEl>
                                        <p:attrNameLst>
                                          <p:attrName>style.visibility</p:attrName>
                                        </p:attrNameLst>
                                      </p:cBhvr>
                                      <p:to>
                                        <p:strVal val="visible"/>
                                      </p:to>
                                    </p:set>
                                    <p:animMotion origin="layout" path="M 0 0.01111111 L 0 0 E" pathEditMode="relative">
                                      <p:cBhvr from="" to="">
                                        <p:cTn id="16" dur="450" fill="hold">
                                          <p:stCondLst>
                                            <p:cond delay="0"/>
                                          </p:stCondLst>
                                        </p:cTn>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3" name="TextBox 3"/>
          <p:cNvSpPr txBox="1"/>
          <p:nvPr/>
        </p:nvSpPr>
        <p:spPr>
          <a:xfrm>
            <a:off x="740030" y="770836"/>
            <a:ext cx="9043096" cy="999424"/>
          </a:xfrm>
          <a:prstGeom prst="rect">
            <a:avLst/>
          </a:prstGeom>
        </p:spPr>
        <p:txBody>
          <a:bodyPr lIns="0" tIns="0" rIns="0" bIns="0" rtlCol="0" anchor="t">
            <a:spAutoFit/>
          </a:bodyPr>
          <a:lstStyle/>
          <a:p>
            <a:pPr algn="l">
              <a:lnSpc>
                <a:spcPts val="7995"/>
              </a:lnSpc>
            </a:pPr>
            <a:r>
              <a:rPr lang="en-US" sz="6662" b="1">
                <a:solidFill>
                  <a:srgbClr val="142B1D"/>
                </a:solidFill>
                <a:latin typeface="Open Sauce Bold"/>
                <a:ea typeface="Open Sauce Bold"/>
                <a:cs typeface="Open Sauce Bold"/>
                <a:sym typeface="Open Sauce Bold"/>
              </a:rPr>
              <a:t>Le problème concret</a:t>
            </a:r>
          </a:p>
        </p:txBody>
      </p:sp>
      <p:sp>
        <p:nvSpPr>
          <p:cNvPr id="4" name="TextBox 4"/>
          <p:cNvSpPr txBox="1"/>
          <p:nvPr/>
        </p:nvSpPr>
        <p:spPr>
          <a:xfrm>
            <a:off x="857250" y="2204563"/>
            <a:ext cx="9376172" cy="825546"/>
          </a:xfrm>
          <a:prstGeom prst="rect">
            <a:avLst/>
          </a:prstGeom>
        </p:spPr>
        <p:txBody>
          <a:bodyPr lIns="0" tIns="0" rIns="0" bIns="0" rtlCol="0" anchor="t">
            <a:spAutoFit/>
          </a:bodyPr>
          <a:lstStyle/>
          <a:p>
            <a:pPr algn="l">
              <a:lnSpc>
                <a:spcPts val="3482"/>
              </a:lnSpc>
            </a:pPr>
            <a:r>
              <a:rPr lang="en-US" sz="2321" b="1" spc="-46">
                <a:solidFill>
                  <a:srgbClr val="4D4D4D"/>
                </a:solidFill>
                <a:latin typeface="Open Sauce Medium"/>
                <a:ea typeface="Open Sauce Medium"/>
                <a:cs typeface="Open Sauce Medium"/>
                <a:sym typeface="Open Sauce Medium"/>
              </a:rPr>
              <a:t>Les applications web reçoivent des données via formulaires</a:t>
            </a:r>
          </a:p>
          <a:p>
            <a:pPr algn="l">
              <a:lnSpc>
                <a:spcPts val="3482"/>
              </a:lnSpc>
            </a:pPr>
            <a:r>
              <a:rPr lang="en-US" sz="2321" b="1" spc="-46">
                <a:solidFill>
                  <a:srgbClr val="4D4D4D"/>
                </a:solidFill>
                <a:latin typeface="Open Sauce Medium"/>
                <a:ea typeface="Open Sauce Medium"/>
                <a:cs typeface="Open Sauce Medium"/>
                <a:sym typeface="Open Sauce Medium"/>
              </a:rPr>
              <a:t>ou paramètres HTTP.</a:t>
            </a:r>
          </a:p>
        </p:txBody>
      </p:sp>
      <p:sp>
        <p:nvSpPr>
          <p:cNvPr id="5" name="TextBox 5"/>
          <p:cNvSpPr txBox="1"/>
          <p:nvPr/>
        </p:nvSpPr>
        <p:spPr>
          <a:xfrm>
            <a:off x="857250" y="3228700"/>
            <a:ext cx="9376172" cy="825546"/>
          </a:xfrm>
          <a:prstGeom prst="rect">
            <a:avLst/>
          </a:prstGeom>
        </p:spPr>
        <p:txBody>
          <a:bodyPr lIns="0" tIns="0" rIns="0" bIns="0" rtlCol="0" anchor="t">
            <a:spAutoFit/>
          </a:bodyPr>
          <a:lstStyle/>
          <a:p>
            <a:pPr algn="l">
              <a:lnSpc>
                <a:spcPts val="3482"/>
              </a:lnSpc>
            </a:pPr>
            <a:r>
              <a:rPr lang="en-US" sz="2321" b="1" spc="-46">
                <a:solidFill>
                  <a:srgbClr val="4D4D4D"/>
                </a:solidFill>
                <a:latin typeface="Open Sauce Medium"/>
                <a:ea typeface="Open Sauce Medium"/>
                <a:cs typeface="Open Sauce Medium"/>
                <a:sym typeface="Open Sauce Medium"/>
              </a:rPr>
              <a:t>Ces entrées peuvent contenir des attaques SQLi qui menacent l'intégrité et la confidentialité des données.</a:t>
            </a:r>
          </a:p>
        </p:txBody>
      </p:sp>
      <p:sp>
        <p:nvSpPr>
          <p:cNvPr id="6" name="TextBox 6"/>
          <p:cNvSpPr txBox="1"/>
          <p:nvPr/>
        </p:nvSpPr>
        <p:spPr>
          <a:xfrm>
            <a:off x="857250" y="4298020"/>
            <a:ext cx="9376172" cy="825546"/>
          </a:xfrm>
          <a:prstGeom prst="rect">
            <a:avLst/>
          </a:prstGeom>
        </p:spPr>
        <p:txBody>
          <a:bodyPr lIns="0" tIns="0" rIns="0" bIns="0" rtlCol="0" anchor="t">
            <a:spAutoFit/>
          </a:bodyPr>
          <a:lstStyle/>
          <a:p>
            <a:pPr algn="l">
              <a:lnSpc>
                <a:spcPts val="3482"/>
              </a:lnSpc>
            </a:pPr>
            <a:r>
              <a:rPr lang="en-US" sz="2321" b="1" spc="-46">
                <a:solidFill>
                  <a:srgbClr val="4D4D4D"/>
                </a:solidFill>
                <a:latin typeface="Open Sauce Medium"/>
                <a:ea typeface="Open Sauce Medium"/>
                <a:cs typeface="Open Sauce Medium"/>
                <a:sym typeface="Open Sauce Medium"/>
              </a:rPr>
              <a:t>Chaque organisation doit savoir ce que son filtre fait réellement, pour garantir confiance et maîtrise.</a:t>
            </a:r>
          </a:p>
        </p:txBody>
      </p:sp>
      <p:sp>
        <p:nvSpPr>
          <p:cNvPr id="7" name="Freeform 7"/>
          <p:cNvSpPr/>
          <p:nvPr/>
        </p:nvSpPr>
        <p:spPr>
          <a:xfrm>
            <a:off x="1082842" y="5564382"/>
            <a:ext cx="3489158" cy="874559"/>
          </a:xfrm>
          <a:custGeom>
            <a:avLst/>
            <a:gdLst/>
            <a:ahLst/>
            <a:cxnLst/>
            <a:rect l="l" t="t" r="r" b="b"/>
            <a:pathLst>
              <a:path w="3489158" h="874559">
                <a:moveTo>
                  <a:pt x="0" y="0"/>
                </a:moveTo>
                <a:lnTo>
                  <a:pt x="3489158" y="0"/>
                </a:lnTo>
                <a:lnTo>
                  <a:pt x="3489158" y="874558"/>
                </a:lnTo>
                <a:lnTo>
                  <a:pt x="0" y="874558"/>
                </a:lnTo>
                <a:lnTo>
                  <a:pt x="0" y="0"/>
                </a:lnTo>
                <a:close/>
              </a:path>
            </a:pathLst>
          </a:custGeom>
          <a:blipFill>
            <a:blip r:embed="rId4"/>
            <a:stretch>
              <a:fillRect/>
            </a:stretch>
          </a:blipFill>
        </p:spPr>
      </p:sp>
      <p:sp>
        <p:nvSpPr>
          <p:cNvPr id="8" name="TextBox 8"/>
          <p:cNvSpPr txBox="1"/>
          <p:nvPr/>
        </p:nvSpPr>
        <p:spPr>
          <a:xfrm>
            <a:off x="1448204" y="5768369"/>
            <a:ext cx="2853061" cy="315820"/>
          </a:xfrm>
          <a:prstGeom prst="rect">
            <a:avLst/>
          </a:prstGeom>
        </p:spPr>
        <p:txBody>
          <a:bodyPr lIns="0" tIns="0" rIns="0" bIns="0" rtlCol="0" anchor="t">
            <a:spAutoFit/>
          </a:bodyPr>
          <a:lstStyle/>
          <a:p>
            <a:pPr algn="ctr">
              <a:lnSpc>
                <a:spcPts val="2794"/>
              </a:lnSpc>
            </a:pPr>
            <a:r>
              <a:rPr lang="en-US" sz="1863" b="1" spc="28">
                <a:solidFill>
                  <a:srgbClr val="F4F0E7"/>
                </a:solidFill>
                <a:latin typeface="Open Sauce Bold"/>
                <a:ea typeface="Open Sauce Bold"/>
                <a:cs typeface="Open Sauce Bold"/>
                <a:sym typeface="Open Sauce Bold"/>
              </a:rPr>
              <a:t>ENTRÉES UTILISATEUR</a:t>
            </a:r>
          </a:p>
        </p:txBody>
      </p:sp>
      <p:sp>
        <p:nvSpPr>
          <p:cNvPr id="9" name="Freeform 9"/>
          <p:cNvSpPr/>
          <p:nvPr/>
        </p:nvSpPr>
        <p:spPr>
          <a:xfrm>
            <a:off x="645330" y="6209369"/>
            <a:ext cx="4582938" cy="2798589"/>
          </a:xfrm>
          <a:custGeom>
            <a:avLst/>
            <a:gdLst/>
            <a:ahLst/>
            <a:cxnLst/>
            <a:rect l="l" t="t" r="r" b="b"/>
            <a:pathLst>
              <a:path w="4582938" h="2798589">
                <a:moveTo>
                  <a:pt x="0" y="0"/>
                </a:moveTo>
                <a:lnTo>
                  <a:pt x="4582938" y="0"/>
                </a:lnTo>
                <a:lnTo>
                  <a:pt x="4582938" y="2798588"/>
                </a:lnTo>
                <a:lnTo>
                  <a:pt x="0" y="2798588"/>
                </a:lnTo>
                <a:lnTo>
                  <a:pt x="0" y="0"/>
                </a:lnTo>
                <a:close/>
              </a:path>
            </a:pathLst>
          </a:custGeom>
          <a:blipFill>
            <a:blip r:embed="rId5"/>
            <a:stretch>
              <a:fillRect/>
            </a:stretch>
          </a:blipFill>
        </p:spPr>
      </p:sp>
      <p:sp>
        <p:nvSpPr>
          <p:cNvPr id="10" name="TextBox 10"/>
          <p:cNvSpPr txBox="1"/>
          <p:nvPr/>
        </p:nvSpPr>
        <p:spPr>
          <a:xfrm>
            <a:off x="1053544" y="9005893"/>
            <a:ext cx="3545405" cy="623953"/>
          </a:xfrm>
          <a:prstGeom prst="rect">
            <a:avLst/>
          </a:prstGeom>
        </p:spPr>
        <p:txBody>
          <a:bodyPr lIns="0" tIns="0" rIns="0" bIns="0" rtlCol="0" anchor="t">
            <a:spAutoFit/>
          </a:bodyPr>
          <a:lstStyle/>
          <a:p>
            <a:pPr algn="ctr">
              <a:lnSpc>
                <a:spcPts val="2610"/>
              </a:lnSpc>
            </a:pPr>
            <a:r>
              <a:rPr lang="en-US" sz="1740" b="1" spc="-34">
                <a:solidFill>
                  <a:srgbClr val="4D4D4D"/>
                </a:solidFill>
                <a:latin typeface="Open Sauce Medium"/>
                <a:ea typeface="Open Sauce Medium"/>
                <a:cs typeface="Open Sauce Medium"/>
                <a:sym typeface="Open Sauce Medium"/>
              </a:rPr>
              <a:t>Formulaires et paramètres HTTP fournis par l'utilisateur</a:t>
            </a:r>
          </a:p>
        </p:txBody>
      </p:sp>
      <p:sp>
        <p:nvSpPr>
          <p:cNvPr id="11" name="Freeform 11"/>
          <p:cNvSpPr/>
          <p:nvPr/>
        </p:nvSpPr>
        <p:spPr>
          <a:xfrm>
            <a:off x="5217330" y="7280704"/>
            <a:ext cx="1750048" cy="437279"/>
          </a:xfrm>
          <a:custGeom>
            <a:avLst/>
            <a:gdLst/>
            <a:ahLst/>
            <a:cxnLst/>
            <a:rect l="l" t="t" r="r" b="b"/>
            <a:pathLst>
              <a:path w="1750048" h="437279">
                <a:moveTo>
                  <a:pt x="0" y="0"/>
                </a:moveTo>
                <a:lnTo>
                  <a:pt x="1750048" y="0"/>
                </a:lnTo>
                <a:lnTo>
                  <a:pt x="1750048" y="437279"/>
                </a:lnTo>
                <a:lnTo>
                  <a:pt x="0" y="437279"/>
                </a:lnTo>
                <a:lnTo>
                  <a:pt x="0" y="0"/>
                </a:lnTo>
                <a:close/>
              </a:path>
            </a:pathLst>
          </a:custGeom>
          <a:blipFill>
            <a:blip r:embed="rId6"/>
            <a:stretch>
              <a:fillRect/>
            </a:stretch>
          </a:blipFill>
        </p:spPr>
      </p:sp>
      <p:sp>
        <p:nvSpPr>
          <p:cNvPr id="12" name="Freeform 12"/>
          <p:cNvSpPr/>
          <p:nvPr/>
        </p:nvSpPr>
        <p:spPr>
          <a:xfrm>
            <a:off x="7612708" y="5564382"/>
            <a:ext cx="3062584" cy="655919"/>
          </a:xfrm>
          <a:custGeom>
            <a:avLst/>
            <a:gdLst/>
            <a:ahLst/>
            <a:cxnLst/>
            <a:rect l="l" t="t" r="r" b="b"/>
            <a:pathLst>
              <a:path w="3062584" h="655919">
                <a:moveTo>
                  <a:pt x="0" y="0"/>
                </a:moveTo>
                <a:lnTo>
                  <a:pt x="3062584" y="0"/>
                </a:lnTo>
                <a:lnTo>
                  <a:pt x="3062584" y="655919"/>
                </a:lnTo>
                <a:lnTo>
                  <a:pt x="0" y="655919"/>
                </a:lnTo>
                <a:lnTo>
                  <a:pt x="0" y="0"/>
                </a:lnTo>
                <a:close/>
              </a:path>
            </a:pathLst>
          </a:custGeom>
          <a:blipFill>
            <a:blip r:embed="rId7"/>
            <a:stretch>
              <a:fillRect/>
            </a:stretch>
          </a:blipFill>
        </p:spPr>
      </p:sp>
      <p:sp>
        <p:nvSpPr>
          <p:cNvPr id="13" name="TextBox 13"/>
          <p:cNvSpPr txBox="1"/>
          <p:nvPr/>
        </p:nvSpPr>
        <p:spPr>
          <a:xfrm>
            <a:off x="7883370" y="5768369"/>
            <a:ext cx="2369992" cy="315820"/>
          </a:xfrm>
          <a:prstGeom prst="rect">
            <a:avLst/>
          </a:prstGeom>
        </p:spPr>
        <p:txBody>
          <a:bodyPr lIns="0" tIns="0" rIns="0" bIns="0" rtlCol="0" anchor="t">
            <a:spAutoFit/>
          </a:bodyPr>
          <a:lstStyle/>
          <a:p>
            <a:pPr algn="ctr">
              <a:lnSpc>
                <a:spcPts val="2794"/>
              </a:lnSpc>
            </a:pPr>
            <a:r>
              <a:rPr lang="en-US" sz="1863" b="1" spc="28">
                <a:solidFill>
                  <a:srgbClr val="F4F0E7"/>
                </a:solidFill>
                <a:latin typeface="Open Sauce Bold"/>
                <a:ea typeface="Open Sauce Bold"/>
                <a:cs typeface="Open Sauce Bold"/>
                <a:sym typeface="Open Sauce Bold"/>
              </a:rPr>
              <a:t>APPLICATION WEB</a:t>
            </a:r>
          </a:p>
        </p:txBody>
      </p:sp>
      <p:sp>
        <p:nvSpPr>
          <p:cNvPr id="14" name="Freeform 14"/>
          <p:cNvSpPr/>
          <p:nvPr/>
        </p:nvSpPr>
        <p:spPr>
          <a:xfrm>
            <a:off x="7175196" y="6209369"/>
            <a:ext cx="3937608" cy="2798589"/>
          </a:xfrm>
          <a:custGeom>
            <a:avLst/>
            <a:gdLst/>
            <a:ahLst/>
            <a:cxnLst/>
            <a:rect l="l" t="t" r="r" b="b"/>
            <a:pathLst>
              <a:path w="3937608" h="2798589">
                <a:moveTo>
                  <a:pt x="0" y="0"/>
                </a:moveTo>
                <a:lnTo>
                  <a:pt x="3937608" y="0"/>
                </a:lnTo>
                <a:lnTo>
                  <a:pt x="3937608" y="2798588"/>
                </a:lnTo>
                <a:lnTo>
                  <a:pt x="0" y="2798588"/>
                </a:lnTo>
                <a:lnTo>
                  <a:pt x="0" y="0"/>
                </a:lnTo>
                <a:close/>
              </a:path>
            </a:pathLst>
          </a:custGeom>
          <a:blipFill>
            <a:blip r:embed="rId8"/>
            <a:stretch>
              <a:fillRect/>
            </a:stretch>
          </a:blipFill>
        </p:spPr>
      </p:sp>
      <p:sp>
        <p:nvSpPr>
          <p:cNvPr id="15" name="TextBox 15"/>
          <p:cNvSpPr txBox="1"/>
          <p:nvPr/>
        </p:nvSpPr>
        <p:spPr>
          <a:xfrm>
            <a:off x="7652283" y="9005892"/>
            <a:ext cx="2703578" cy="623953"/>
          </a:xfrm>
          <a:prstGeom prst="rect">
            <a:avLst/>
          </a:prstGeom>
        </p:spPr>
        <p:txBody>
          <a:bodyPr lIns="0" tIns="0" rIns="0" bIns="0" rtlCol="0" anchor="t">
            <a:spAutoFit/>
          </a:bodyPr>
          <a:lstStyle/>
          <a:p>
            <a:pPr algn="ctr">
              <a:lnSpc>
                <a:spcPts val="2610"/>
              </a:lnSpc>
            </a:pPr>
            <a:r>
              <a:rPr lang="en-US" sz="1740" b="1" spc="-34">
                <a:solidFill>
                  <a:srgbClr val="4D4D4D"/>
                </a:solidFill>
                <a:latin typeface="Open Sauce Medium"/>
                <a:ea typeface="Open Sauce Medium"/>
                <a:cs typeface="Open Sauce Medium"/>
                <a:sym typeface="Open Sauce Medium"/>
              </a:rPr>
              <a:t>Traitement des requêtes</a:t>
            </a:r>
          </a:p>
          <a:p>
            <a:pPr algn="ctr">
              <a:lnSpc>
                <a:spcPts val="2610"/>
              </a:lnSpc>
            </a:pPr>
            <a:r>
              <a:rPr lang="en-US" sz="1740" b="1" spc="-34">
                <a:solidFill>
                  <a:srgbClr val="4D4D4D"/>
                </a:solidFill>
                <a:latin typeface="Open Sauce Medium"/>
                <a:ea typeface="Open Sauce Medium"/>
                <a:cs typeface="Open Sauce Medium"/>
                <a:sym typeface="Open Sauce Medium"/>
              </a:rPr>
              <a:t>et logique applicative</a:t>
            </a:r>
          </a:p>
        </p:txBody>
      </p:sp>
      <p:sp>
        <p:nvSpPr>
          <p:cNvPr id="16" name="Freeform 16"/>
          <p:cNvSpPr/>
          <p:nvPr/>
        </p:nvSpPr>
        <p:spPr>
          <a:xfrm>
            <a:off x="11101866" y="7280704"/>
            <a:ext cx="1750048" cy="437279"/>
          </a:xfrm>
          <a:custGeom>
            <a:avLst/>
            <a:gdLst/>
            <a:ahLst/>
            <a:cxnLst/>
            <a:rect l="l" t="t" r="r" b="b"/>
            <a:pathLst>
              <a:path w="1750048" h="437279">
                <a:moveTo>
                  <a:pt x="0" y="0"/>
                </a:moveTo>
                <a:lnTo>
                  <a:pt x="1750048" y="0"/>
                </a:lnTo>
                <a:lnTo>
                  <a:pt x="1750048" y="437279"/>
                </a:lnTo>
                <a:lnTo>
                  <a:pt x="0" y="437279"/>
                </a:lnTo>
                <a:lnTo>
                  <a:pt x="0" y="0"/>
                </a:lnTo>
                <a:close/>
              </a:path>
            </a:pathLst>
          </a:custGeom>
          <a:blipFill>
            <a:blip r:embed="rId9"/>
            <a:stretch>
              <a:fillRect/>
            </a:stretch>
          </a:blipFill>
        </p:spPr>
      </p:sp>
      <p:sp>
        <p:nvSpPr>
          <p:cNvPr id="17" name="Freeform 17"/>
          <p:cNvSpPr/>
          <p:nvPr/>
        </p:nvSpPr>
        <p:spPr>
          <a:xfrm>
            <a:off x="13497244" y="5564382"/>
            <a:ext cx="3051646" cy="655919"/>
          </a:xfrm>
          <a:custGeom>
            <a:avLst/>
            <a:gdLst/>
            <a:ahLst/>
            <a:cxnLst/>
            <a:rect l="l" t="t" r="r" b="b"/>
            <a:pathLst>
              <a:path w="3051646" h="655919">
                <a:moveTo>
                  <a:pt x="0" y="0"/>
                </a:moveTo>
                <a:lnTo>
                  <a:pt x="3051646" y="0"/>
                </a:lnTo>
                <a:lnTo>
                  <a:pt x="3051646" y="655919"/>
                </a:lnTo>
                <a:lnTo>
                  <a:pt x="0" y="655919"/>
                </a:lnTo>
                <a:lnTo>
                  <a:pt x="0" y="0"/>
                </a:lnTo>
                <a:close/>
              </a:path>
            </a:pathLst>
          </a:custGeom>
          <a:blipFill>
            <a:blip r:embed="rId10"/>
            <a:stretch>
              <a:fillRect/>
            </a:stretch>
          </a:blipFill>
        </p:spPr>
      </p:sp>
      <p:sp>
        <p:nvSpPr>
          <p:cNvPr id="18" name="Freeform 18"/>
          <p:cNvSpPr/>
          <p:nvPr/>
        </p:nvSpPr>
        <p:spPr>
          <a:xfrm>
            <a:off x="12840976" y="6209369"/>
            <a:ext cx="4582938" cy="2798589"/>
          </a:xfrm>
          <a:custGeom>
            <a:avLst/>
            <a:gdLst/>
            <a:ahLst/>
            <a:cxnLst/>
            <a:rect l="l" t="t" r="r" b="b"/>
            <a:pathLst>
              <a:path w="4582938" h="2798589">
                <a:moveTo>
                  <a:pt x="0" y="0"/>
                </a:moveTo>
                <a:lnTo>
                  <a:pt x="4582938" y="0"/>
                </a:lnTo>
                <a:lnTo>
                  <a:pt x="4582938" y="2798588"/>
                </a:lnTo>
                <a:lnTo>
                  <a:pt x="0" y="2798588"/>
                </a:lnTo>
                <a:lnTo>
                  <a:pt x="0" y="0"/>
                </a:lnTo>
                <a:close/>
              </a:path>
            </a:pathLst>
          </a:custGeom>
          <a:blipFill>
            <a:blip r:embed="rId11"/>
            <a:stretch>
              <a:fillRect/>
            </a:stretch>
          </a:blipFill>
        </p:spPr>
      </p:sp>
      <p:sp>
        <p:nvSpPr>
          <p:cNvPr id="19" name="TextBox 19"/>
          <p:cNvSpPr txBox="1"/>
          <p:nvPr/>
        </p:nvSpPr>
        <p:spPr>
          <a:xfrm>
            <a:off x="13859391" y="9005892"/>
            <a:ext cx="2536785" cy="623953"/>
          </a:xfrm>
          <a:prstGeom prst="rect">
            <a:avLst/>
          </a:prstGeom>
        </p:spPr>
        <p:txBody>
          <a:bodyPr lIns="0" tIns="0" rIns="0" bIns="0" rtlCol="0" anchor="t">
            <a:spAutoFit/>
          </a:bodyPr>
          <a:lstStyle/>
          <a:p>
            <a:pPr algn="ctr">
              <a:lnSpc>
                <a:spcPts val="2610"/>
              </a:lnSpc>
            </a:pPr>
            <a:r>
              <a:rPr lang="en-US" sz="1740" b="1" spc="-34">
                <a:solidFill>
                  <a:srgbClr val="4D4D4D"/>
                </a:solidFill>
                <a:latin typeface="Open Sauce Medium"/>
                <a:ea typeface="Open Sauce Medium"/>
                <a:cs typeface="Open Sauce Medium"/>
                <a:sym typeface="Open Sauce Medium"/>
              </a:rPr>
              <a:t>Stockage et gestion</a:t>
            </a:r>
          </a:p>
          <a:p>
            <a:pPr algn="ctr">
              <a:lnSpc>
                <a:spcPts val="2610"/>
              </a:lnSpc>
            </a:pPr>
            <a:r>
              <a:rPr lang="en-US" sz="1740" b="1" spc="-34">
                <a:solidFill>
                  <a:srgbClr val="4D4D4D"/>
                </a:solidFill>
                <a:latin typeface="Open Sauce Medium"/>
                <a:ea typeface="Open Sauce Medium"/>
                <a:cs typeface="Open Sauce Medium"/>
                <a:sym typeface="Open Sauce Medium"/>
              </a:rPr>
              <a:t>des données sensibles</a:t>
            </a:r>
          </a:p>
        </p:txBody>
      </p:sp>
      <p:sp>
        <p:nvSpPr>
          <p:cNvPr id="20" name="TextBox 20"/>
          <p:cNvSpPr txBox="1"/>
          <p:nvPr/>
        </p:nvSpPr>
        <p:spPr>
          <a:xfrm>
            <a:off x="13856818" y="5738248"/>
            <a:ext cx="2388697" cy="315820"/>
          </a:xfrm>
          <a:prstGeom prst="rect">
            <a:avLst/>
          </a:prstGeom>
        </p:spPr>
        <p:txBody>
          <a:bodyPr lIns="0" tIns="0" rIns="0" bIns="0" rtlCol="0" anchor="t">
            <a:spAutoFit/>
          </a:bodyPr>
          <a:lstStyle/>
          <a:p>
            <a:pPr algn="ctr">
              <a:lnSpc>
                <a:spcPts val="2794"/>
              </a:lnSpc>
            </a:pPr>
            <a:r>
              <a:rPr lang="en-US" sz="1863" b="1" spc="28">
                <a:solidFill>
                  <a:srgbClr val="F4F0E7"/>
                </a:solidFill>
                <a:latin typeface="Open Sauce Bold"/>
                <a:ea typeface="Open Sauce Bold"/>
                <a:cs typeface="Open Sauce Bold"/>
                <a:sym typeface="Open Sauce Bold"/>
              </a:rPr>
              <a:t>BASE DE DONNÉES</a:t>
            </a:r>
          </a:p>
        </p:txBody>
      </p:sp>
      <p:sp>
        <p:nvSpPr>
          <p:cNvPr id="21" name="nav_home" descr="Retour à l'accueil JNC">
            <a:hlinkClick r:id="rId12" action="ppaction://hlinksldjump" tooltip="Retour à l'accueil JNC" highlightClick="1"/>
            <a:extLst>
              <a:ext uri="{FF2B5EF4-FFF2-40B4-BE49-F238E27FC236}">
                <a16:creationId xmlns:a16="http://schemas.microsoft.com/office/drawing/2014/main" id="{362E0690-5BF8-F8F4-9579-485EF5145B3A}"/>
              </a:ext>
            </a:extLst>
          </p:cNvPr>
          <p:cNvSpPr txBox="1"/>
          <p:nvPr/>
        </p:nvSpPr>
        <p:spPr>
          <a:xfrm>
            <a:off x="15525750" y="381000"/>
            <a:ext cx="171450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Accueil</a:t>
            </a:r>
          </a:p>
        </p:txBody>
      </p:sp>
      <p:sp>
        <p:nvSpPr>
          <p:cNvPr id="22" name="nav_architecture" descr="Revenir au schéma de l'architecture">
            <a:hlinkClick r:id="rId13" action="ppaction://hlinksldjump" tooltip="Revenir au schéma de l'architecture" highlightClick="1"/>
            <a:extLst>
              <a:ext uri="{FF2B5EF4-FFF2-40B4-BE49-F238E27FC236}">
                <a16:creationId xmlns:a16="http://schemas.microsoft.com/office/drawing/2014/main" id="{A8CE8642-5BAF-43D2-C50A-D44C7910558D}"/>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23" name="nav_demonstrations" descr="Ouvrir la comparaison des parcours">
            <a:hlinkClick r:id="rId14" action="ppaction://hlinksldjump" tooltip="Ouvrir la comparaison des parcours" highlightClick="1"/>
            <a:extLst>
              <a:ext uri="{FF2B5EF4-FFF2-40B4-BE49-F238E27FC236}">
                <a16:creationId xmlns:a16="http://schemas.microsoft.com/office/drawing/2014/main" id="{B78B7C02-DEEA-5081-A9B3-38714C300F09}"/>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24" name="nav_results" descr="Ouvrir les résultats et leurs limites">
            <a:hlinkClick r:id="rId15" action="ppaction://hlinksldjump" tooltip="Ouvrir les résultats et leurs limites" highlightClick="1"/>
            <a:extLst>
              <a:ext uri="{FF2B5EF4-FFF2-40B4-BE49-F238E27FC236}">
                <a16:creationId xmlns:a16="http://schemas.microsoft.com/office/drawing/2014/main" id="{C02EE11E-2F95-0B89-F13A-F144B9EB1DE7}"/>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p:tgtEl>
                                          <p:spTgt spid="3"/>
                                        </p:tgtEl>
                                      </p:cBhvr>
                                    </p:animEffect>
                                  </p:childTnLst>
                                </p:cTn>
                              </p:par>
                              <p:par>
                                <p:cTn id="8" presetID="0" presetClass="entr" presetSubtype="0" accel="20000" decel="30000" fill="hold" grpId="1" nodeType="withEffect">
                                  <p:stCondLst>
                                    <p:cond delay="0"/>
                                  </p:stCondLst>
                                  <p:childTnLst>
                                    <p:set>
                                      <p:cBhvr>
                                        <p:cTn id="9" dur="1" fill="hold">
                                          <p:stCondLst>
                                            <p:cond delay="449"/>
                                          </p:stCondLst>
                                        </p:cTn>
                                        <p:tgtEl>
                                          <p:spTgt spid="3"/>
                                        </p:tgtEl>
                                        <p:attrNameLst>
                                          <p:attrName>style.visibility</p:attrName>
                                        </p:attrNameLst>
                                      </p:cBhvr>
                                      <p:to>
                                        <p:strVal val="visible"/>
                                      </p:to>
                                    </p:set>
                                    <p:animMotion origin="layout" path="M 0 0.01111111 L 0 0 E" pathEditMode="relative">
                                      <p:cBhvr from="" to="">
                                        <p:cTn id="10" dur="450" fill="hold">
                                          <p:stCondLst>
                                            <p:cond delay="0"/>
                                          </p:stCondLst>
                                        </p:cTn>
                                        <p:tgtEl>
                                          <p:spTgt spid="3"/>
                                        </p:tgtEl>
                                        <p:attrNameLst>
                                          <p:attrName>ppt_x</p:attrName>
                                          <p:attrName>ppt_y</p:attrName>
                                        </p:attrNameLst>
                                      </p:cBhvr>
                                    </p:animMotion>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20"/>
                                        <p:tgtEl>
                                          <p:spTgt spid="4"/>
                                        </p:tgtEl>
                                      </p:cBhvr>
                                    </p:animEffect>
                                  </p:childTnLst>
                                </p:cTn>
                              </p:par>
                              <p:par>
                                <p:cTn id="14" presetID="0" presetClass="entr" presetSubtype="0" accel="20000" decel="30000" fill="hold" grpId="1" nodeType="withEffect">
                                  <p:stCondLst>
                                    <p:cond delay="0"/>
                                  </p:stCondLst>
                                  <p:childTnLst>
                                    <p:set>
                                      <p:cBhvr>
                                        <p:cTn id="15" dur="1" fill="hold">
                                          <p:stCondLst>
                                            <p:cond delay="449"/>
                                          </p:stCondLst>
                                        </p:cTn>
                                        <p:tgtEl>
                                          <p:spTgt spid="4"/>
                                        </p:tgtEl>
                                        <p:attrNameLst>
                                          <p:attrName>style.visibility</p:attrName>
                                        </p:attrNameLst>
                                      </p:cBhvr>
                                      <p:to>
                                        <p:strVal val="visible"/>
                                      </p:to>
                                    </p:set>
                                    <p:animMotion origin="layout" path="M 0 0.01111111 L 0 0 E" pathEditMode="relative">
                                      <p:cBhvr from="" to="">
                                        <p:cTn id="16" dur="450" fill="hold">
                                          <p:stCondLst>
                                            <p:cond delay="0"/>
                                          </p:stCondLst>
                                        </p:cTn>
                                        <p:tgtEl>
                                          <p:spTgt spid="4"/>
                                        </p:tgtEl>
                                        <p:attrNameLst>
                                          <p:attrName>ppt_x</p:attrName>
                                          <p:attrName>ppt_y</p:attrName>
                                        </p:attrNameLst>
                                      </p:cBhvr>
                                    </p:animMotion>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320"/>
                                        <p:tgtEl>
                                          <p:spTgt spid="5"/>
                                        </p:tgtEl>
                                      </p:cBhvr>
                                    </p:animEffect>
                                  </p:childTnLst>
                                </p:cTn>
                              </p:par>
                              <p:par>
                                <p:cTn id="20" presetID="0" presetClass="entr" presetSubtype="0" accel="20000" decel="30000" fill="hold" grpId="1" nodeType="withEffect">
                                  <p:stCondLst>
                                    <p:cond delay="0"/>
                                  </p:stCondLst>
                                  <p:childTnLst>
                                    <p:set>
                                      <p:cBhvr>
                                        <p:cTn id="21" dur="1" fill="hold">
                                          <p:stCondLst>
                                            <p:cond delay="449"/>
                                          </p:stCondLst>
                                        </p:cTn>
                                        <p:tgtEl>
                                          <p:spTgt spid="5"/>
                                        </p:tgtEl>
                                        <p:attrNameLst>
                                          <p:attrName>style.visibility</p:attrName>
                                        </p:attrNameLst>
                                      </p:cBhvr>
                                      <p:to>
                                        <p:strVal val="visible"/>
                                      </p:to>
                                    </p:set>
                                    <p:animMotion origin="layout" path="M 0 0.01111111 L 0 0 E" pathEditMode="relative">
                                      <p:cBhvr from="" to="">
                                        <p:cTn id="22" dur="450" fill="hold">
                                          <p:stCondLst>
                                            <p:cond delay="0"/>
                                          </p:stCondLst>
                                        </p:cTn>
                                        <p:tgtEl>
                                          <p:spTgt spid="5"/>
                                        </p:tgtEl>
                                        <p:attrNameLst>
                                          <p:attrName>ppt_x</p:attrName>
                                          <p:attrName>ppt_y</p:attrName>
                                        </p:attrNameLst>
                                      </p:cBhvr>
                                    </p:animMotion>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320"/>
                                        <p:tgtEl>
                                          <p:spTgt spid="6"/>
                                        </p:tgtEl>
                                      </p:cBhvr>
                                    </p:animEffect>
                                  </p:childTnLst>
                                </p:cTn>
                              </p:par>
                              <p:par>
                                <p:cTn id="26" presetID="0" presetClass="entr" presetSubtype="0" accel="20000" decel="30000" fill="hold" grpId="1" nodeType="withEffect">
                                  <p:stCondLst>
                                    <p:cond delay="0"/>
                                  </p:stCondLst>
                                  <p:childTnLst>
                                    <p:set>
                                      <p:cBhvr>
                                        <p:cTn id="27" dur="1" fill="hold">
                                          <p:stCondLst>
                                            <p:cond delay="449"/>
                                          </p:stCondLst>
                                        </p:cTn>
                                        <p:tgtEl>
                                          <p:spTgt spid="6"/>
                                        </p:tgtEl>
                                        <p:attrNameLst>
                                          <p:attrName>style.visibility</p:attrName>
                                        </p:attrNameLst>
                                      </p:cBhvr>
                                      <p:to>
                                        <p:strVal val="visible"/>
                                      </p:to>
                                    </p:set>
                                    <p:animMotion origin="layout" path="M 0 0.01111111 L 0 0 E" pathEditMode="relative">
                                      <p:cBhvr from="" to="">
                                        <p:cTn id="28" dur="450" fill="hold">
                                          <p:stCondLst>
                                            <p:cond delay="0"/>
                                          </p:stCondLst>
                                        </p:cTn>
                                        <p:tgtEl>
                                          <p:spTgt spid="6"/>
                                        </p:tgtEl>
                                        <p:attrNameLst>
                                          <p:attrName>ppt_x</p:attrName>
                                          <p:attrName>ppt_y</p:attrName>
                                        </p:attrNameLst>
                                      </p:cBhvr>
                                    </p:animMotion>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320"/>
                                        <p:tgtEl>
                                          <p:spTgt spid="7"/>
                                        </p:tgtEl>
                                      </p:cBhvr>
                                    </p:animEffect>
                                  </p:childTnLst>
                                </p:cTn>
                              </p:par>
                              <p:par>
                                <p:cTn id="34" presetID="0" presetClass="entr" presetSubtype="0" accel="20000" decel="30000" fill="hold" nodeType="withEffect">
                                  <p:stCondLst>
                                    <p:cond delay="0"/>
                                  </p:stCondLst>
                                  <p:childTnLst>
                                    <p:set>
                                      <p:cBhvr>
                                        <p:cTn id="35" dur="1" fill="hold">
                                          <p:stCondLst>
                                            <p:cond delay="449"/>
                                          </p:stCondLst>
                                        </p:cTn>
                                        <p:tgtEl>
                                          <p:spTgt spid="7"/>
                                        </p:tgtEl>
                                        <p:attrNameLst>
                                          <p:attrName>style.visibility</p:attrName>
                                        </p:attrNameLst>
                                      </p:cBhvr>
                                      <p:to>
                                        <p:strVal val="visible"/>
                                      </p:to>
                                    </p:set>
                                    <p:animMotion origin="layout" path="M 0 0.01111111 L 0 0 E" pathEditMode="relative">
                                      <p:cBhvr from="" to="">
                                        <p:cTn id="36" dur="450" fill="hold">
                                          <p:stCondLst>
                                            <p:cond delay="0"/>
                                          </p:stCondLst>
                                        </p:cTn>
                                        <p:tgtEl>
                                          <p:spTgt spid="7"/>
                                        </p:tgtEl>
                                        <p:attrNameLst>
                                          <p:attrName>ppt_x</p:attrName>
                                          <p:attrName>ppt_y</p:attrName>
                                        </p:attrNameLst>
                                      </p:cBhvr>
                                    </p:animMotion>
                                  </p:childTnLst>
                                </p:cTn>
                              </p:par>
                              <p:par>
                                <p:cTn id="37" presetID="10"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320"/>
                                        <p:tgtEl>
                                          <p:spTgt spid="8"/>
                                        </p:tgtEl>
                                      </p:cBhvr>
                                    </p:animEffect>
                                  </p:childTnLst>
                                </p:cTn>
                              </p:par>
                              <p:par>
                                <p:cTn id="40" presetID="0" presetClass="entr" presetSubtype="0" accel="20000" decel="30000" fill="hold" grpId="1" nodeType="withEffect">
                                  <p:stCondLst>
                                    <p:cond delay="0"/>
                                  </p:stCondLst>
                                  <p:childTnLst>
                                    <p:set>
                                      <p:cBhvr>
                                        <p:cTn id="41" dur="1" fill="hold">
                                          <p:stCondLst>
                                            <p:cond delay="449"/>
                                          </p:stCondLst>
                                        </p:cTn>
                                        <p:tgtEl>
                                          <p:spTgt spid="8"/>
                                        </p:tgtEl>
                                        <p:attrNameLst>
                                          <p:attrName>style.visibility</p:attrName>
                                        </p:attrNameLst>
                                      </p:cBhvr>
                                      <p:to>
                                        <p:strVal val="visible"/>
                                      </p:to>
                                    </p:set>
                                    <p:animMotion origin="layout" path="M 0 0.01111111 L 0 0 E" pathEditMode="relative">
                                      <p:cBhvr from="" to="">
                                        <p:cTn id="42" dur="450" fill="hold">
                                          <p:stCondLst>
                                            <p:cond delay="0"/>
                                          </p:stCondLst>
                                        </p:cTn>
                                        <p:tgtEl>
                                          <p:spTgt spid="8"/>
                                        </p:tgtEl>
                                        <p:attrNameLst>
                                          <p:attrName>ppt_x</p:attrName>
                                          <p:attrName>ppt_y</p:attrName>
                                        </p:attrNameLst>
                                      </p:cBhvr>
                                    </p:animMotion>
                                  </p:childTnLst>
                                </p:cTn>
                              </p:par>
                              <p:par>
                                <p:cTn id="43" presetID="10" presetClass="entr" presetSubtype="0" fill="hold"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320"/>
                                        <p:tgtEl>
                                          <p:spTgt spid="9"/>
                                        </p:tgtEl>
                                      </p:cBhvr>
                                    </p:animEffect>
                                  </p:childTnLst>
                                </p:cTn>
                              </p:par>
                              <p:par>
                                <p:cTn id="46" presetID="0" presetClass="entr" presetSubtype="0" accel="20000" decel="30000" fill="hold" nodeType="withEffect">
                                  <p:stCondLst>
                                    <p:cond delay="0"/>
                                  </p:stCondLst>
                                  <p:childTnLst>
                                    <p:set>
                                      <p:cBhvr>
                                        <p:cTn id="47" dur="1" fill="hold">
                                          <p:stCondLst>
                                            <p:cond delay="449"/>
                                          </p:stCondLst>
                                        </p:cTn>
                                        <p:tgtEl>
                                          <p:spTgt spid="9"/>
                                        </p:tgtEl>
                                        <p:attrNameLst>
                                          <p:attrName>style.visibility</p:attrName>
                                        </p:attrNameLst>
                                      </p:cBhvr>
                                      <p:to>
                                        <p:strVal val="visible"/>
                                      </p:to>
                                    </p:set>
                                    <p:animMotion origin="layout" path="M 0 0.01111111 L 0 0 E" pathEditMode="relative">
                                      <p:cBhvr from="" to="">
                                        <p:cTn id="48" dur="450" fill="hold">
                                          <p:stCondLst>
                                            <p:cond delay="0"/>
                                          </p:stCondLst>
                                        </p:cTn>
                                        <p:tgtEl>
                                          <p:spTgt spid="9"/>
                                        </p:tgtEl>
                                        <p:attrNameLst>
                                          <p:attrName>ppt_x</p:attrName>
                                          <p:attrName>ppt_y</p:attrName>
                                        </p:attrNameLst>
                                      </p:cBhvr>
                                    </p:animMotion>
                                  </p:childTnLst>
                                </p:cTn>
                              </p:par>
                              <p:par>
                                <p:cTn id="49" presetID="10"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320"/>
                                        <p:tgtEl>
                                          <p:spTgt spid="10"/>
                                        </p:tgtEl>
                                      </p:cBhvr>
                                    </p:animEffect>
                                  </p:childTnLst>
                                </p:cTn>
                              </p:par>
                              <p:par>
                                <p:cTn id="52" presetID="0" presetClass="entr" presetSubtype="0" accel="20000" decel="30000" fill="hold" grpId="1" nodeType="withEffect">
                                  <p:stCondLst>
                                    <p:cond delay="0"/>
                                  </p:stCondLst>
                                  <p:childTnLst>
                                    <p:set>
                                      <p:cBhvr>
                                        <p:cTn id="53" dur="1" fill="hold">
                                          <p:stCondLst>
                                            <p:cond delay="449"/>
                                          </p:stCondLst>
                                        </p:cTn>
                                        <p:tgtEl>
                                          <p:spTgt spid="10"/>
                                        </p:tgtEl>
                                        <p:attrNameLst>
                                          <p:attrName>style.visibility</p:attrName>
                                        </p:attrNameLst>
                                      </p:cBhvr>
                                      <p:to>
                                        <p:strVal val="visible"/>
                                      </p:to>
                                    </p:set>
                                    <p:animMotion origin="layout" path="M 0 0.01111111 L 0 0 E" pathEditMode="relative">
                                      <p:cBhvr from="" to="">
                                        <p:cTn id="54" dur="450" fill="hold">
                                          <p:stCondLst>
                                            <p:cond delay="0"/>
                                          </p:stCondLst>
                                        </p:cTn>
                                        <p:tgtEl>
                                          <p:spTgt spid="10"/>
                                        </p:tgtEl>
                                        <p:attrNameLst>
                                          <p:attrName>ppt_x</p:attrName>
                                          <p:attrName>ppt_y</p:attrName>
                                        </p:attrNameLst>
                                      </p:cBhvr>
                                    </p:animMotion>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320"/>
                                        <p:tgtEl>
                                          <p:spTgt spid="11"/>
                                        </p:tgtEl>
                                      </p:cBhvr>
                                    </p:animEffect>
                                  </p:childTnLst>
                                </p:cTn>
                              </p:par>
                              <p:par>
                                <p:cTn id="60" presetID="0" presetClass="entr" presetSubtype="0" accel="20000" decel="30000" fill="hold" nodeType="withEffect">
                                  <p:stCondLst>
                                    <p:cond delay="0"/>
                                  </p:stCondLst>
                                  <p:childTnLst>
                                    <p:set>
                                      <p:cBhvr>
                                        <p:cTn id="61" dur="1" fill="hold">
                                          <p:stCondLst>
                                            <p:cond delay="449"/>
                                          </p:stCondLst>
                                        </p:cTn>
                                        <p:tgtEl>
                                          <p:spTgt spid="11"/>
                                        </p:tgtEl>
                                        <p:attrNameLst>
                                          <p:attrName>style.visibility</p:attrName>
                                        </p:attrNameLst>
                                      </p:cBhvr>
                                      <p:to>
                                        <p:strVal val="visible"/>
                                      </p:to>
                                    </p:set>
                                    <p:animMotion origin="layout" path="M 0 0.01111111 L 0 0 E" pathEditMode="relative">
                                      <p:cBhvr from="" to="">
                                        <p:cTn id="62" dur="450" fill="hold">
                                          <p:stCondLst>
                                            <p:cond delay="0"/>
                                          </p:stCondLst>
                                        </p:cTn>
                                        <p:tgtEl>
                                          <p:spTgt spid="11"/>
                                        </p:tgtEl>
                                        <p:attrNameLst>
                                          <p:attrName>ppt_x</p:attrName>
                                          <p:attrName>ppt_y</p:attrName>
                                        </p:attrNameLst>
                                      </p:cBhvr>
                                    </p:animMotion>
                                  </p:childTnLst>
                                </p:cTn>
                              </p:par>
                              <p:par>
                                <p:cTn id="63" presetID="10" presetClass="entr" presetSubtype="0" fill="hold" nodeType="with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fade">
                                      <p:cBhvr>
                                        <p:cTn id="65" dur="320"/>
                                        <p:tgtEl>
                                          <p:spTgt spid="12"/>
                                        </p:tgtEl>
                                      </p:cBhvr>
                                    </p:animEffect>
                                  </p:childTnLst>
                                </p:cTn>
                              </p:par>
                              <p:par>
                                <p:cTn id="66" presetID="0" presetClass="entr" presetSubtype="0" accel="20000" decel="30000" fill="hold" nodeType="withEffect">
                                  <p:stCondLst>
                                    <p:cond delay="0"/>
                                  </p:stCondLst>
                                  <p:childTnLst>
                                    <p:set>
                                      <p:cBhvr>
                                        <p:cTn id="67" dur="1" fill="hold">
                                          <p:stCondLst>
                                            <p:cond delay="449"/>
                                          </p:stCondLst>
                                        </p:cTn>
                                        <p:tgtEl>
                                          <p:spTgt spid="12"/>
                                        </p:tgtEl>
                                        <p:attrNameLst>
                                          <p:attrName>style.visibility</p:attrName>
                                        </p:attrNameLst>
                                      </p:cBhvr>
                                      <p:to>
                                        <p:strVal val="visible"/>
                                      </p:to>
                                    </p:set>
                                    <p:animMotion origin="layout" path="M 0 0.01111111 L 0 0 E" pathEditMode="relative">
                                      <p:cBhvr from="" to="">
                                        <p:cTn id="68" dur="450" fill="hold">
                                          <p:stCondLst>
                                            <p:cond delay="0"/>
                                          </p:stCondLst>
                                        </p:cTn>
                                        <p:tgtEl>
                                          <p:spTgt spid="12"/>
                                        </p:tgtEl>
                                        <p:attrNameLst>
                                          <p:attrName>ppt_x</p:attrName>
                                          <p:attrName>ppt_y</p:attrName>
                                        </p:attrNameLst>
                                      </p:cBhvr>
                                    </p:animMotion>
                                  </p:childTnLst>
                                </p:cTn>
                              </p:par>
                              <p:par>
                                <p:cTn id="69" presetID="10" presetClass="entr" presetSubtype="0" fill="hold" grpId="0" nodeType="with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320"/>
                                        <p:tgtEl>
                                          <p:spTgt spid="13"/>
                                        </p:tgtEl>
                                      </p:cBhvr>
                                    </p:animEffect>
                                  </p:childTnLst>
                                </p:cTn>
                              </p:par>
                              <p:par>
                                <p:cTn id="72" presetID="0" presetClass="entr" presetSubtype="0" accel="20000" decel="30000" fill="hold" grpId="1" nodeType="withEffect">
                                  <p:stCondLst>
                                    <p:cond delay="0"/>
                                  </p:stCondLst>
                                  <p:childTnLst>
                                    <p:set>
                                      <p:cBhvr>
                                        <p:cTn id="73" dur="1" fill="hold">
                                          <p:stCondLst>
                                            <p:cond delay="449"/>
                                          </p:stCondLst>
                                        </p:cTn>
                                        <p:tgtEl>
                                          <p:spTgt spid="13"/>
                                        </p:tgtEl>
                                        <p:attrNameLst>
                                          <p:attrName>style.visibility</p:attrName>
                                        </p:attrNameLst>
                                      </p:cBhvr>
                                      <p:to>
                                        <p:strVal val="visible"/>
                                      </p:to>
                                    </p:set>
                                    <p:animMotion origin="layout" path="M 0 0.01111111 L 0 0 E" pathEditMode="relative">
                                      <p:cBhvr from="" to="">
                                        <p:cTn id="74" dur="450" fill="hold">
                                          <p:stCondLst>
                                            <p:cond delay="0"/>
                                          </p:stCondLst>
                                        </p:cTn>
                                        <p:tgtEl>
                                          <p:spTgt spid="13"/>
                                        </p:tgtEl>
                                        <p:attrNameLst>
                                          <p:attrName>ppt_x</p:attrName>
                                          <p:attrName>ppt_y</p:attrName>
                                        </p:attrNameLst>
                                      </p:cBhvr>
                                    </p:animMotion>
                                  </p:childTnLst>
                                </p:cTn>
                              </p:par>
                              <p:par>
                                <p:cTn id="75" presetID="10" presetClass="entr" presetSubtype="0" fill="hold" nodeType="with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320"/>
                                        <p:tgtEl>
                                          <p:spTgt spid="14"/>
                                        </p:tgtEl>
                                      </p:cBhvr>
                                    </p:animEffect>
                                  </p:childTnLst>
                                </p:cTn>
                              </p:par>
                              <p:par>
                                <p:cTn id="78" presetID="0" presetClass="entr" presetSubtype="0" accel="20000" decel="30000" fill="hold" nodeType="withEffect">
                                  <p:stCondLst>
                                    <p:cond delay="0"/>
                                  </p:stCondLst>
                                  <p:childTnLst>
                                    <p:set>
                                      <p:cBhvr>
                                        <p:cTn id="79" dur="1" fill="hold">
                                          <p:stCondLst>
                                            <p:cond delay="449"/>
                                          </p:stCondLst>
                                        </p:cTn>
                                        <p:tgtEl>
                                          <p:spTgt spid="14"/>
                                        </p:tgtEl>
                                        <p:attrNameLst>
                                          <p:attrName>style.visibility</p:attrName>
                                        </p:attrNameLst>
                                      </p:cBhvr>
                                      <p:to>
                                        <p:strVal val="visible"/>
                                      </p:to>
                                    </p:set>
                                    <p:animMotion origin="layout" path="M 0 0.01111111 L 0 0 E" pathEditMode="relative">
                                      <p:cBhvr from="" to="">
                                        <p:cTn id="80" dur="450" fill="hold">
                                          <p:stCondLst>
                                            <p:cond delay="0"/>
                                          </p:stCondLst>
                                        </p:cTn>
                                        <p:tgtEl>
                                          <p:spTgt spid="14"/>
                                        </p:tgtEl>
                                        <p:attrNameLst>
                                          <p:attrName>ppt_x</p:attrName>
                                          <p:attrName>ppt_y</p:attrName>
                                        </p:attrNameLst>
                                      </p:cBhvr>
                                    </p:animMotion>
                                  </p:childTnLst>
                                </p:cTn>
                              </p:par>
                              <p:par>
                                <p:cTn id="81" presetID="10" presetClass="entr" presetSubtype="0" fill="hold" grpId="0" nodeType="with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320"/>
                                        <p:tgtEl>
                                          <p:spTgt spid="15"/>
                                        </p:tgtEl>
                                      </p:cBhvr>
                                    </p:animEffect>
                                  </p:childTnLst>
                                </p:cTn>
                              </p:par>
                              <p:par>
                                <p:cTn id="84" presetID="0" presetClass="entr" presetSubtype="0" accel="20000" decel="30000" fill="hold" grpId="1" nodeType="withEffect">
                                  <p:stCondLst>
                                    <p:cond delay="0"/>
                                  </p:stCondLst>
                                  <p:childTnLst>
                                    <p:set>
                                      <p:cBhvr>
                                        <p:cTn id="85" dur="1" fill="hold">
                                          <p:stCondLst>
                                            <p:cond delay="449"/>
                                          </p:stCondLst>
                                        </p:cTn>
                                        <p:tgtEl>
                                          <p:spTgt spid="15"/>
                                        </p:tgtEl>
                                        <p:attrNameLst>
                                          <p:attrName>style.visibility</p:attrName>
                                        </p:attrNameLst>
                                      </p:cBhvr>
                                      <p:to>
                                        <p:strVal val="visible"/>
                                      </p:to>
                                    </p:set>
                                    <p:animMotion origin="layout" path="M 0 0.01111111 L 0 0 E" pathEditMode="relative">
                                      <p:cBhvr from="" to="">
                                        <p:cTn id="86" dur="450" fill="hold">
                                          <p:stCondLst>
                                            <p:cond delay="0"/>
                                          </p:stCondLst>
                                        </p:cTn>
                                        <p:tgtEl>
                                          <p:spTgt spid="15"/>
                                        </p:tgtEl>
                                        <p:attrNameLst>
                                          <p:attrName>ppt_x</p:attrName>
                                          <p:attrName>ppt_y</p:attrName>
                                        </p:attrNameLst>
                                      </p:cBhvr>
                                    </p:animMotion>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320"/>
                                        <p:tgtEl>
                                          <p:spTgt spid="16"/>
                                        </p:tgtEl>
                                      </p:cBhvr>
                                    </p:animEffect>
                                  </p:childTnLst>
                                </p:cTn>
                              </p:par>
                              <p:par>
                                <p:cTn id="92" presetID="0" presetClass="entr" presetSubtype="0" accel="20000" decel="30000" fill="hold" nodeType="withEffect">
                                  <p:stCondLst>
                                    <p:cond delay="0"/>
                                  </p:stCondLst>
                                  <p:childTnLst>
                                    <p:set>
                                      <p:cBhvr>
                                        <p:cTn id="93" dur="1" fill="hold">
                                          <p:stCondLst>
                                            <p:cond delay="449"/>
                                          </p:stCondLst>
                                        </p:cTn>
                                        <p:tgtEl>
                                          <p:spTgt spid="16"/>
                                        </p:tgtEl>
                                        <p:attrNameLst>
                                          <p:attrName>style.visibility</p:attrName>
                                        </p:attrNameLst>
                                      </p:cBhvr>
                                      <p:to>
                                        <p:strVal val="visible"/>
                                      </p:to>
                                    </p:set>
                                    <p:animMotion origin="layout" path="M 0 0.01111111 L 0 0 E" pathEditMode="relative">
                                      <p:cBhvr from="" to="">
                                        <p:cTn id="94" dur="450" fill="hold">
                                          <p:stCondLst>
                                            <p:cond delay="0"/>
                                          </p:stCondLst>
                                        </p:cTn>
                                        <p:tgtEl>
                                          <p:spTgt spid="16"/>
                                        </p:tgtEl>
                                        <p:attrNameLst>
                                          <p:attrName>ppt_x</p:attrName>
                                          <p:attrName>ppt_y</p:attrName>
                                        </p:attrNameLst>
                                      </p:cBhvr>
                                    </p:animMotion>
                                  </p:childTnLst>
                                </p:cTn>
                              </p:par>
                              <p:par>
                                <p:cTn id="95" presetID="10" presetClass="entr" presetSubtype="0" fill="hold" nodeType="withEffect">
                                  <p:stCondLst>
                                    <p:cond delay="0"/>
                                  </p:stCondLst>
                                  <p:childTnLst>
                                    <p:set>
                                      <p:cBhvr>
                                        <p:cTn id="96" dur="1" fill="hold">
                                          <p:stCondLst>
                                            <p:cond delay="0"/>
                                          </p:stCondLst>
                                        </p:cTn>
                                        <p:tgtEl>
                                          <p:spTgt spid="17"/>
                                        </p:tgtEl>
                                        <p:attrNameLst>
                                          <p:attrName>style.visibility</p:attrName>
                                        </p:attrNameLst>
                                      </p:cBhvr>
                                      <p:to>
                                        <p:strVal val="visible"/>
                                      </p:to>
                                    </p:set>
                                    <p:animEffect transition="in" filter="fade">
                                      <p:cBhvr>
                                        <p:cTn id="97" dur="320"/>
                                        <p:tgtEl>
                                          <p:spTgt spid="17"/>
                                        </p:tgtEl>
                                      </p:cBhvr>
                                    </p:animEffect>
                                  </p:childTnLst>
                                </p:cTn>
                              </p:par>
                              <p:par>
                                <p:cTn id="98" presetID="0" presetClass="entr" presetSubtype="0" accel="20000" decel="30000" fill="hold" nodeType="withEffect">
                                  <p:stCondLst>
                                    <p:cond delay="0"/>
                                  </p:stCondLst>
                                  <p:childTnLst>
                                    <p:set>
                                      <p:cBhvr>
                                        <p:cTn id="99" dur="1" fill="hold">
                                          <p:stCondLst>
                                            <p:cond delay="449"/>
                                          </p:stCondLst>
                                        </p:cTn>
                                        <p:tgtEl>
                                          <p:spTgt spid="17"/>
                                        </p:tgtEl>
                                        <p:attrNameLst>
                                          <p:attrName>style.visibility</p:attrName>
                                        </p:attrNameLst>
                                      </p:cBhvr>
                                      <p:to>
                                        <p:strVal val="visible"/>
                                      </p:to>
                                    </p:set>
                                    <p:animMotion origin="layout" path="M 0 0.01111111 L 0 0 E" pathEditMode="relative">
                                      <p:cBhvr from="" to="">
                                        <p:cTn id="100" dur="450" fill="hold">
                                          <p:stCondLst>
                                            <p:cond delay="0"/>
                                          </p:stCondLst>
                                        </p:cTn>
                                        <p:tgtEl>
                                          <p:spTgt spid="17"/>
                                        </p:tgtEl>
                                        <p:attrNameLst>
                                          <p:attrName>ppt_x</p:attrName>
                                          <p:attrName>ppt_y</p:attrName>
                                        </p:attrNameLst>
                                      </p:cBhvr>
                                    </p:animMotion>
                                  </p:childTnLst>
                                </p:cTn>
                              </p:par>
                              <p:par>
                                <p:cTn id="101" presetID="10" presetClass="entr" presetSubtype="0" fill="hold" nodeType="withEffect">
                                  <p:stCondLst>
                                    <p:cond delay="0"/>
                                  </p:stCondLst>
                                  <p:childTnLst>
                                    <p:set>
                                      <p:cBhvr>
                                        <p:cTn id="102" dur="1" fill="hold">
                                          <p:stCondLst>
                                            <p:cond delay="0"/>
                                          </p:stCondLst>
                                        </p:cTn>
                                        <p:tgtEl>
                                          <p:spTgt spid="18"/>
                                        </p:tgtEl>
                                        <p:attrNameLst>
                                          <p:attrName>style.visibility</p:attrName>
                                        </p:attrNameLst>
                                      </p:cBhvr>
                                      <p:to>
                                        <p:strVal val="visible"/>
                                      </p:to>
                                    </p:set>
                                    <p:animEffect transition="in" filter="fade">
                                      <p:cBhvr>
                                        <p:cTn id="103" dur="320"/>
                                        <p:tgtEl>
                                          <p:spTgt spid="18"/>
                                        </p:tgtEl>
                                      </p:cBhvr>
                                    </p:animEffect>
                                  </p:childTnLst>
                                </p:cTn>
                              </p:par>
                              <p:par>
                                <p:cTn id="104" presetID="0" presetClass="entr" presetSubtype="0" accel="20000" decel="30000" fill="hold" nodeType="withEffect">
                                  <p:stCondLst>
                                    <p:cond delay="0"/>
                                  </p:stCondLst>
                                  <p:childTnLst>
                                    <p:set>
                                      <p:cBhvr>
                                        <p:cTn id="105" dur="1" fill="hold">
                                          <p:stCondLst>
                                            <p:cond delay="449"/>
                                          </p:stCondLst>
                                        </p:cTn>
                                        <p:tgtEl>
                                          <p:spTgt spid="18"/>
                                        </p:tgtEl>
                                        <p:attrNameLst>
                                          <p:attrName>style.visibility</p:attrName>
                                        </p:attrNameLst>
                                      </p:cBhvr>
                                      <p:to>
                                        <p:strVal val="visible"/>
                                      </p:to>
                                    </p:set>
                                    <p:animMotion origin="layout" path="M 0 0.01111111 L 0 0 E" pathEditMode="relative">
                                      <p:cBhvr from="" to="">
                                        <p:cTn id="106" dur="450" fill="hold">
                                          <p:stCondLst>
                                            <p:cond delay="0"/>
                                          </p:stCondLst>
                                        </p:cTn>
                                        <p:tgtEl>
                                          <p:spTgt spid="18"/>
                                        </p:tgtEl>
                                        <p:attrNameLst>
                                          <p:attrName>ppt_x</p:attrName>
                                          <p:attrName>ppt_y</p:attrName>
                                        </p:attrNameLst>
                                      </p:cBhvr>
                                    </p:animMotion>
                                  </p:childTnLst>
                                </p:cTn>
                              </p:par>
                              <p:par>
                                <p:cTn id="107" presetID="10" presetClass="entr" presetSubtype="0" fill="hold" grpId="0" nodeType="with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fade">
                                      <p:cBhvr>
                                        <p:cTn id="109" dur="320"/>
                                        <p:tgtEl>
                                          <p:spTgt spid="19"/>
                                        </p:tgtEl>
                                      </p:cBhvr>
                                    </p:animEffect>
                                  </p:childTnLst>
                                </p:cTn>
                              </p:par>
                              <p:par>
                                <p:cTn id="110" presetID="0" presetClass="entr" presetSubtype="0" accel="20000" decel="30000" fill="hold" grpId="1" nodeType="withEffect">
                                  <p:stCondLst>
                                    <p:cond delay="0"/>
                                  </p:stCondLst>
                                  <p:childTnLst>
                                    <p:set>
                                      <p:cBhvr>
                                        <p:cTn id="111" dur="1" fill="hold">
                                          <p:stCondLst>
                                            <p:cond delay="449"/>
                                          </p:stCondLst>
                                        </p:cTn>
                                        <p:tgtEl>
                                          <p:spTgt spid="19"/>
                                        </p:tgtEl>
                                        <p:attrNameLst>
                                          <p:attrName>style.visibility</p:attrName>
                                        </p:attrNameLst>
                                      </p:cBhvr>
                                      <p:to>
                                        <p:strVal val="visible"/>
                                      </p:to>
                                    </p:set>
                                    <p:animMotion origin="layout" path="M 0 0.01111111 L 0 0 E" pathEditMode="relative">
                                      <p:cBhvr from="" to="">
                                        <p:cTn id="112" dur="450" fill="hold">
                                          <p:stCondLst>
                                            <p:cond delay="0"/>
                                          </p:stCondLst>
                                        </p:cTn>
                                        <p:tgtEl>
                                          <p:spTgt spid="19"/>
                                        </p:tgtEl>
                                        <p:attrNameLst>
                                          <p:attrName>ppt_x</p:attrName>
                                          <p:attrName>ppt_y</p:attrName>
                                        </p:attrNameLst>
                                      </p:cBhvr>
                                    </p:animMotion>
                                  </p:childTnLst>
                                </p:cTn>
                              </p:par>
                              <p:par>
                                <p:cTn id="113" presetID="10" presetClass="entr" presetSubtype="0" fill="hold" grpId="0" nodeType="withEffect">
                                  <p:stCondLst>
                                    <p:cond delay="0"/>
                                  </p:stCondLst>
                                  <p:childTnLst>
                                    <p:set>
                                      <p:cBhvr>
                                        <p:cTn id="114" dur="1" fill="hold">
                                          <p:stCondLst>
                                            <p:cond delay="0"/>
                                          </p:stCondLst>
                                        </p:cTn>
                                        <p:tgtEl>
                                          <p:spTgt spid="20"/>
                                        </p:tgtEl>
                                        <p:attrNameLst>
                                          <p:attrName>style.visibility</p:attrName>
                                        </p:attrNameLst>
                                      </p:cBhvr>
                                      <p:to>
                                        <p:strVal val="visible"/>
                                      </p:to>
                                    </p:set>
                                    <p:animEffect transition="in" filter="fade">
                                      <p:cBhvr>
                                        <p:cTn id="115" dur="320"/>
                                        <p:tgtEl>
                                          <p:spTgt spid="20"/>
                                        </p:tgtEl>
                                      </p:cBhvr>
                                    </p:animEffect>
                                  </p:childTnLst>
                                </p:cTn>
                              </p:par>
                              <p:par>
                                <p:cTn id="116" presetID="0" presetClass="entr" presetSubtype="0" accel="20000" decel="30000" fill="hold" grpId="1" nodeType="withEffect">
                                  <p:stCondLst>
                                    <p:cond delay="0"/>
                                  </p:stCondLst>
                                  <p:childTnLst>
                                    <p:set>
                                      <p:cBhvr>
                                        <p:cTn id="117" dur="1" fill="hold">
                                          <p:stCondLst>
                                            <p:cond delay="449"/>
                                          </p:stCondLst>
                                        </p:cTn>
                                        <p:tgtEl>
                                          <p:spTgt spid="20"/>
                                        </p:tgtEl>
                                        <p:attrNameLst>
                                          <p:attrName>style.visibility</p:attrName>
                                        </p:attrNameLst>
                                      </p:cBhvr>
                                      <p:to>
                                        <p:strVal val="visible"/>
                                      </p:to>
                                    </p:set>
                                    <p:animMotion origin="layout" path="M 0 0.01111111 L 0 0 E" pathEditMode="relative">
                                      <p:cBhvr from="" to="">
                                        <p:cTn id="118" dur="450" fill="hold">
                                          <p:stCondLst>
                                            <p:cond delay="0"/>
                                          </p:stCondLst>
                                        </p:cTn>
                                        <p:tgtEl>
                                          <p:spTgt spid="2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P spid="6" grpId="0"/>
      <p:bldP spid="6" grpId="1"/>
      <p:bldP spid="8" grpId="0"/>
      <p:bldP spid="8" grpId="1"/>
      <p:bldP spid="10" grpId="0"/>
      <p:bldP spid="10" grpId="1"/>
      <p:bldP spid="13" grpId="0"/>
      <p:bldP spid="13" grpId="1"/>
      <p:bldP spid="15" grpId="0"/>
      <p:bldP spid="15" grpId="1"/>
      <p:bldP spid="19" grpId="0"/>
      <p:bldP spid="19" grpId="1"/>
      <p:bldP spid="20" grpId="0"/>
      <p:bldP spid="20"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3" name="TextBox 3"/>
          <p:cNvSpPr txBox="1"/>
          <p:nvPr/>
        </p:nvSpPr>
        <p:spPr>
          <a:xfrm>
            <a:off x="717014" y="1006621"/>
            <a:ext cx="8665810" cy="789066"/>
          </a:xfrm>
          <a:prstGeom prst="rect">
            <a:avLst/>
          </a:prstGeom>
        </p:spPr>
        <p:txBody>
          <a:bodyPr lIns="0" tIns="0" rIns="0" bIns="0" rtlCol="0" anchor="t">
            <a:spAutoFit/>
          </a:bodyPr>
          <a:lstStyle/>
          <a:p>
            <a:pPr algn="l">
              <a:lnSpc>
                <a:spcPts val="5864"/>
              </a:lnSpc>
            </a:pPr>
            <a:r>
              <a:rPr lang="en-US" sz="6513" b="1">
                <a:solidFill>
                  <a:srgbClr val="1C3122"/>
                </a:solidFill>
                <a:latin typeface="Open Sauce Bold"/>
                <a:ea typeface="Open Sauce Bold"/>
                <a:cs typeface="Open Sauce Bold"/>
                <a:sym typeface="Open Sauce Bold"/>
              </a:rPr>
              <a:t>La réponse apportée</a:t>
            </a:r>
          </a:p>
        </p:txBody>
      </p:sp>
      <p:sp>
        <p:nvSpPr>
          <p:cNvPr id="4" name="Freeform 4"/>
          <p:cNvSpPr/>
          <p:nvPr/>
        </p:nvSpPr>
        <p:spPr>
          <a:xfrm>
            <a:off x="645330" y="2350377"/>
            <a:ext cx="2625072" cy="4088563"/>
          </a:xfrm>
          <a:custGeom>
            <a:avLst/>
            <a:gdLst/>
            <a:ahLst/>
            <a:cxnLst/>
            <a:rect l="l" t="t" r="r" b="b"/>
            <a:pathLst>
              <a:path w="2625072" h="4088563">
                <a:moveTo>
                  <a:pt x="0" y="0"/>
                </a:moveTo>
                <a:lnTo>
                  <a:pt x="2625072" y="0"/>
                </a:lnTo>
                <a:lnTo>
                  <a:pt x="2625072" y="4088563"/>
                </a:lnTo>
                <a:lnTo>
                  <a:pt x="0" y="4088563"/>
                </a:lnTo>
                <a:lnTo>
                  <a:pt x="0" y="0"/>
                </a:lnTo>
                <a:close/>
              </a:path>
            </a:pathLst>
          </a:custGeom>
          <a:blipFill>
            <a:blip r:embed="rId4"/>
            <a:stretch>
              <a:fillRect/>
            </a:stretch>
          </a:blipFill>
        </p:spPr>
      </p:sp>
      <p:sp>
        <p:nvSpPr>
          <p:cNvPr id="5" name="Freeform 5"/>
          <p:cNvSpPr/>
          <p:nvPr/>
        </p:nvSpPr>
        <p:spPr>
          <a:xfrm>
            <a:off x="1739110" y="2142670"/>
            <a:ext cx="656268" cy="644987"/>
          </a:xfrm>
          <a:custGeom>
            <a:avLst/>
            <a:gdLst/>
            <a:ahLst/>
            <a:cxnLst/>
            <a:rect l="l" t="t" r="r" b="b"/>
            <a:pathLst>
              <a:path w="656268" h="644987">
                <a:moveTo>
                  <a:pt x="0" y="0"/>
                </a:moveTo>
                <a:lnTo>
                  <a:pt x="656268" y="0"/>
                </a:lnTo>
                <a:lnTo>
                  <a:pt x="656268" y="644987"/>
                </a:lnTo>
                <a:lnTo>
                  <a:pt x="0" y="644987"/>
                </a:lnTo>
                <a:lnTo>
                  <a:pt x="0" y="0"/>
                </a:lnTo>
                <a:close/>
              </a:path>
            </a:pathLst>
          </a:custGeom>
          <a:blipFill>
            <a:blip r:embed="rId5"/>
            <a:stretch>
              <a:fillRect/>
            </a:stretch>
          </a:blipFill>
        </p:spPr>
      </p:sp>
      <p:sp>
        <p:nvSpPr>
          <p:cNvPr id="6" name="TextBox 6"/>
          <p:cNvSpPr txBox="1"/>
          <p:nvPr/>
        </p:nvSpPr>
        <p:spPr>
          <a:xfrm>
            <a:off x="1098352" y="3501294"/>
            <a:ext cx="1875234" cy="607055"/>
          </a:xfrm>
          <a:prstGeom prst="rect">
            <a:avLst/>
          </a:prstGeom>
        </p:spPr>
        <p:txBody>
          <a:bodyPr lIns="0" tIns="0" rIns="0" bIns="0" rtlCol="0" anchor="t">
            <a:spAutoFit/>
          </a:bodyPr>
          <a:lstStyle/>
          <a:p>
            <a:pPr algn="ctr">
              <a:lnSpc>
                <a:spcPts val="2479"/>
              </a:lnSpc>
            </a:pPr>
            <a:r>
              <a:rPr lang="en-US" sz="2254" b="1" spc="-45">
                <a:solidFill>
                  <a:srgbClr val="3B4C3E"/>
                </a:solidFill>
                <a:latin typeface="Open Sauce Bold"/>
                <a:ea typeface="Open Sauce Bold"/>
                <a:cs typeface="Open Sauce Bold"/>
                <a:sym typeface="Open Sauce Bold"/>
              </a:rPr>
              <a:t>Requête</a:t>
            </a:r>
          </a:p>
          <a:p>
            <a:pPr algn="ctr">
              <a:lnSpc>
                <a:spcPts val="2479"/>
              </a:lnSpc>
            </a:pPr>
            <a:r>
              <a:rPr lang="en-US" sz="2254" b="1" spc="-45">
                <a:solidFill>
                  <a:srgbClr val="3B4C3E"/>
                </a:solidFill>
                <a:latin typeface="Open Sauce Bold"/>
                <a:ea typeface="Open Sauce Bold"/>
                <a:cs typeface="Open Sauce Bold"/>
                <a:sym typeface="Open Sauce Bold"/>
              </a:rPr>
              <a:t>reçue</a:t>
            </a:r>
          </a:p>
        </p:txBody>
      </p:sp>
      <p:sp>
        <p:nvSpPr>
          <p:cNvPr id="7" name="TextBox 7"/>
          <p:cNvSpPr txBox="1"/>
          <p:nvPr/>
        </p:nvSpPr>
        <p:spPr>
          <a:xfrm>
            <a:off x="1080562" y="4887800"/>
            <a:ext cx="1778963" cy="843384"/>
          </a:xfrm>
          <a:prstGeom prst="rect">
            <a:avLst/>
          </a:prstGeom>
        </p:spPr>
        <p:txBody>
          <a:bodyPr lIns="0" tIns="0" rIns="0" bIns="0" rtlCol="0" anchor="t">
            <a:spAutoFit/>
          </a:bodyPr>
          <a:lstStyle/>
          <a:p>
            <a:pPr algn="l">
              <a:lnSpc>
                <a:spcPts val="2353"/>
              </a:lnSpc>
            </a:pPr>
            <a:r>
              <a:rPr lang="en-US" sz="1810" b="1" spc="-72">
                <a:solidFill>
                  <a:srgbClr val="3B3B3B"/>
                </a:solidFill>
                <a:latin typeface="Open Sauce Medium"/>
                <a:ea typeface="Open Sauce Medium"/>
                <a:cs typeface="Open Sauce Medium"/>
                <a:sym typeface="Open Sauce Medium"/>
              </a:rPr>
              <a:t>Les données HTTP arrivent via les formulaires.</a:t>
            </a:r>
          </a:p>
        </p:txBody>
      </p:sp>
      <p:sp>
        <p:nvSpPr>
          <p:cNvPr id="8" name="Freeform 8">
            <a:hlinkClick r:id="rId6" action="ppaction://hlinksldjump" tooltip="Voir le blocage par les règles" highlightClick="1"/>
          </p:cNvPr>
          <p:cNvSpPr/>
          <p:nvPr/>
        </p:nvSpPr>
        <p:spPr>
          <a:xfrm>
            <a:off x="3259464" y="3640352"/>
            <a:ext cx="667206" cy="437279"/>
          </a:xfrm>
          <a:custGeom>
            <a:avLst/>
            <a:gdLst/>
            <a:ahLst/>
            <a:cxnLst/>
            <a:rect l="l" t="t" r="r" b="b"/>
            <a:pathLst>
              <a:path w="667206" h="437279">
                <a:moveTo>
                  <a:pt x="0" y="0"/>
                </a:moveTo>
                <a:lnTo>
                  <a:pt x="667206" y="0"/>
                </a:lnTo>
                <a:lnTo>
                  <a:pt x="667206" y="437279"/>
                </a:lnTo>
                <a:lnTo>
                  <a:pt x="0" y="437279"/>
                </a:lnTo>
                <a:lnTo>
                  <a:pt x="0" y="0"/>
                </a:lnTo>
                <a:close/>
              </a:path>
            </a:pathLst>
          </a:custGeom>
          <a:blipFill>
            <a:blip r:embed="rId7"/>
            <a:stretch>
              <a:fillRect/>
            </a:stretch>
          </a:blipFill>
        </p:spPr>
      </p:sp>
      <p:sp>
        <p:nvSpPr>
          <p:cNvPr id="9" name="Freeform 9">
            <a:hlinkClick r:id="rId6" action="ppaction://hlinksldjump" tooltip="Voir le blocage par les règles" highlightClick="1"/>
          </p:cNvPr>
          <p:cNvSpPr/>
          <p:nvPr/>
        </p:nvSpPr>
        <p:spPr>
          <a:xfrm>
            <a:off x="3915732" y="2350377"/>
            <a:ext cx="2843828" cy="4088563"/>
          </a:xfrm>
          <a:custGeom>
            <a:avLst/>
            <a:gdLst/>
            <a:ahLst/>
            <a:cxnLst/>
            <a:rect l="l" t="t" r="r" b="b"/>
            <a:pathLst>
              <a:path w="2843828" h="4088563">
                <a:moveTo>
                  <a:pt x="0" y="0"/>
                </a:moveTo>
                <a:lnTo>
                  <a:pt x="2843828" y="0"/>
                </a:lnTo>
                <a:lnTo>
                  <a:pt x="2843828" y="4088563"/>
                </a:lnTo>
                <a:lnTo>
                  <a:pt x="0" y="4088563"/>
                </a:lnTo>
                <a:lnTo>
                  <a:pt x="0" y="0"/>
                </a:lnTo>
                <a:close/>
              </a:path>
            </a:pathLst>
          </a:custGeom>
          <a:blipFill>
            <a:blip r:embed="rId8"/>
            <a:stretch>
              <a:fillRect/>
            </a:stretch>
          </a:blipFill>
        </p:spPr>
      </p:sp>
      <p:sp>
        <p:nvSpPr>
          <p:cNvPr id="10" name="Freeform 10">
            <a:hlinkClick r:id="rId6" action="ppaction://hlinksldjump" tooltip="Voir le blocage par les règles" highlightClick="1"/>
          </p:cNvPr>
          <p:cNvSpPr/>
          <p:nvPr/>
        </p:nvSpPr>
        <p:spPr>
          <a:xfrm>
            <a:off x="4998574" y="2142670"/>
            <a:ext cx="667206" cy="644987"/>
          </a:xfrm>
          <a:custGeom>
            <a:avLst/>
            <a:gdLst/>
            <a:ahLst/>
            <a:cxnLst/>
            <a:rect l="l" t="t" r="r" b="b"/>
            <a:pathLst>
              <a:path w="667206" h="644987">
                <a:moveTo>
                  <a:pt x="0" y="0"/>
                </a:moveTo>
                <a:lnTo>
                  <a:pt x="667206" y="0"/>
                </a:lnTo>
                <a:lnTo>
                  <a:pt x="667206" y="644987"/>
                </a:lnTo>
                <a:lnTo>
                  <a:pt x="0" y="644987"/>
                </a:lnTo>
                <a:lnTo>
                  <a:pt x="0" y="0"/>
                </a:lnTo>
                <a:close/>
              </a:path>
            </a:pathLst>
          </a:custGeom>
          <a:blipFill>
            <a:blip r:embed="rId9"/>
            <a:stretch>
              <a:fillRect/>
            </a:stretch>
          </a:blipFill>
        </p:spPr>
      </p:sp>
      <p:sp>
        <p:nvSpPr>
          <p:cNvPr id="11" name="Freeform 11">
            <a:hlinkClick r:id="rId6" action="ppaction://hlinksldjump" tooltip="Voir le blocage par les règles" highlightClick="1"/>
          </p:cNvPr>
          <p:cNvSpPr/>
          <p:nvPr/>
        </p:nvSpPr>
        <p:spPr>
          <a:xfrm>
            <a:off x="4779818" y="2995365"/>
            <a:ext cx="1104718" cy="1082267"/>
          </a:xfrm>
          <a:custGeom>
            <a:avLst/>
            <a:gdLst/>
            <a:ahLst/>
            <a:cxnLst/>
            <a:rect l="l" t="t" r="r" b="b"/>
            <a:pathLst>
              <a:path w="1104718" h="1082267">
                <a:moveTo>
                  <a:pt x="0" y="0"/>
                </a:moveTo>
                <a:lnTo>
                  <a:pt x="1104718" y="0"/>
                </a:lnTo>
                <a:lnTo>
                  <a:pt x="1104718" y="1082266"/>
                </a:lnTo>
                <a:lnTo>
                  <a:pt x="0" y="1082266"/>
                </a:lnTo>
                <a:lnTo>
                  <a:pt x="0" y="0"/>
                </a:lnTo>
                <a:close/>
              </a:path>
            </a:pathLst>
          </a:custGeom>
          <a:blipFill>
            <a:blip r:embed="rId10"/>
            <a:stretch>
              <a:fillRect/>
            </a:stretch>
          </a:blipFill>
        </p:spPr>
      </p:sp>
      <p:sp>
        <p:nvSpPr>
          <p:cNvPr id="12" name="TextBox 12">
            <a:hlinkClick r:id="rId6" action="ppaction://hlinksldjump" tooltip="Voir le blocage par les règles" highlightClick="1"/>
          </p:cNvPr>
          <p:cNvSpPr txBox="1"/>
          <p:nvPr/>
        </p:nvSpPr>
        <p:spPr>
          <a:xfrm>
            <a:off x="4339828" y="4209154"/>
            <a:ext cx="2009180" cy="607055"/>
          </a:xfrm>
          <a:prstGeom prst="rect">
            <a:avLst/>
          </a:prstGeom>
        </p:spPr>
        <p:txBody>
          <a:bodyPr lIns="0" tIns="0" rIns="0" bIns="0" rtlCol="0" anchor="t">
            <a:spAutoFit/>
          </a:bodyPr>
          <a:lstStyle/>
          <a:p>
            <a:pPr algn="ctr">
              <a:lnSpc>
                <a:spcPts val="2479"/>
              </a:lnSpc>
            </a:pPr>
            <a:r>
              <a:rPr lang="en-US" sz="2254" b="1" spc="-45">
                <a:solidFill>
                  <a:srgbClr val="3B4C3E"/>
                </a:solidFill>
                <a:latin typeface="Open Sauce Bold"/>
                <a:ea typeface="Open Sauce Bold"/>
                <a:cs typeface="Open Sauce Bold"/>
                <a:sym typeface="Open Sauce Bold"/>
              </a:rPr>
              <a:t>Règles déterministes</a:t>
            </a:r>
          </a:p>
        </p:txBody>
      </p:sp>
      <p:sp>
        <p:nvSpPr>
          <p:cNvPr id="13" name="TextBox 13">
            <a:hlinkClick r:id="rId6" action="ppaction://hlinksldjump" tooltip="Voir le blocage par les règles" highlightClick="1"/>
          </p:cNvPr>
          <p:cNvSpPr txBox="1"/>
          <p:nvPr/>
        </p:nvSpPr>
        <p:spPr>
          <a:xfrm>
            <a:off x="4320947" y="5141340"/>
            <a:ext cx="1888151" cy="748482"/>
          </a:xfrm>
          <a:prstGeom prst="rect">
            <a:avLst/>
          </a:prstGeom>
        </p:spPr>
        <p:txBody>
          <a:bodyPr lIns="0" tIns="0" rIns="0" bIns="0" rtlCol="0" anchor="t">
            <a:spAutoFit/>
          </a:bodyPr>
          <a:lstStyle/>
          <a:p>
            <a:pPr algn="l">
              <a:lnSpc>
                <a:spcPts val="2079"/>
              </a:lnSpc>
            </a:pPr>
            <a:r>
              <a:rPr lang="en-US" sz="1599" b="1" spc="-64">
                <a:solidFill>
                  <a:srgbClr val="3B3B3B"/>
                </a:solidFill>
                <a:latin typeface="Open Sauce Medium"/>
                <a:ea typeface="Open Sauce Medium"/>
                <a:cs typeface="Open Sauce Medium"/>
                <a:sym typeface="Open Sauce Medium"/>
              </a:rPr>
              <a:t>Détection des cas connus et des attaques courantes.</a:t>
            </a:r>
          </a:p>
        </p:txBody>
      </p:sp>
      <p:sp>
        <p:nvSpPr>
          <p:cNvPr id="14" name="Freeform 14">
            <a:hlinkClick r:id="rId11" action="ppaction://hlinksldjump" tooltip="Voir les deux issues conditionnelles du MLP" highlightClick="1"/>
          </p:cNvPr>
          <p:cNvSpPr/>
          <p:nvPr/>
        </p:nvSpPr>
        <p:spPr>
          <a:xfrm>
            <a:off x="6529866" y="3640352"/>
            <a:ext cx="875024" cy="437279"/>
          </a:xfrm>
          <a:custGeom>
            <a:avLst/>
            <a:gdLst/>
            <a:ahLst/>
            <a:cxnLst/>
            <a:rect l="l" t="t" r="r" b="b"/>
            <a:pathLst>
              <a:path w="875024" h="437279">
                <a:moveTo>
                  <a:pt x="0" y="0"/>
                </a:moveTo>
                <a:lnTo>
                  <a:pt x="875024" y="0"/>
                </a:lnTo>
                <a:lnTo>
                  <a:pt x="875024" y="437279"/>
                </a:lnTo>
                <a:lnTo>
                  <a:pt x="0" y="437279"/>
                </a:lnTo>
                <a:lnTo>
                  <a:pt x="0" y="0"/>
                </a:lnTo>
                <a:close/>
              </a:path>
            </a:pathLst>
          </a:custGeom>
          <a:blipFill>
            <a:blip r:embed="rId12"/>
            <a:stretch>
              <a:fillRect/>
            </a:stretch>
          </a:blipFill>
        </p:spPr>
      </p:sp>
      <p:sp>
        <p:nvSpPr>
          <p:cNvPr id="15" name="Freeform 15">
            <a:hlinkClick r:id="rId11" action="ppaction://hlinksldjump" tooltip="Voir les deux issues conditionnelles du MLP" highlightClick="1"/>
          </p:cNvPr>
          <p:cNvSpPr/>
          <p:nvPr/>
        </p:nvSpPr>
        <p:spPr>
          <a:xfrm>
            <a:off x="7175196" y="2350377"/>
            <a:ext cx="3062584" cy="4088563"/>
          </a:xfrm>
          <a:custGeom>
            <a:avLst/>
            <a:gdLst/>
            <a:ahLst/>
            <a:cxnLst/>
            <a:rect l="l" t="t" r="r" b="b"/>
            <a:pathLst>
              <a:path w="3062584" h="4088563">
                <a:moveTo>
                  <a:pt x="0" y="0"/>
                </a:moveTo>
                <a:lnTo>
                  <a:pt x="3062584" y="0"/>
                </a:lnTo>
                <a:lnTo>
                  <a:pt x="3062584" y="4088563"/>
                </a:lnTo>
                <a:lnTo>
                  <a:pt x="0" y="4088563"/>
                </a:lnTo>
                <a:lnTo>
                  <a:pt x="0" y="0"/>
                </a:lnTo>
                <a:close/>
              </a:path>
            </a:pathLst>
          </a:custGeom>
          <a:blipFill>
            <a:blip r:embed="rId13"/>
            <a:stretch>
              <a:fillRect/>
            </a:stretch>
          </a:blipFill>
        </p:spPr>
      </p:sp>
      <p:sp>
        <p:nvSpPr>
          <p:cNvPr id="16" name="Freeform 16">
            <a:hlinkClick r:id="rId11" action="ppaction://hlinksldjump" tooltip="Voir les deux issues conditionnelles du MLP" highlightClick="1"/>
          </p:cNvPr>
          <p:cNvSpPr/>
          <p:nvPr/>
        </p:nvSpPr>
        <p:spPr>
          <a:xfrm>
            <a:off x="8487732" y="2142670"/>
            <a:ext cx="656268" cy="644987"/>
          </a:xfrm>
          <a:custGeom>
            <a:avLst/>
            <a:gdLst/>
            <a:ahLst/>
            <a:cxnLst/>
            <a:rect l="l" t="t" r="r" b="b"/>
            <a:pathLst>
              <a:path w="656268" h="644987">
                <a:moveTo>
                  <a:pt x="0" y="0"/>
                </a:moveTo>
                <a:lnTo>
                  <a:pt x="656268" y="0"/>
                </a:lnTo>
                <a:lnTo>
                  <a:pt x="656268" y="644987"/>
                </a:lnTo>
                <a:lnTo>
                  <a:pt x="0" y="644987"/>
                </a:lnTo>
                <a:lnTo>
                  <a:pt x="0" y="0"/>
                </a:lnTo>
                <a:close/>
              </a:path>
            </a:pathLst>
          </a:custGeom>
          <a:blipFill>
            <a:blip r:embed="rId14"/>
            <a:stretch>
              <a:fillRect/>
            </a:stretch>
          </a:blipFill>
        </p:spPr>
      </p:sp>
      <p:sp>
        <p:nvSpPr>
          <p:cNvPr id="17" name="Freeform 17">
            <a:hlinkClick r:id="rId11" action="ppaction://hlinksldjump" tooltip="Voir les deux issues conditionnelles du MLP" highlightClick="1"/>
          </p:cNvPr>
          <p:cNvSpPr/>
          <p:nvPr/>
        </p:nvSpPr>
        <p:spPr>
          <a:xfrm>
            <a:off x="8268976" y="2995365"/>
            <a:ext cx="1093780" cy="1082267"/>
          </a:xfrm>
          <a:custGeom>
            <a:avLst/>
            <a:gdLst/>
            <a:ahLst/>
            <a:cxnLst/>
            <a:rect l="l" t="t" r="r" b="b"/>
            <a:pathLst>
              <a:path w="1093780" h="1082267">
                <a:moveTo>
                  <a:pt x="0" y="0"/>
                </a:moveTo>
                <a:lnTo>
                  <a:pt x="1093780" y="0"/>
                </a:lnTo>
                <a:lnTo>
                  <a:pt x="1093780" y="1082266"/>
                </a:lnTo>
                <a:lnTo>
                  <a:pt x="0" y="1082266"/>
                </a:lnTo>
                <a:lnTo>
                  <a:pt x="0" y="0"/>
                </a:lnTo>
                <a:close/>
              </a:path>
            </a:pathLst>
          </a:custGeom>
          <a:blipFill>
            <a:blip r:embed="rId15"/>
            <a:stretch>
              <a:fillRect/>
            </a:stretch>
          </a:blipFill>
        </p:spPr>
      </p:sp>
      <p:sp>
        <p:nvSpPr>
          <p:cNvPr id="18" name="TextBox 18">
            <a:hlinkClick r:id="rId11" action="ppaction://hlinksldjump" tooltip="Voir les deux issues conditionnelles du MLP" highlightClick="1"/>
          </p:cNvPr>
          <p:cNvSpPr txBox="1"/>
          <p:nvPr/>
        </p:nvSpPr>
        <p:spPr>
          <a:xfrm>
            <a:off x="7715250" y="4360878"/>
            <a:ext cx="2062758" cy="303607"/>
          </a:xfrm>
          <a:prstGeom prst="rect">
            <a:avLst/>
          </a:prstGeom>
        </p:spPr>
        <p:txBody>
          <a:bodyPr lIns="0" tIns="0" rIns="0" bIns="0" rtlCol="0" anchor="t">
            <a:spAutoFit/>
          </a:bodyPr>
          <a:lstStyle/>
          <a:p>
            <a:pPr algn="ctr">
              <a:lnSpc>
                <a:spcPts val="2479"/>
              </a:lnSpc>
            </a:pPr>
            <a:r>
              <a:rPr lang="en-US" sz="2254" b="1" spc="-45">
                <a:solidFill>
                  <a:srgbClr val="3B4C3E"/>
                </a:solidFill>
                <a:latin typeface="Open Sauce Bold"/>
                <a:ea typeface="Open Sauce Bold"/>
                <a:cs typeface="Open Sauce Bold"/>
                <a:sym typeface="Open Sauce Bold"/>
              </a:rPr>
              <a:t>MLP en Python</a:t>
            </a:r>
          </a:p>
        </p:txBody>
      </p:sp>
      <p:sp>
        <p:nvSpPr>
          <p:cNvPr id="19" name="TextBox 19">
            <a:hlinkClick r:id="rId11" action="ppaction://hlinksldjump" tooltip="Voir les deux issues conditionnelles du MLP" highlightClick="1"/>
          </p:cNvPr>
          <p:cNvSpPr txBox="1"/>
          <p:nvPr/>
        </p:nvSpPr>
        <p:spPr>
          <a:xfrm>
            <a:off x="7699019" y="5069717"/>
            <a:ext cx="1623106" cy="801363"/>
          </a:xfrm>
          <a:prstGeom prst="rect">
            <a:avLst/>
          </a:prstGeom>
        </p:spPr>
        <p:txBody>
          <a:bodyPr lIns="0" tIns="0" rIns="0" bIns="0" rtlCol="0" anchor="t">
            <a:spAutoFit/>
          </a:bodyPr>
          <a:lstStyle/>
          <a:p>
            <a:pPr algn="l">
              <a:lnSpc>
                <a:spcPts val="2147"/>
              </a:lnSpc>
            </a:pPr>
            <a:r>
              <a:rPr lang="fr-FR" sz="1652" b="1" spc="-66">
                <a:solidFill>
                  <a:srgbClr val="3B3B3B"/>
                </a:solidFill>
                <a:latin typeface="Open Sauce Medium"/>
                <a:ea typeface="Open Sauce Medium"/>
                <a:cs typeface="Open Sauce Medium"/>
                <a:sym typeface="Open Sauce Medium"/>
              </a:rPr>
              <a:t>Analyse locale ciblée de certains cas.</a:t>
            </a:r>
            <a:endParaRPr lang="en-US" sz="1652" b="1" spc="-66">
              <a:solidFill>
                <a:srgbClr val="3B3B3B"/>
              </a:solidFill>
              <a:latin typeface="Open Sauce Medium"/>
              <a:ea typeface="Open Sauce Medium"/>
              <a:cs typeface="Open Sauce Medium"/>
              <a:sym typeface="Open Sauce Medium"/>
            </a:endParaRPr>
          </a:p>
        </p:txBody>
      </p:sp>
      <p:sp>
        <p:nvSpPr>
          <p:cNvPr id="20" name="Freeform 20"/>
          <p:cNvSpPr/>
          <p:nvPr/>
        </p:nvSpPr>
        <p:spPr>
          <a:xfrm>
            <a:off x="10008086" y="3640352"/>
            <a:ext cx="885962" cy="437279"/>
          </a:xfrm>
          <a:custGeom>
            <a:avLst/>
            <a:gdLst/>
            <a:ahLst/>
            <a:cxnLst/>
            <a:rect l="l" t="t" r="r" b="b"/>
            <a:pathLst>
              <a:path w="885962" h="437279">
                <a:moveTo>
                  <a:pt x="0" y="0"/>
                </a:moveTo>
                <a:lnTo>
                  <a:pt x="885962" y="0"/>
                </a:lnTo>
                <a:lnTo>
                  <a:pt x="885962" y="437279"/>
                </a:lnTo>
                <a:lnTo>
                  <a:pt x="0" y="437279"/>
                </a:lnTo>
                <a:lnTo>
                  <a:pt x="0" y="0"/>
                </a:lnTo>
                <a:close/>
              </a:path>
            </a:pathLst>
          </a:custGeom>
          <a:blipFill>
            <a:blip r:embed="rId16"/>
            <a:stretch>
              <a:fillRect/>
            </a:stretch>
          </a:blipFill>
        </p:spPr>
      </p:sp>
      <p:sp>
        <p:nvSpPr>
          <p:cNvPr id="21" name="Freeform 21"/>
          <p:cNvSpPr/>
          <p:nvPr/>
        </p:nvSpPr>
        <p:spPr>
          <a:xfrm>
            <a:off x="10664354" y="2350377"/>
            <a:ext cx="2843828" cy="4088563"/>
          </a:xfrm>
          <a:custGeom>
            <a:avLst/>
            <a:gdLst/>
            <a:ahLst/>
            <a:cxnLst/>
            <a:rect l="l" t="t" r="r" b="b"/>
            <a:pathLst>
              <a:path w="2843828" h="4088563">
                <a:moveTo>
                  <a:pt x="0" y="0"/>
                </a:moveTo>
                <a:lnTo>
                  <a:pt x="2843828" y="0"/>
                </a:lnTo>
                <a:lnTo>
                  <a:pt x="2843828" y="4088563"/>
                </a:lnTo>
                <a:lnTo>
                  <a:pt x="0" y="4088563"/>
                </a:lnTo>
                <a:lnTo>
                  <a:pt x="0" y="0"/>
                </a:lnTo>
                <a:close/>
              </a:path>
            </a:pathLst>
          </a:custGeom>
          <a:blipFill>
            <a:blip r:embed="rId17"/>
            <a:stretch>
              <a:fillRect/>
            </a:stretch>
          </a:blipFill>
        </p:spPr>
      </p:sp>
      <p:sp>
        <p:nvSpPr>
          <p:cNvPr id="22" name="Freeform 22"/>
          <p:cNvSpPr/>
          <p:nvPr/>
        </p:nvSpPr>
        <p:spPr>
          <a:xfrm>
            <a:off x="11747196" y="2142670"/>
            <a:ext cx="885962" cy="644987"/>
          </a:xfrm>
          <a:custGeom>
            <a:avLst/>
            <a:gdLst/>
            <a:ahLst/>
            <a:cxnLst/>
            <a:rect l="l" t="t" r="r" b="b"/>
            <a:pathLst>
              <a:path w="885962" h="644987">
                <a:moveTo>
                  <a:pt x="0" y="0"/>
                </a:moveTo>
                <a:lnTo>
                  <a:pt x="885962" y="0"/>
                </a:lnTo>
                <a:lnTo>
                  <a:pt x="885962" y="644987"/>
                </a:lnTo>
                <a:lnTo>
                  <a:pt x="0" y="644987"/>
                </a:lnTo>
                <a:lnTo>
                  <a:pt x="0" y="0"/>
                </a:lnTo>
                <a:close/>
              </a:path>
            </a:pathLst>
          </a:custGeom>
          <a:blipFill>
            <a:blip r:embed="rId18"/>
            <a:stretch>
              <a:fillRect/>
            </a:stretch>
          </a:blipFill>
        </p:spPr>
      </p:sp>
      <p:sp>
        <p:nvSpPr>
          <p:cNvPr id="23" name="Freeform 23"/>
          <p:cNvSpPr/>
          <p:nvPr/>
        </p:nvSpPr>
        <p:spPr>
          <a:xfrm>
            <a:off x="11747196" y="2995365"/>
            <a:ext cx="885962" cy="1082267"/>
          </a:xfrm>
          <a:custGeom>
            <a:avLst/>
            <a:gdLst/>
            <a:ahLst/>
            <a:cxnLst/>
            <a:rect l="l" t="t" r="r" b="b"/>
            <a:pathLst>
              <a:path w="885962" h="1082267">
                <a:moveTo>
                  <a:pt x="0" y="0"/>
                </a:moveTo>
                <a:lnTo>
                  <a:pt x="885962" y="0"/>
                </a:lnTo>
                <a:lnTo>
                  <a:pt x="885962" y="1082266"/>
                </a:lnTo>
                <a:lnTo>
                  <a:pt x="0" y="1082266"/>
                </a:lnTo>
                <a:lnTo>
                  <a:pt x="0" y="0"/>
                </a:lnTo>
                <a:close/>
              </a:path>
            </a:pathLst>
          </a:custGeom>
          <a:blipFill>
            <a:blip r:embed="rId19"/>
            <a:stretch>
              <a:fillRect/>
            </a:stretch>
          </a:blipFill>
        </p:spPr>
      </p:sp>
      <p:sp>
        <p:nvSpPr>
          <p:cNvPr id="24" name="TextBox 24"/>
          <p:cNvSpPr txBox="1"/>
          <p:nvPr/>
        </p:nvSpPr>
        <p:spPr>
          <a:xfrm>
            <a:off x="11171039" y="4209154"/>
            <a:ext cx="2009180" cy="607055"/>
          </a:xfrm>
          <a:prstGeom prst="rect">
            <a:avLst/>
          </a:prstGeom>
        </p:spPr>
        <p:txBody>
          <a:bodyPr lIns="0" tIns="0" rIns="0" bIns="0" rtlCol="0" anchor="t">
            <a:spAutoFit/>
          </a:bodyPr>
          <a:lstStyle/>
          <a:p>
            <a:pPr algn="ctr">
              <a:lnSpc>
                <a:spcPts val="2479"/>
              </a:lnSpc>
            </a:pPr>
            <a:r>
              <a:rPr lang="en-US" sz="2254" b="1" spc="-45">
                <a:solidFill>
                  <a:srgbClr val="3B4C3E"/>
                </a:solidFill>
                <a:latin typeface="Open Sauce Bold"/>
                <a:ea typeface="Open Sauce Bold"/>
                <a:cs typeface="Open Sauce Bold"/>
                <a:sym typeface="Open Sauce Bold"/>
              </a:rPr>
              <a:t>Application</a:t>
            </a:r>
          </a:p>
          <a:p>
            <a:pPr algn="ctr">
              <a:lnSpc>
                <a:spcPts val="2479"/>
              </a:lnSpc>
            </a:pPr>
            <a:r>
              <a:rPr lang="en-US" sz="2254" b="1" spc="-45">
                <a:solidFill>
                  <a:srgbClr val="3B4C3E"/>
                </a:solidFill>
                <a:latin typeface="Open Sauce Bold"/>
                <a:ea typeface="Open Sauce Bold"/>
                <a:cs typeface="Open Sauce Bold"/>
                <a:sym typeface="Open Sauce Bold"/>
              </a:rPr>
              <a:t>de la politique</a:t>
            </a:r>
          </a:p>
        </p:txBody>
      </p:sp>
      <p:sp>
        <p:nvSpPr>
          <p:cNvPr id="25" name="TextBox 25"/>
          <p:cNvSpPr txBox="1"/>
          <p:nvPr/>
        </p:nvSpPr>
        <p:spPr>
          <a:xfrm>
            <a:off x="11150928" y="5053469"/>
            <a:ext cx="2011081" cy="899733"/>
          </a:xfrm>
          <a:prstGeom prst="rect">
            <a:avLst/>
          </a:prstGeom>
        </p:spPr>
        <p:txBody>
          <a:bodyPr lIns="0" tIns="0" rIns="0" bIns="0" rtlCol="0" anchor="t">
            <a:spAutoFit/>
          </a:bodyPr>
          <a:lstStyle/>
          <a:p>
            <a:pPr algn="l">
              <a:lnSpc>
                <a:spcPts val="2353"/>
              </a:lnSpc>
            </a:pPr>
            <a:r>
              <a:rPr lang="fr-FR" sz="1810" b="1" spc="-72">
                <a:solidFill>
                  <a:srgbClr val="3B3B3B"/>
                </a:solidFill>
                <a:latin typeface="Open Sauce Medium"/>
                <a:ea typeface="Open Sauce Medium"/>
                <a:cs typeface="Open Sauce Medium"/>
                <a:sym typeface="Open Sauce Medium"/>
              </a:rPr>
              <a:t>Observation ou blocage selon la politique.</a:t>
            </a:r>
            <a:endParaRPr lang="en-US" sz="1810" b="1" spc="-72">
              <a:solidFill>
                <a:srgbClr val="3B3B3B"/>
              </a:solidFill>
              <a:latin typeface="Open Sauce Medium"/>
              <a:ea typeface="Open Sauce Medium"/>
              <a:cs typeface="Open Sauce Medium"/>
              <a:sym typeface="Open Sauce Medium"/>
            </a:endParaRPr>
          </a:p>
        </p:txBody>
      </p:sp>
      <p:sp>
        <p:nvSpPr>
          <p:cNvPr id="26" name="Freeform 26"/>
          <p:cNvSpPr/>
          <p:nvPr/>
        </p:nvSpPr>
        <p:spPr>
          <a:xfrm>
            <a:off x="13497244" y="3640352"/>
            <a:ext cx="656268" cy="437279"/>
          </a:xfrm>
          <a:custGeom>
            <a:avLst/>
            <a:gdLst/>
            <a:ahLst/>
            <a:cxnLst/>
            <a:rect l="l" t="t" r="r" b="b"/>
            <a:pathLst>
              <a:path w="656268" h="437279">
                <a:moveTo>
                  <a:pt x="0" y="0"/>
                </a:moveTo>
                <a:lnTo>
                  <a:pt x="656268" y="0"/>
                </a:lnTo>
                <a:lnTo>
                  <a:pt x="656268" y="437279"/>
                </a:lnTo>
                <a:lnTo>
                  <a:pt x="0" y="437279"/>
                </a:lnTo>
                <a:lnTo>
                  <a:pt x="0" y="0"/>
                </a:lnTo>
                <a:close/>
              </a:path>
            </a:pathLst>
          </a:custGeom>
          <a:blipFill>
            <a:blip r:embed="rId20"/>
            <a:stretch>
              <a:fillRect/>
            </a:stretch>
          </a:blipFill>
        </p:spPr>
      </p:sp>
      <p:sp>
        <p:nvSpPr>
          <p:cNvPr id="27" name="Freeform 27"/>
          <p:cNvSpPr/>
          <p:nvPr/>
        </p:nvSpPr>
        <p:spPr>
          <a:xfrm>
            <a:off x="14142574" y="2350377"/>
            <a:ext cx="2843828" cy="4088563"/>
          </a:xfrm>
          <a:custGeom>
            <a:avLst/>
            <a:gdLst/>
            <a:ahLst/>
            <a:cxnLst/>
            <a:rect l="l" t="t" r="r" b="b"/>
            <a:pathLst>
              <a:path w="2843828" h="4088563">
                <a:moveTo>
                  <a:pt x="0" y="0"/>
                </a:moveTo>
                <a:lnTo>
                  <a:pt x="2843828" y="0"/>
                </a:lnTo>
                <a:lnTo>
                  <a:pt x="2843828" y="4088563"/>
                </a:lnTo>
                <a:lnTo>
                  <a:pt x="0" y="4088563"/>
                </a:lnTo>
                <a:lnTo>
                  <a:pt x="0" y="0"/>
                </a:lnTo>
                <a:close/>
              </a:path>
            </a:pathLst>
          </a:custGeom>
          <a:blipFill>
            <a:blip r:embed="rId21"/>
            <a:stretch>
              <a:fillRect/>
            </a:stretch>
          </a:blipFill>
        </p:spPr>
      </p:sp>
      <p:sp>
        <p:nvSpPr>
          <p:cNvPr id="28" name="Freeform 28"/>
          <p:cNvSpPr/>
          <p:nvPr/>
        </p:nvSpPr>
        <p:spPr>
          <a:xfrm>
            <a:off x="15236354" y="2142670"/>
            <a:ext cx="875024" cy="644987"/>
          </a:xfrm>
          <a:custGeom>
            <a:avLst/>
            <a:gdLst/>
            <a:ahLst/>
            <a:cxnLst/>
            <a:rect l="l" t="t" r="r" b="b"/>
            <a:pathLst>
              <a:path w="875024" h="644987">
                <a:moveTo>
                  <a:pt x="0" y="0"/>
                </a:moveTo>
                <a:lnTo>
                  <a:pt x="875024" y="0"/>
                </a:lnTo>
                <a:lnTo>
                  <a:pt x="875024" y="644987"/>
                </a:lnTo>
                <a:lnTo>
                  <a:pt x="0" y="644987"/>
                </a:lnTo>
                <a:lnTo>
                  <a:pt x="0" y="0"/>
                </a:lnTo>
                <a:close/>
              </a:path>
            </a:pathLst>
          </a:custGeom>
          <a:blipFill>
            <a:blip r:embed="rId22"/>
            <a:stretch>
              <a:fillRect/>
            </a:stretch>
          </a:blipFill>
        </p:spPr>
      </p:sp>
      <p:sp>
        <p:nvSpPr>
          <p:cNvPr id="29" name="Freeform 29"/>
          <p:cNvSpPr/>
          <p:nvPr/>
        </p:nvSpPr>
        <p:spPr>
          <a:xfrm>
            <a:off x="15017598" y="2995365"/>
            <a:ext cx="1093780" cy="1082267"/>
          </a:xfrm>
          <a:custGeom>
            <a:avLst/>
            <a:gdLst/>
            <a:ahLst/>
            <a:cxnLst/>
            <a:rect l="l" t="t" r="r" b="b"/>
            <a:pathLst>
              <a:path w="1093780" h="1082267">
                <a:moveTo>
                  <a:pt x="0" y="0"/>
                </a:moveTo>
                <a:lnTo>
                  <a:pt x="1093780" y="0"/>
                </a:lnTo>
                <a:lnTo>
                  <a:pt x="1093780" y="1082266"/>
                </a:lnTo>
                <a:lnTo>
                  <a:pt x="0" y="1082266"/>
                </a:lnTo>
                <a:lnTo>
                  <a:pt x="0" y="0"/>
                </a:lnTo>
                <a:close/>
              </a:path>
            </a:pathLst>
          </a:custGeom>
          <a:blipFill>
            <a:blip r:embed="rId23"/>
            <a:stretch>
              <a:fillRect/>
            </a:stretch>
          </a:blipFill>
        </p:spPr>
      </p:sp>
      <p:sp>
        <p:nvSpPr>
          <p:cNvPr id="30" name="TextBox 30"/>
          <p:cNvSpPr txBox="1"/>
          <p:nvPr/>
        </p:nvSpPr>
        <p:spPr>
          <a:xfrm>
            <a:off x="14573250" y="4341581"/>
            <a:ext cx="2009180" cy="332676"/>
          </a:xfrm>
          <a:prstGeom prst="rect">
            <a:avLst/>
          </a:prstGeom>
        </p:spPr>
        <p:txBody>
          <a:bodyPr lIns="0" tIns="0" rIns="0" bIns="0" rtlCol="0" anchor="t">
            <a:spAutoFit/>
          </a:bodyPr>
          <a:lstStyle/>
          <a:p>
            <a:pPr algn="ctr">
              <a:lnSpc>
                <a:spcPts val="2625"/>
              </a:lnSpc>
            </a:pPr>
            <a:r>
              <a:rPr lang="en-US" sz="2387" b="1" spc="-47">
                <a:solidFill>
                  <a:srgbClr val="3B4C3E"/>
                </a:solidFill>
                <a:latin typeface="Open Sauce Bold"/>
                <a:ea typeface="Open Sauce Bold"/>
                <a:cs typeface="Open Sauce Bold"/>
                <a:sym typeface="Open Sauce Bold"/>
              </a:rPr>
              <a:t>Journalisation</a:t>
            </a:r>
          </a:p>
        </p:txBody>
      </p:sp>
      <p:sp>
        <p:nvSpPr>
          <p:cNvPr id="31" name="TextBox 31"/>
          <p:cNvSpPr txBox="1"/>
          <p:nvPr/>
        </p:nvSpPr>
        <p:spPr>
          <a:xfrm>
            <a:off x="14552524" y="5069717"/>
            <a:ext cx="2072599" cy="801363"/>
          </a:xfrm>
          <a:prstGeom prst="rect">
            <a:avLst/>
          </a:prstGeom>
        </p:spPr>
        <p:txBody>
          <a:bodyPr lIns="0" tIns="0" rIns="0" bIns="0" rtlCol="0" anchor="t">
            <a:spAutoFit/>
          </a:bodyPr>
          <a:lstStyle/>
          <a:p>
            <a:pPr algn="l">
              <a:lnSpc>
                <a:spcPts val="2147"/>
              </a:lnSpc>
            </a:pPr>
            <a:r>
              <a:rPr lang="en-US" sz="1652" b="1" spc="-66">
                <a:solidFill>
                  <a:srgbClr val="3B3B3B"/>
                </a:solidFill>
                <a:latin typeface="Open Sauce Medium"/>
                <a:ea typeface="Open Sauce Medium"/>
                <a:cs typeface="Open Sauce Medium"/>
                <a:sym typeface="Open Sauce Medium"/>
              </a:rPr>
              <a:t>Enregistrement d'une trace minimale pour audit et analyse.</a:t>
            </a:r>
          </a:p>
        </p:txBody>
      </p:sp>
      <p:sp>
        <p:nvSpPr>
          <p:cNvPr id="32" name="Freeform 32"/>
          <p:cNvSpPr/>
          <p:nvPr/>
        </p:nvSpPr>
        <p:spPr>
          <a:xfrm>
            <a:off x="645330" y="7280704"/>
            <a:ext cx="448450" cy="2372241"/>
          </a:xfrm>
          <a:custGeom>
            <a:avLst/>
            <a:gdLst/>
            <a:ahLst/>
            <a:cxnLst/>
            <a:rect l="l" t="t" r="r" b="b"/>
            <a:pathLst>
              <a:path w="448450" h="2372241">
                <a:moveTo>
                  <a:pt x="0" y="0"/>
                </a:moveTo>
                <a:lnTo>
                  <a:pt x="448450" y="0"/>
                </a:lnTo>
                <a:lnTo>
                  <a:pt x="448450" y="2372241"/>
                </a:lnTo>
                <a:lnTo>
                  <a:pt x="0" y="2372241"/>
                </a:lnTo>
                <a:lnTo>
                  <a:pt x="0" y="0"/>
                </a:lnTo>
                <a:close/>
              </a:path>
            </a:pathLst>
          </a:custGeom>
          <a:blipFill>
            <a:blip r:embed="rId24"/>
            <a:stretch>
              <a:fillRect/>
            </a:stretch>
          </a:blipFill>
        </p:spPr>
      </p:sp>
      <p:sp>
        <p:nvSpPr>
          <p:cNvPr id="33" name="Freeform 33"/>
          <p:cNvSpPr/>
          <p:nvPr/>
        </p:nvSpPr>
        <p:spPr>
          <a:xfrm>
            <a:off x="1082842" y="7280704"/>
            <a:ext cx="8936182" cy="2372241"/>
          </a:xfrm>
          <a:custGeom>
            <a:avLst/>
            <a:gdLst/>
            <a:ahLst/>
            <a:cxnLst/>
            <a:rect l="l" t="t" r="r" b="b"/>
            <a:pathLst>
              <a:path w="8936182" h="2372241">
                <a:moveTo>
                  <a:pt x="0" y="0"/>
                </a:moveTo>
                <a:lnTo>
                  <a:pt x="8936182" y="0"/>
                </a:lnTo>
                <a:lnTo>
                  <a:pt x="8936182" y="2372241"/>
                </a:lnTo>
                <a:lnTo>
                  <a:pt x="0" y="2372241"/>
                </a:lnTo>
                <a:lnTo>
                  <a:pt x="0" y="0"/>
                </a:lnTo>
                <a:close/>
              </a:path>
            </a:pathLst>
          </a:custGeom>
          <a:blipFill>
            <a:blip r:embed="rId25"/>
            <a:stretch>
              <a:fillRect/>
            </a:stretch>
          </a:blipFill>
        </p:spPr>
      </p:sp>
      <p:sp>
        <p:nvSpPr>
          <p:cNvPr id="34" name="TextBox 34"/>
          <p:cNvSpPr txBox="1"/>
          <p:nvPr/>
        </p:nvSpPr>
        <p:spPr>
          <a:xfrm>
            <a:off x="1557657" y="8416188"/>
            <a:ext cx="7647618" cy="557897"/>
          </a:xfrm>
          <a:prstGeom prst="rect">
            <a:avLst/>
          </a:prstGeom>
        </p:spPr>
        <p:txBody>
          <a:bodyPr lIns="0" tIns="0" rIns="0" bIns="0" rtlCol="0" anchor="t">
            <a:spAutoFit/>
          </a:bodyPr>
          <a:lstStyle/>
          <a:p>
            <a:pPr algn="l">
              <a:lnSpc>
                <a:spcPts val="2341"/>
              </a:lnSpc>
            </a:pPr>
            <a:r>
              <a:rPr lang="en-US" sz="1801" spc="-36">
                <a:solidFill>
                  <a:srgbClr val="F7F5E9"/>
                </a:solidFill>
                <a:latin typeface="Open Sauce"/>
                <a:ea typeface="Open Sauce"/>
                <a:cs typeface="Open Sauce"/>
                <a:sym typeface="Open Sauce"/>
              </a:rPr>
              <a:t>L'assistant local explique les signaux et aide l'opérateur à comprendre les événements, sans jamais piloter ou contourner le filtre.</a:t>
            </a:r>
          </a:p>
        </p:txBody>
      </p:sp>
      <p:sp>
        <p:nvSpPr>
          <p:cNvPr id="35" name="Freeform 35"/>
          <p:cNvSpPr/>
          <p:nvPr/>
        </p:nvSpPr>
        <p:spPr>
          <a:xfrm>
            <a:off x="10445598" y="6209369"/>
            <a:ext cx="7842402" cy="4077631"/>
          </a:xfrm>
          <a:custGeom>
            <a:avLst/>
            <a:gdLst/>
            <a:ahLst/>
            <a:cxnLst/>
            <a:rect l="l" t="t" r="r" b="b"/>
            <a:pathLst>
              <a:path w="7842402" h="4077631">
                <a:moveTo>
                  <a:pt x="0" y="0"/>
                </a:moveTo>
                <a:lnTo>
                  <a:pt x="7842402" y="0"/>
                </a:lnTo>
                <a:lnTo>
                  <a:pt x="7842402" y="4077631"/>
                </a:lnTo>
                <a:lnTo>
                  <a:pt x="0" y="4077631"/>
                </a:lnTo>
                <a:lnTo>
                  <a:pt x="0" y="0"/>
                </a:lnTo>
                <a:close/>
              </a:path>
            </a:pathLst>
          </a:custGeom>
          <a:blipFill>
            <a:blip r:embed="rId26"/>
            <a:stretch>
              <a:fillRect/>
            </a:stretch>
          </a:blipFill>
        </p:spPr>
      </p:sp>
      <p:sp>
        <p:nvSpPr>
          <p:cNvPr id="36" name="TextBox 36"/>
          <p:cNvSpPr txBox="1"/>
          <p:nvPr/>
        </p:nvSpPr>
        <p:spPr>
          <a:xfrm>
            <a:off x="1573621" y="7886270"/>
            <a:ext cx="6051205" cy="272299"/>
          </a:xfrm>
          <a:prstGeom prst="rect">
            <a:avLst/>
          </a:prstGeom>
        </p:spPr>
        <p:txBody>
          <a:bodyPr lIns="0" tIns="0" rIns="0" bIns="0" rtlCol="0" anchor="t">
            <a:spAutoFit/>
          </a:bodyPr>
          <a:lstStyle/>
          <a:p>
            <a:pPr algn="l">
              <a:lnSpc>
                <a:spcPts val="2341"/>
              </a:lnSpc>
            </a:pPr>
            <a:r>
              <a:rPr lang="fr-FR" sz="1801" b="1" spc="-36">
                <a:solidFill>
                  <a:srgbClr val="F7F5E9"/>
                </a:solidFill>
                <a:latin typeface="Open Sauce Bold"/>
                <a:ea typeface="Open Sauce Bold"/>
                <a:cs typeface="Open Sauce Bold"/>
                <a:sym typeface="Open Sauce Bold"/>
              </a:rPr>
              <a:t>Un assistant local pour comprendre les événements</a:t>
            </a:r>
            <a:endParaRPr lang="en-US" sz="1801" b="1" spc="-36">
              <a:solidFill>
                <a:srgbClr val="F7F5E9"/>
              </a:solidFill>
              <a:latin typeface="Open Sauce Bold"/>
              <a:ea typeface="Open Sauce Bold"/>
              <a:cs typeface="Open Sauce Bold"/>
              <a:sym typeface="Open Sauce Bold"/>
            </a:endParaRPr>
          </a:p>
        </p:txBody>
      </p:sp>
      <p:sp>
        <p:nvSpPr>
          <p:cNvPr id="37" name="TextBox 37">
            <a:hlinkClick r:id="rId6" action="ppaction://hlinksldjump" tooltip="Voir le blocage par les règles" highlightClick="1"/>
          </p:cNvPr>
          <p:cNvSpPr txBox="1"/>
          <p:nvPr/>
        </p:nvSpPr>
        <p:spPr>
          <a:xfrm>
            <a:off x="5234673"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2</a:t>
            </a:r>
          </a:p>
        </p:txBody>
      </p:sp>
      <p:sp>
        <p:nvSpPr>
          <p:cNvPr id="38" name="TextBox 38">
            <a:hlinkClick r:id="rId11" action="ppaction://hlinksldjump" tooltip="Voir les deux issues conditionnelles du MLP" highlightClick="1"/>
          </p:cNvPr>
          <p:cNvSpPr txBox="1"/>
          <p:nvPr/>
        </p:nvSpPr>
        <p:spPr>
          <a:xfrm>
            <a:off x="8717251"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3</a:t>
            </a:r>
          </a:p>
        </p:txBody>
      </p:sp>
      <p:sp>
        <p:nvSpPr>
          <p:cNvPr id="39" name="TextBox 39"/>
          <p:cNvSpPr txBox="1"/>
          <p:nvPr/>
        </p:nvSpPr>
        <p:spPr>
          <a:xfrm>
            <a:off x="12065884"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4</a:t>
            </a:r>
          </a:p>
        </p:txBody>
      </p:sp>
      <p:sp>
        <p:nvSpPr>
          <p:cNvPr id="40" name="TextBox 40"/>
          <p:cNvSpPr txBox="1"/>
          <p:nvPr/>
        </p:nvSpPr>
        <p:spPr>
          <a:xfrm>
            <a:off x="15521673"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5</a:t>
            </a:r>
          </a:p>
        </p:txBody>
      </p:sp>
      <p:sp>
        <p:nvSpPr>
          <p:cNvPr id="41" name="TextBox 41"/>
          <p:cNvSpPr txBox="1"/>
          <p:nvPr/>
        </p:nvSpPr>
        <p:spPr>
          <a:xfrm>
            <a:off x="1939618"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1</a:t>
            </a:r>
          </a:p>
        </p:txBody>
      </p:sp>
      <p:sp>
        <p:nvSpPr>
          <p:cNvPr id="42" name="nav_home" descr="Retour à l'accueil JNC">
            <a:hlinkClick r:id="rId27" action="ppaction://hlinksldjump" tooltip="Retour à l'accueil JNC" highlightClick="1"/>
            <a:extLst>
              <a:ext uri="{FF2B5EF4-FFF2-40B4-BE49-F238E27FC236}">
                <a16:creationId xmlns:a16="http://schemas.microsoft.com/office/drawing/2014/main" id="{581E9988-82A0-2D96-107D-B869ED9BB835}"/>
              </a:ext>
            </a:extLst>
          </p:cNvPr>
          <p:cNvSpPr txBox="1"/>
          <p:nvPr/>
        </p:nvSpPr>
        <p:spPr>
          <a:xfrm>
            <a:off x="15525750" y="381000"/>
            <a:ext cx="171450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Accueil</a:t>
            </a:r>
          </a:p>
        </p:txBody>
      </p:sp>
      <p:sp>
        <p:nvSpPr>
          <p:cNvPr id="43" name="nav_architecture" descr="Revenir au schéma de l'architecture">
            <a:hlinkClick r:id="rId28" action="ppaction://hlinksldjump" tooltip="Revenir au schéma de l'architecture" highlightClick="1"/>
            <a:extLst>
              <a:ext uri="{FF2B5EF4-FFF2-40B4-BE49-F238E27FC236}">
                <a16:creationId xmlns:a16="http://schemas.microsoft.com/office/drawing/2014/main" id="{59A62B1A-07EB-C7C3-52C3-C4AFF1E71BFE}"/>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44" name="nav_demonstrations" descr="Ouvrir la comparaison des parcours">
            <a:hlinkClick r:id="rId29" action="ppaction://hlinksldjump" tooltip="Ouvrir la comparaison des parcours" highlightClick="1"/>
            <a:extLst>
              <a:ext uri="{FF2B5EF4-FFF2-40B4-BE49-F238E27FC236}">
                <a16:creationId xmlns:a16="http://schemas.microsoft.com/office/drawing/2014/main" id="{1B022F1B-7AFC-CE28-1DE1-1D16FE9DEEDE}"/>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45" name="nav_results" descr="Ouvrir les résultats et leurs limites">
            <a:hlinkClick r:id="rId30" action="ppaction://hlinksldjump" tooltip="Ouvrir les résultats et leurs limites" highlightClick="1"/>
            <a:extLst>
              <a:ext uri="{FF2B5EF4-FFF2-40B4-BE49-F238E27FC236}">
                <a16:creationId xmlns:a16="http://schemas.microsoft.com/office/drawing/2014/main" id="{D942890F-0AB5-B6AA-D02E-E2C47093AEED}"/>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p:tgtEl>
                                          <p:spTgt spid="3"/>
                                        </p:tgtEl>
                                      </p:cBhvr>
                                    </p:animEffect>
                                  </p:childTnLst>
                                </p:cTn>
                              </p:par>
                              <p:par>
                                <p:cTn id="8" presetID="0" presetClass="entr" presetSubtype="0" accel="20000" decel="30000" fill="hold" grpId="1" nodeType="withEffect">
                                  <p:stCondLst>
                                    <p:cond delay="0"/>
                                  </p:stCondLst>
                                  <p:childTnLst>
                                    <p:set>
                                      <p:cBhvr>
                                        <p:cTn id="9" dur="1" fill="hold">
                                          <p:stCondLst>
                                            <p:cond delay="449"/>
                                          </p:stCondLst>
                                        </p:cTn>
                                        <p:tgtEl>
                                          <p:spTgt spid="3"/>
                                        </p:tgtEl>
                                        <p:attrNameLst>
                                          <p:attrName>style.visibility</p:attrName>
                                        </p:attrNameLst>
                                      </p:cBhvr>
                                      <p:to>
                                        <p:strVal val="visible"/>
                                      </p:to>
                                    </p:set>
                                    <p:animMotion origin="layout" path="M 0 0.01111111 L 0 0 E" pathEditMode="relative">
                                      <p:cBhvr from="" to="">
                                        <p:cTn id="10" dur="450" fill="hold">
                                          <p:stCondLst>
                                            <p:cond delay="0"/>
                                          </p:stCondLst>
                                        </p:cTn>
                                        <p:tgtEl>
                                          <p:spTgt spid="3"/>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320"/>
                                        <p:tgtEl>
                                          <p:spTgt spid="4"/>
                                        </p:tgtEl>
                                      </p:cBhvr>
                                    </p:animEffect>
                                  </p:childTnLst>
                                </p:cTn>
                              </p:par>
                              <p:par>
                                <p:cTn id="16" presetID="0" presetClass="entr" presetSubtype="0" accel="20000" decel="30000" fill="hold" nodeType="withEffect">
                                  <p:stCondLst>
                                    <p:cond delay="0"/>
                                  </p:stCondLst>
                                  <p:childTnLst>
                                    <p:set>
                                      <p:cBhvr>
                                        <p:cTn id="17" dur="1" fill="hold">
                                          <p:stCondLst>
                                            <p:cond delay="449"/>
                                          </p:stCondLst>
                                        </p:cTn>
                                        <p:tgtEl>
                                          <p:spTgt spid="4"/>
                                        </p:tgtEl>
                                        <p:attrNameLst>
                                          <p:attrName>style.visibility</p:attrName>
                                        </p:attrNameLst>
                                      </p:cBhvr>
                                      <p:to>
                                        <p:strVal val="visible"/>
                                      </p:to>
                                    </p:set>
                                    <p:animMotion origin="layout" path="M 0 0.01111111 L 0 0 E" pathEditMode="relative">
                                      <p:cBhvr from="" to="">
                                        <p:cTn id="18" dur="450" fill="hold">
                                          <p:stCondLst>
                                            <p:cond delay="0"/>
                                          </p:stCondLst>
                                        </p:cTn>
                                        <p:tgtEl>
                                          <p:spTgt spid="4"/>
                                        </p:tgtEl>
                                        <p:attrNameLst>
                                          <p:attrName>ppt_x</p:attrName>
                                          <p:attrName>ppt_y</p:attrName>
                                        </p:attrNameLst>
                                      </p:cBhvr>
                                    </p:animMotion>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320"/>
                                        <p:tgtEl>
                                          <p:spTgt spid="5"/>
                                        </p:tgtEl>
                                      </p:cBhvr>
                                    </p:animEffect>
                                  </p:childTnLst>
                                </p:cTn>
                              </p:par>
                              <p:par>
                                <p:cTn id="22" presetID="0" presetClass="entr" presetSubtype="0" accel="20000" decel="30000" fill="hold" nodeType="withEffect">
                                  <p:stCondLst>
                                    <p:cond delay="0"/>
                                  </p:stCondLst>
                                  <p:childTnLst>
                                    <p:set>
                                      <p:cBhvr>
                                        <p:cTn id="23" dur="1" fill="hold">
                                          <p:stCondLst>
                                            <p:cond delay="449"/>
                                          </p:stCondLst>
                                        </p:cTn>
                                        <p:tgtEl>
                                          <p:spTgt spid="5"/>
                                        </p:tgtEl>
                                        <p:attrNameLst>
                                          <p:attrName>style.visibility</p:attrName>
                                        </p:attrNameLst>
                                      </p:cBhvr>
                                      <p:to>
                                        <p:strVal val="visible"/>
                                      </p:to>
                                    </p:set>
                                    <p:animMotion origin="layout" path="M 0 0.01111111 L 0 0 E" pathEditMode="relative">
                                      <p:cBhvr from="" to="">
                                        <p:cTn id="24" dur="450" fill="hold">
                                          <p:stCondLst>
                                            <p:cond delay="0"/>
                                          </p:stCondLst>
                                        </p:cTn>
                                        <p:tgtEl>
                                          <p:spTgt spid="5"/>
                                        </p:tgtEl>
                                        <p:attrNameLst>
                                          <p:attrName>ppt_x</p:attrName>
                                          <p:attrName>ppt_y</p:attrName>
                                        </p:attrNameLst>
                                      </p:cBhvr>
                                    </p:animMotion>
                                  </p:childTnLst>
                                </p:cTn>
                              </p:par>
                              <p:par>
                                <p:cTn id="25" presetID="10"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20"/>
                                        <p:tgtEl>
                                          <p:spTgt spid="6"/>
                                        </p:tgtEl>
                                      </p:cBhvr>
                                    </p:animEffect>
                                  </p:childTnLst>
                                </p:cTn>
                              </p:par>
                              <p:par>
                                <p:cTn id="28" presetID="0" presetClass="entr" presetSubtype="0" accel="20000" decel="30000" fill="hold" grpId="1" nodeType="withEffect">
                                  <p:stCondLst>
                                    <p:cond delay="0"/>
                                  </p:stCondLst>
                                  <p:childTnLst>
                                    <p:set>
                                      <p:cBhvr>
                                        <p:cTn id="29" dur="1" fill="hold">
                                          <p:stCondLst>
                                            <p:cond delay="449"/>
                                          </p:stCondLst>
                                        </p:cTn>
                                        <p:tgtEl>
                                          <p:spTgt spid="6"/>
                                        </p:tgtEl>
                                        <p:attrNameLst>
                                          <p:attrName>style.visibility</p:attrName>
                                        </p:attrNameLst>
                                      </p:cBhvr>
                                      <p:to>
                                        <p:strVal val="visible"/>
                                      </p:to>
                                    </p:set>
                                    <p:animMotion origin="layout" path="M 0 0.01111111 L 0 0 E" pathEditMode="relative">
                                      <p:cBhvr from="" to="">
                                        <p:cTn id="30" dur="450" fill="hold">
                                          <p:stCondLst>
                                            <p:cond delay="0"/>
                                          </p:stCondLst>
                                        </p:cTn>
                                        <p:tgtEl>
                                          <p:spTgt spid="6"/>
                                        </p:tgtEl>
                                        <p:attrNameLst>
                                          <p:attrName>ppt_x</p:attrName>
                                          <p:attrName>ppt_y</p:attrName>
                                        </p:attrNameLst>
                                      </p:cBhvr>
                                    </p:animMotion>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320"/>
                                        <p:tgtEl>
                                          <p:spTgt spid="7"/>
                                        </p:tgtEl>
                                      </p:cBhvr>
                                    </p:animEffect>
                                  </p:childTnLst>
                                </p:cTn>
                              </p:par>
                              <p:par>
                                <p:cTn id="34" presetID="0" presetClass="entr" presetSubtype="0" accel="20000" decel="30000" fill="hold" grpId="1" nodeType="withEffect">
                                  <p:stCondLst>
                                    <p:cond delay="0"/>
                                  </p:stCondLst>
                                  <p:childTnLst>
                                    <p:set>
                                      <p:cBhvr>
                                        <p:cTn id="35" dur="1" fill="hold">
                                          <p:stCondLst>
                                            <p:cond delay="449"/>
                                          </p:stCondLst>
                                        </p:cTn>
                                        <p:tgtEl>
                                          <p:spTgt spid="7"/>
                                        </p:tgtEl>
                                        <p:attrNameLst>
                                          <p:attrName>style.visibility</p:attrName>
                                        </p:attrNameLst>
                                      </p:cBhvr>
                                      <p:to>
                                        <p:strVal val="visible"/>
                                      </p:to>
                                    </p:set>
                                    <p:animMotion origin="layout" path="M 0 0.01111111 L 0 0 E" pathEditMode="relative">
                                      <p:cBhvr from="" to="">
                                        <p:cTn id="36" dur="450" fill="hold">
                                          <p:stCondLst>
                                            <p:cond delay="0"/>
                                          </p:stCondLst>
                                        </p:cTn>
                                        <p:tgtEl>
                                          <p:spTgt spid="7"/>
                                        </p:tgtEl>
                                        <p:attrNameLst>
                                          <p:attrName>ppt_x</p:attrName>
                                          <p:attrName>ppt_y</p:attrName>
                                        </p:attrNameLst>
                                      </p:cBhvr>
                                    </p:animMotion>
                                  </p:childTnLst>
                                </p:cTn>
                              </p:par>
                              <p:par>
                                <p:cTn id="37" presetID="10"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320"/>
                                        <p:tgtEl>
                                          <p:spTgt spid="41"/>
                                        </p:tgtEl>
                                      </p:cBhvr>
                                    </p:animEffect>
                                  </p:childTnLst>
                                </p:cTn>
                              </p:par>
                              <p:par>
                                <p:cTn id="40" presetID="0" presetClass="entr" presetSubtype="0" accel="20000" decel="30000" fill="hold" grpId="1" nodeType="withEffect">
                                  <p:stCondLst>
                                    <p:cond delay="0"/>
                                  </p:stCondLst>
                                  <p:childTnLst>
                                    <p:set>
                                      <p:cBhvr>
                                        <p:cTn id="41" dur="1" fill="hold">
                                          <p:stCondLst>
                                            <p:cond delay="449"/>
                                          </p:stCondLst>
                                        </p:cTn>
                                        <p:tgtEl>
                                          <p:spTgt spid="41"/>
                                        </p:tgtEl>
                                        <p:attrNameLst>
                                          <p:attrName>style.visibility</p:attrName>
                                        </p:attrNameLst>
                                      </p:cBhvr>
                                      <p:to>
                                        <p:strVal val="visible"/>
                                      </p:to>
                                    </p:set>
                                    <p:animMotion origin="layout" path="M 0 0.01111111 L 0 0 E" pathEditMode="relative">
                                      <p:cBhvr from="" to="">
                                        <p:cTn id="42" dur="450" fill="hold">
                                          <p:stCondLst>
                                            <p:cond delay="0"/>
                                          </p:stCondLst>
                                        </p:cTn>
                                        <p:tgtEl>
                                          <p:spTgt spid="41"/>
                                        </p:tgtEl>
                                        <p:attrNameLst>
                                          <p:attrName>ppt_x</p:attrName>
                                          <p:attrName>ppt_y</p:attrName>
                                        </p:attrNameLst>
                                      </p:cBhvr>
                                    </p:animMotion>
                                  </p:childTnLst>
                                </p:cTn>
                              </p:par>
                            </p:childTnLst>
                          </p:cTn>
                        </p:par>
                        <p:par>
                          <p:cTn id="43" fill="hold">
                            <p:stCondLst>
                              <p:cond delay="450"/>
                            </p:stCondLst>
                            <p:childTnLst>
                              <p:par>
                                <p:cTn id="44" presetID="10" presetClass="entr" presetSubtype="0"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320"/>
                                        <p:tgtEl>
                                          <p:spTgt spid="8"/>
                                        </p:tgtEl>
                                      </p:cBhvr>
                                    </p:animEffect>
                                  </p:childTnLst>
                                </p:cTn>
                              </p:par>
                              <p:par>
                                <p:cTn id="47" presetID="0" presetClass="entr" presetSubtype="0" accel="20000" decel="30000" fill="hold" nodeType="withEffect">
                                  <p:stCondLst>
                                    <p:cond delay="0"/>
                                  </p:stCondLst>
                                  <p:childTnLst>
                                    <p:set>
                                      <p:cBhvr>
                                        <p:cTn id="48" dur="1" fill="hold">
                                          <p:stCondLst>
                                            <p:cond delay="449"/>
                                          </p:stCondLst>
                                        </p:cTn>
                                        <p:tgtEl>
                                          <p:spTgt spid="8"/>
                                        </p:tgtEl>
                                        <p:attrNameLst>
                                          <p:attrName>style.visibility</p:attrName>
                                        </p:attrNameLst>
                                      </p:cBhvr>
                                      <p:to>
                                        <p:strVal val="visible"/>
                                      </p:to>
                                    </p:set>
                                    <p:animMotion origin="layout" path="M 0 0.01111111 L 0 0 E" pathEditMode="relative">
                                      <p:cBhvr from="" to="">
                                        <p:cTn id="49" dur="450" fill="hold">
                                          <p:stCondLst>
                                            <p:cond delay="0"/>
                                          </p:stCondLst>
                                        </p:cTn>
                                        <p:tgtEl>
                                          <p:spTgt spid="8"/>
                                        </p:tgtEl>
                                        <p:attrNameLst>
                                          <p:attrName>ppt_x</p:attrName>
                                          <p:attrName>ppt_y</p:attrName>
                                        </p:attrNameLst>
                                      </p:cBhvr>
                                    </p:animMotion>
                                  </p:childTnLst>
                                </p:cTn>
                              </p:par>
                              <p:par>
                                <p:cTn id="50" presetID="10" presetClass="entr" presetSubtype="0" fill="hold"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320"/>
                                        <p:tgtEl>
                                          <p:spTgt spid="9"/>
                                        </p:tgtEl>
                                      </p:cBhvr>
                                    </p:animEffect>
                                  </p:childTnLst>
                                </p:cTn>
                              </p:par>
                              <p:par>
                                <p:cTn id="53" presetID="0" presetClass="entr" presetSubtype="0" accel="20000" decel="30000" fill="hold" nodeType="withEffect">
                                  <p:stCondLst>
                                    <p:cond delay="0"/>
                                  </p:stCondLst>
                                  <p:childTnLst>
                                    <p:set>
                                      <p:cBhvr>
                                        <p:cTn id="54" dur="1" fill="hold">
                                          <p:stCondLst>
                                            <p:cond delay="449"/>
                                          </p:stCondLst>
                                        </p:cTn>
                                        <p:tgtEl>
                                          <p:spTgt spid="9"/>
                                        </p:tgtEl>
                                        <p:attrNameLst>
                                          <p:attrName>style.visibility</p:attrName>
                                        </p:attrNameLst>
                                      </p:cBhvr>
                                      <p:to>
                                        <p:strVal val="visible"/>
                                      </p:to>
                                    </p:set>
                                    <p:animMotion origin="layout" path="M 0 0.01111111 L 0 0 E" pathEditMode="relative">
                                      <p:cBhvr from="" to="">
                                        <p:cTn id="55" dur="450" fill="hold">
                                          <p:stCondLst>
                                            <p:cond delay="0"/>
                                          </p:stCondLst>
                                        </p:cTn>
                                        <p:tgtEl>
                                          <p:spTgt spid="9"/>
                                        </p:tgtEl>
                                        <p:attrNameLst>
                                          <p:attrName>ppt_x</p:attrName>
                                          <p:attrName>ppt_y</p:attrName>
                                        </p:attrNameLst>
                                      </p:cBhvr>
                                    </p:animMotion>
                                  </p:childTnLst>
                                </p:cTn>
                              </p:par>
                              <p:par>
                                <p:cTn id="56" presetID="10" presetClass="entr" presetSubtype="0" fill="hold" nodeType="with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320"/>
                                        <p:tgtEl>
                                          <p:spTgt spid="10"/>
                                        </p:tgtEl>
                                      </p:cBhvr>
                                    </p:animEffect>
                                  </p:childTnLst>
                                </p:cTn>
                              </p:par>
                              <p:par>
                                <p:cTn id="59" presetID="0" presetClass="entr" presetSubtype="0" accel="20000" decel="30000" fill="hold" nodeType="withEffect">
                                  <p:stCondLst>
                                    <p:cond delay="0"/>
                                  </p:stCondLst>
                                  <p:childTnLst>
                                    <p:set>
                                      <p:cBhvr>
                                        <p:cTn id="60" dur="1" fill="hold">
                                          <p:stCondLst>
                                            <p:cond delay="449"/>
                                          </p:stCondLst>
                                        </p:cTn>
                                        <p:tgtEl>
                                          <p:spTgt spid="10"/>
                                        </p:tgtEl>
                                        <p:attrNameLst>
                                          <p:attrName>style.visibility</p:attrName>
                                        </p:attrNameLst>
                                      </p:cBhvr>
                                      <p:to>
                                        <p:strVal val="visible"/>
                                      </p:to>
                                    </p:set>
                                    <p:animMotion origin="layout" path="M 0 0.01111111 L 0 0 E" pathEditMode="relative">
                                      <p:cBhvr from="" to="">
                                        <p:cTn id="61" dur="450" fill="hold">
                                          <p:stCondLst>
                                            <p:cond delay="0"/>
                                          </p:stCondLst>
                                        </p:cTn>
                                        <p:tgtEl>
                                          <p:spTgt spid="10"/>
                                        </p:tgtEl>
                                        <p:attrNameLst>
                                          <p:attrName>ppt_x</p:attrName>
                                          <p:attrName>ppt_y</p:attrName>
                                        </p:attrNameLst>
                                      </p:cBhvr>
                                    </p:animMotion>
                                  </p:childTnLst>
                                </p:cTn>
                              </p:par>
                              <p:par>
                                <p:cTn id="62" presetID="10" presetClass="entr" presetSubtype="0" fill="hold" nodeType="with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320"/>
                                        <p:tgtEl>
                                          <p:spTgt spid="11"/>
                                        </p:tgtEl>
                                      </p:cBhvr>
                                    </p:animEffect>
                                  </p:childTnLst>
                                </p:cTn>
                              </p:par>
                              <p:par>
                                <p:cTn id="65" presetID="0" presetClass="entr" presetSubtype="0" accel="20000" decel="30000" fill="hold" nodeType="withEffect">
                                  <p:stCondLst>
                                    <p:cond delay="0"/>
                                  </p:stCondLst>
                                  <p:childTnLst>
                                    <p:set>
                                      <p:cBhvr>
                                        <p:cTn id="66" dur="1" fill="hold">
                                          <p:stCondLst>
                                            <p:cond delay="449"/>
                                          </p:stCondLst>
                                        </p:cTn>
                                        <p:tgtEl>
                                          <p:spTgt spid="11"/>
                                        </p:tgtEl>
                                        <p:attrNameLst>
                                          <p:attrName>style.visibility</p:attrName>
                                        </p:attrNameLst>
                                      </p:cBhvr>
                                      <p:to>
                                        <p:strVal val="visible"/>
                                      </p:to>
                                    </p:set>
                                    <p:animMotion origin="layout" path="M 0 0.01111111 L 0 0 E" pathEditMode="relative">
                                      <p:cBhvr from="" to="">
                                        <p:cTn id="67" dur="450" fill="hold">
                                          <p:stCondLst>
                                            <p:cond delay="0"/>
                                          </p:stCondLst>
                                        </p:cTn>
                                        <p:tgtEl>
                                          <p:spTgt spid="11"/>
                                        </p:tgtEl>
                                        <p:attrNameLst>
                                          <p:attrName>ppt_x</p:attrName>
                                          <p:attrName>ppt_y</p:attrName>
                                        </p:attrNameLst>
                                      </p:cBhvr>
                                    </p:animMotion>
                                  </p:childTnLst>
                                </p:cTn>
                              </p:par>
                              <p:par>
                                <p:cTn id="68" presetID="10" presetClass="entr" presetSubtype="0" fill="hold" grpId="0" nodeType="with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320"/>
                                        <p:tgtEl>
                                          <p:spTgt spid="12"/>
                                        </p:tgtEl>
                                      </p:cBhvr>
                                    </p:animEffect>
                                  </p:childTnLst>
                                </p:cTn>
                              </p:par>
                              <p:par>
                                <p:cTn id="71" presetID="0" presetClass="entr" presetSubtype="0" accel="20000" decel="30000" fill="hold" grpId="1" nodeType="withEffect">
                                  <p:stCondLst>
                                    <p:cond delay="0"/>
                                  </p:stCondLst>
                                  <p:childTnLst>
                                    <p:set>
                                      <p:cBhvr>
                                        <p:cTn id="72" dur="1" fill="hold">
                                          <p:stCondLst>
                                            <p:cond delay="449"/>
                                          </p:stCondLst>
                                        </p:cTn>
                                        <p:tgtEl>
                                          <p:spTgt spid="12"/>
                                        </p:tgtEl>
                                        <p:attrNameLst>
                                          <p:attrName>style.visibility</p:attrName>
                                        </p:attrNameLst>
                                      </p:cBhvr>
                                      <p:to>
                                        <p:strVal val="visible"/>
                                      </p:to>
                                    </p:set>
                                    <p:animMotion origin="layout" path="M 0 0.01111111 L 0 0 E" pathEditMode="relative">
                                      <p:cBhvr from="" to="">
                                        <p:cTn id="73" dur="450" fill="hold">
                                          <p:stCondLst>
                                            <p:cond delay="0"/>
                                          </p:stCondLst>
                                        </p:cTn>
                                        <p:tgtEl>
                                          <p:spTgt spid="12"/>
                                        </p:tgtEl>
                                        <p:attrNameLst>
                                          <p:attrName>ppt_x</p:attrName>
                                          <p:attrName>ppt_y</p:attrName>
                                        </p:attrNameLst>
                                      </p:cBhvr>
                                    </p:animMotion>
                                  </p:childTnLst>
                                </p:cTn>
                              </p:par>
                              <p:par>
                                <p:cTn id="74" presetID="10" presetClass="entr" presetSubtype="0" fill="hold" grpId="0" nodeType="with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fade">
                                      <p:cBhvr>
                                        <p:cTn id="76" dur="320"/>
                                        <p:tgtEl>
                                          <p:spTgt spid="13"/>
                                        </p:tgtEl>
                                      </p:cBhvr>
                                    </p:animEffect>
                                  </p:childTnLst>
                                </p:cTn>
                              </p:par>
                              <p:par>
                                <p:cTn id="77" presetID="0" presetClass="entr" presetSubtype="0" accel="20000" decel="30000" fill="hold" grpId="1" nodeType="withEffect">
                                  <p:stCondLst>
                                    <p:cond delay="0"/>
                                  </p:stCondLst>
                                  <p:childTnLst>
                                    <p:set>
                                      <p:cBhvr>
                                        <p:cTn id="78" dur="1" fill="hold">
                                          <p:stCondLst>
                                            <p:cond delay="449"/>
                                          </p:stCondLst>
                                        </p:cTn>
                                        <p:tgtEl>
                                          <p:spTgt spid="13"/>
                                        </p:tgtEl>
                                        <p:attrNameLst>
                                          <p:attrName>style.visibility</p:attrName>
                                        </p:attrNameLst>
                                      </p:cBhvr>
                                      <p:to>
                                        <p:strVal val="visible"/>
                                      </p:to>
                                    </p:set>
                                    <p:animMotion origin="layout" path="M 0 0.01111111 L 0 0 E" pathEditMode="relative">
                                      <p:cBhvr from="" to="">
                                        <p:cTn id="79" dur="450" fill="hold">
                                          <p:stCondLst>
                                            <p:cond delay="0"/>
                                          </p:stCondLst>
                                        </p:cTn>
                                        <p:tgtEl>
                                          <p:spTgt spid="13"/>
                                        </p:tgtEl>
                                        <p:attrNameLst>
                                          <p:attrName>ppt_x</p:attrName>
                                          <p:attrName>ppt_y</p:attrName>
                                        </p:attrNameLst>
                                      </p:cBhvr>
                                    </p:animMotion>
                                  </p:childTnLst>
                                </p:cTn>
                              </p:par>
                              <p:par>
                                <p:cTn id="80" presetID="10" presetClass="entr" presetSubtype="0" fill="hold" grpId="0" nodeType="with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320"/>
                                        <p:tgtEl>
                                          <p:spTgt spid="37"/>
                                        </p:tgtEl>
                                      </p:cBhvr>
                                    </p:animEffect>
                                  </p:childTnLst>
                                </p:cTn>
                              </p:par>
                              <p:par>
                                <p:cTn id="83" presetID="0" presetClass="entr" presetSubtype="0" accel="20000" decel="30000" fill="hold" grpId="1" nodeType="withEffect">
                                  <p:stCondLst>
                                    <p:cond delay="0"/>
                                  </p:stCondLst>
                                  <p:childTnLst>
                                    <p:set>
                                      <p:cBhvr>
                                        <p:cTn id="84" dur="1" fill="hold">
                                          <p:stCondLst>
                                            <p:cond delay="449"/>
                                          </p:stCondLst>
                                        </p:cTn>
                                        <p:tgtEl>
                                          <p:spTgt spid="37"/>
                                        </p:tgtEl>
                                        <p:attrNameLst>
                                          <p:attrName>style.visibility</p:attrName>
                                        </p:attrNameLst>
                                      </p:cBhvr>
                                      <p:to>
                                        <p:strVal val="visible"/>
                                      </p:to>
                                    </p:set>
                                    <p:animMotion origin="layout" path="M 0 0.01111111 L 0 0 E" pathEditMode="relative">
                                      <p:cBhvr from="" to="">
                                        <p:cTn id="85" dur="450" fill="hold">
                                          <p:stCondLst>
                                            <p:cond delay="0"/>
                                          </p:stCondLst>
                                        </p:cTn>
                                        <p:tgtEl>
                                          <p:spTgt spid="37"/>
                                        </p:tgtEl>
                                        <p:attrNameLst>
                                          <p:attrName>ppt_x</p:attrName>
                                          <p:attrName>ppt_y</p:attrName>
                                        </p:attrNameLst>
                                      </p:cBhvr>
                                    </p:animMotion>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14"/>
                                        </p:tgtEl>
                                        <p:attrNameLst>
                                          <p:attrName>style.visibility</p:attrName>
                                        </p:attrNameLst>
                                      </p:cBhvr>
                                      <p:to>
                                        <p:strVal val="visible"/>
                                      </p:to>
                                    </p:set>
                                    <p:animEffect transition="in" filter="fade">
                                      <p:cBhvr>
                                        <p:cTn id="90" dur="320"/>
                                        <p:tgtEl>
                                          <p:spTgt spid="14"/>
                                        </p:tgtEl>
                                      </p:cBhvr>
                                    </p:animEffect>
                                  </p:childTnLst>
                                </p:cTn>
                              </p:par>
                              <p:par>
                                <p:cTn id="91" presetID="0" presetClass="entr" presetSubtype="0" accel="20000" decel="30000" fill="hold" nodeType="withEffect">
                                  <p:stCondLst>
                                    <p:cond delay="0"/>
                                  </p:stCondLst>
                                  <p:childTnLst>
                                    <p:set>
                                      <p:cBhvr>
                                        <p:cTn id="92" dur="1" fill="hold">
                                          <p:stCondLst>
                                            <p:cond delay="449"/>
                                          </p:stCondLst>
                                        </p:cTn>
                                        <p:tgtEl>
                                          <p:spTgt spid="14"/>
                                        </p:tgtEl>
                                        <p:attrNameLst>
                                          <p:attrName>style.visibility</p:attrName>
                                        </p:attrNameLst>
                                      </p:cBhvr>
                                      <p:to>
                                        <p:strVal val="visible"/>
                                      </p:to>
                                    </p:set>
                                    <p:animMotion origin="layout" path="M 0 0.01111111 L 0 0 E" pathEditMode="relative">
                                      <p:cBhvr from="" to="">
                                        <p:cTn id="93" dur="450" fill="hold">
                                          <p:stCondLst>
                                            <p:cond delay="0"/>
                                          </p:stCondLst>
                                        </p:cTn>
                                        <p:tgtEl>
                                          <p:spTgt spid="14"/>
                                        </p:tgtEl>
                                        <p:attrNameLst>
                                          <p:attrName>ppt_x</p:attrName>
                                          <p:attrName>ppt_y</p:attrName>
                                        </p:attrNameLst>
                                      </p:cBhvr>
                                    </p:animMotion>
                                  </p:childTnLst>
                                </p:cTn>
                              </p:par>
                              <p:par>
                                <p:cTn id="94" presetID="10" presetClass="entr" presetSubtype="0" fill="hold" nodeType="with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fade">
                                      <p:cBhvr>
                                        <p:cTn id="96" dur="320"/>
                                        <p:tgtEl>
                                          <p:spTgt spid="15"/>
                                        </p:tgtEl>
                                      </p:cBhvr>
                                    </p:animEffect>
                                  </p:childTnLst>
                                </p:cTn>
                              </p:par>
                              <p:par>
                                <p:cTn id="97" presetID="0" presetClass="entr" presetSubtype="0" accel="20000" decel="30000" fill="hold" nodeType="withEffect">
                                  <p:stCondLst>
                                    <p:cond delay="0"/>
                                  </p:stCondLst>
                                  <p:childTnLst>
                                    <p:set>
                                      <p:cBhvr>
                                        <p:cTn id="98" dur="1" fill="hold">
                                          <p:stCondLst>
                                            <p:cond delay="449"/>
                                          </p:stCondLst>
                                        </p:cTn>
                                        <p:tgtEl>
                                          <p:spTgt spid="15"/>
                                        </p:tgtEl>
                                        <p:attrNameLst>
                                          <p:attrName>style.visibility</p:attrName>
                                        </p:attrNameLst>
                                      </p:cBhvr>
                                      <p:to>
                                        <p:strVal val="visible"/>
                                      </p:to>
                                    </p:set>
                                    <p:animMotion origin="layout" path="M 0 0.01111111 L 0 0 E" pathEditMode="relative">
                                      <p:cBhvr from="" to="">
                                        <p:cTn id="99" dur="450" fill="hold">
                                          <p:stCondLst>
                                            <p:cond delay="0"/>
                                          </p:stCondLst>
                                        </p:cTn>
                                        <p:tgtEl>
                                          <p:spTgt spid="15"/>
                                        </p:tgtEl>
                                        <p:attrNameLst>
                                          <p:attrName>ppt_x</p:attrName>
                                          <p:attrName>ppt_y</p:attrName>
                                        </p:attrNameLst>
                                      </p:cBhvr>
                                    </p:animMotion>
                                  </p:childTnLst>
                                </p:cTn>
                              </p:par>
                              <p:par>
                                <p:cTn id="100" presetID="10" presetClass="entr" presetSubtype="0" fill="hold" nodeType="withEffect">
                                  <p:stCondLst>
                                    <p:cond delay="0"/>
                                  </p:stCondLst>
                                  <p:childTnLst>
                                    <p:set>
                                      <p:cBhvr>
                                        <p:cTn id="101" dur="1" fill="hold">
                                          <p:stCondLst>
                                            <p:cond delay="0"/>
                                          </p:stCondLst>
                                        </p:cTn>
                                        <p:tgtEl>
                                          <p:spTgt spid="16"/>
                                        </p:tgtEl>
                                        <p:attrNameLst>
                                          <p:attrName>style.visibility</p:attrName>
                                        </p:attrNameLst>
                                      </p:cBhvr>
                                      <p:to>
                                        <p:strVal val="visible"/>
                                      </p:to>
                                    </p:set>
                                    <p:animEffect transition="in" filter="fade">
                                      <p:cBhvr>
                                        <p:cTn id="102" dur="320"/>
                                        <p:tgtEl>
                                          <p:spTgt spid="16"/>
                                        </p:tgtEl>
                                      </p:cBhvr>
                                    </p:animEffect>
                                  </p:childTnLst>
                                </p:cTn>
                              </p:par>
                              <p:par>
                                <p:cTn id="103" presetID="0" presetClass="entr" presetSubtype="0" accel="20000" decel="30000" fill="hold" nodeType="withEffect">
                                  <p:stCondLst>
                                    <p:cond delay="0"/>
                                  </p:stCondLst>
                                  <p:childTnLst>
                                    <p:set>
                                      <p:cBhvr>
                                        <p:cTn id="104" dur="1" fill="hold">
                                          <p:stCondLst>
                                            <p:cond delay="449"/>
                                          </p:stCondLst>
                                        </p:cTn>
                                        <p:tgtEl>
                                          <p:spTgt spid="16"/>
                                        </p:tgtEl>
                                        <p:attrNameLst>
                                          <p:attrName>style.visibility</p:attrName>
                                        </p:attrNameLst>
                                      </p:cBhvr>
                                      <p:to>
                                        <p:strVal val="visible"/>
                                      </p:to>
                                    </p:set>
                                    <p:animMotion origin="layout" path="M 0 0.01111111 L 0 0 E" pathEditMode="relative">
                                      <p:cBhvr from="" to="">
                                        <p:cTn id="105" dur="450" fill="hold">
                                          <p:stCondLst>
                                            <p:cond delay="0"/>
                                          </p:stCondLst>
                                        </p:cTn>
                                        <p:tgtEl>
                                          <p:spTgt spid="16"/>
                                        </p:tgtEl>
                                        <p:attrNameLst>
                                          <p:attrName>ppt_x</p:attrName>
                                          <p:attrName>ppt_y</p:attrName>
                                        </p:attrNameLst>
                                      </p:cBhvr>
                                    </p:animMotion>
                                  </p:childTnLst>
                                </p:cTn>
                              </p:par>
                              <p:par>
                                <p:cTn id="106" presetID="10" presetClass="entr" presetSubtype="0" fill="hold" nodeType="withEffect">
                                  <p:stCondLst>
                                    <p:cond delay="0"/>
                                  </p:stCondLst>
                                  <p:childTnLst>
                                    <p:set>
                                      <p:cBhvr>
                                        <p:cTn id="107" dur="1" fill="hold">
                                          <p:stCondLst>
                                            <p:cond delay="0"/>
                                          </p:stCondLst>
                                        </p:cTn>
                                        <p:tgtEl>
                                          <p:spTgt spid="17"/>
                                        </p:tgtEl>
                                        <p:attrNameLst>
                                          <p:attrName>style.visibility</p:attrName>
                                        </p:attrNameLst>
                                      </p:cBhvr>
                                      <p:to>
                                        <p:strVal val="visible"/>
                                      </p:to>
                                    </p:set>
                                    <p:animEffect transition="in" filter="fade">
                                      <p:cBhvr>
                                        <p:cTn id="108" dur="320"/>
                                        <p:tgtEl>
                                          <p:spTgt spid="17"/>
                                        </p:tgtEl>
                                      </p:cBhvr>
                                    </p:animEffect>
                                  </p:childTnLst>
                                </p:cTn>
                              </p:par>
                              <p:par>
                                <p:cTn id="109" presetID="0" presetClass="entr" presetSubtype="0" accel="20000" decel="30000" fill="hold" nodeType="withEffect">
                                  <p:stCondLst>
                                    <p:cond delay="0"/>
                                  </p:stCondLst>
                                  <p:childTnLst>
                                    <p:set>
                                      <p:cBhvr>
                                        <p:cTn id="110" dur="1" fill="hold">
                                          <p:stCondLst>
                                            <p:cond delay="449"/>
                                          </p:stCondLst>
                                        </p:cTn>
                                        <p:tgtEl>
                                          <p:spTgt spid="17"/>
                                        </p:tgtEl>
                                        <p:attrNameLst>
                                          <p:attrName>style.visibility</p:attrName>
                                        </p:attrNameLst>
                                      </p:cBhvr>
                                      <p:to>
                                        <p:strVal val="visible"/>
                                      </p:to>
                                    </p:set>
                                    <p:animMotion origin="layout" path="M 0 0.01111111 L 0 0 E" pathEditMode="relative">
                                      <p:cBhvr from="" to="">
                                        <p:cTn id="111" dur="450" fill="hold">
                                          <p:stCondLst>
                                            <p:cond delay="0"/>
                                          </p:stCondLst>
                                        </p:cTn>
                                        <p:tgtEl>
                                          <p:spTgt spid="17"/>
                                        </p:tgtEl>
                                        <p:attrNameLst>
                                          <p:attrName>ppt_x</p:attrName>
                                          <p:attrName>ppt_y</p:attrName>
                                        </p:attrNameLst>
                                      </p:cBhvr>
                                    </p:animMotion>
                                  </p:childTnLst>
                                </p:cTn>
                              </p:par>
                              <p:par>
                                <p:cTn id="112" presetID="10" presetClass="entr" presetSubtype="0" fill="hold" grpId="0" nodeType="withEffect">
                                  <p:stCondLst>
                                    <p:cond delay="0"/>
                                  </p:stCondLst>
                                  <p:childTnLst>
                                    <p:set>
                                      <p:cBhvr>
                                        <p:cTn id="113" dur="1" fill="hold">
                                          <p:stCondLst>
                                            <p:cond delay="0"/>
                                          </p:stCondLst>
                                        </p:cTn>
                                        <p:tgtEl>
                                          <p:spTgt spid="18"/>
                                        </p:tgtEl>
                                        <p:attrNameLst>
                                          <p:attrName>style.visibility</p:attrName>
                                        </p:attrNameLst>
                                      </p:cBhvr>
                                      <p:to>
                                        <p:strVal val="visible"/>
                                      </p:to>
                                    </p:set>
                                    <p:animEffect transition="in" filter="fade">
                                      <p:cBhvr>
                                        <p:cTn id="114" dur="320"/>
                                        <p:tgtEl>
                                          <p:spTgt spid="18"/>
                                        </p:tgtEl>
                                      </p:cBhvr>
                                    </p:animEffect>
                                  </p:childTnLst>
                                </p:cTn>
                              </p:par>
                              <p:par>
                                <p:cTn id="115" presetID="0" presetClass="entr" presetSubtype="0" accel="20000" decel="30000" fill="hold" grpId="1" nodeType="withEffect">
                                  <p:stCondLst>
                                    <p:cond delay="0"/>
                                  </p:stCondLst>
                                  <p:childTnLst>
                                    <p:set>
                                      <p:cBhvr>
                                        <p:cTn id="116" dur="1" fill="hold">
                                          <p:stCondLst>
                                            <p:cond delay="449"/>
                                          </p:stCondLst>
                                        </p:cTn>
                                        <p:tgtEl>
                                          <p:spTgt spid="18"/>
                                        </p:tgtEl>
                                        <p:attrNameLst>
                                          <p:attrName>style.visibility</p:attrName>
                                        </p:attrNameLst>
                                      </p:cBhvr>
                                      <p:to>
                                        <p:strVal val="visible"/>
                                      </p:to>
                                    </p:set>
                                    <p:animMotion origin="layout" path="M 0 0.01111111 L 0 0 E" pathEditMode="relative">
                                      <p:cBhvr from="" to="">
                                        <p:cTn id="117" dur="450" fill="hold">
                                          <p:stCondLst>
                                            <p:cond delay="0"/>
                                          </p:stCondLst>
                                        </p:cTn>
                                        <p:tgtEl>
                                          <p:spTgt spid="18"/>
                                        </p:tgtEl>
                                        <p:attrNameLst>
                                          <p:attrName>ppt_x</p:attrName>
                                          <p:attrName>ppt_y</p:attrName>
                                        </p:attrNameLst>
                                      </p:cBhvr>
                                    </p:animMotion>
                                  </p:childTnLst>
                                </p:cTn>
                              </p:par>
                              <p:par>
                                <p:cTn id="118" presetID="10" presetClass="entr" presetSubtype="0" fill="hold" grpId="0" nodeType="withEffect">
                                  <p:stCondLst>
                                    <p:cond delay="0"/>
                                  </p:stCondLst>
                                  <p:childTnLst>
                                    <p:set>
                                      <p:cBhvr>
                                        <p:cTn id="119" dur="1" fill="hold">
                                          <p:stCondLst>
                                            <p:cond delay="0"/>
                                          </p:stCondLst>
                                        </p:cTn>
                                        <p:tgtEl>
                                          <p:spTgt spid="19"/>
                                        </p:tgtEl>
                                        <p:attrNameLst>
                                          <p:attrName>style.visibility</p:attrName>
                                        </p:attrNameLst>
                                      </p:cBhvr>
                                      <p:to>
                                        <p:strVal val="visible"/>
                                      </p:to>
                                    </p:set>
                                    <p:animEffect transition="in" filter="fade">
                                      <p:cBhvr>
                                        <p:cTn id="120" dur="320"/>
                                        <p:tgtEl>
                                          <p:spTgt spid="19"/>
                                        </p:tgtEl>
                                      </p:cBhvr>
                                    </p:animEffect>
                                  </p:childTnLst>
                                </p:cTn>
                              </p:par>
                              <p:par>
                                <p:cTn id="121" presetID="0" presetClass="entr" presetSubtype="0" accel="20000" decel="30000" fill="hold" grpId="1" nodeType="withEffect">
                                  <p:stCondLst>
                                    <p:cond delay="0"/>
                                  </p:stCondLst>
                                  <p:childTnLst>
                                    <p:set>
                                      <p:cBhvr>
                                        <p:cTn id="122" dur="1" fill="hold">
                                          <p:stCondLst>
                                            <p:cond delay="449"/>
                                          </p:stCondLst>
                                        </p:cTn>
                                        <p:tgtEl>
                                          <p:spTgt spid="19"/>
                                        </p:tgtEl>
                                        <p:attrNameLst>
                                          <p:attrName>style.visibility</p:attrName>
                                        </p:attrNameLst>
                                      </p:cBhvr>
                                      <p:to>
                                        <p:strVal val="visible"/>
                                      </p:to>
                                    </p:set>
                                    <p:animMotion origin="layout" path="M 0 0.01111111 L 0 0 E" pathEditMode="relative">
                                      <p:cBhvr from="" to="">
                                        <p:cTn id="123" dur="450" fill="hold">
                                          <p:stCondLst>
                                            <p:cond delay="0"/>
                                          </p:stCondLst>
                                        </p:cTn>
                                        <p:tgtEl>
                                          <p:spTgt spid="19"/>
                                        </p:tgtEl>
                                        <p:attrNameLst>
                                          <p:attrName>ppt_x</p:attrName>
                                          <p:attrName>ppt_y</p:attrName>
                                        </p:attrNameLst>
                                      </p:cBhvr>
                                    </p:animMotion>
                                  </p:childTnLst>
                                </p:cTn>
                              </p:par>
                              <p:par>
                                <p:cTn id="124" presetID="10" presetClass="entr" presetSubtype="0" fill="hold" grpId="0" nodeType="withEffect">
                                  <p:stCondLst>
                                    <p:cond delay="0"/>
                                  </p:stCondLst>
                                  <p:childTnLst>
                                    <p:set>
                                      <p:cBhvr>
                                        <p:cTn id="125" dur="1" fill="hold">
                                          <p:stCondLst>
                                            <p:cond delay="0"/>
                                          </p:stCondLst>
                                        </p:cTn>
                                        <p:tgtEl>
                                          <p:spTgt spid="38"/>
                                        </p:tgtEl>
                                        <p:attrNameLst>
                                          <p:attrName>style.visibility</p:attrName>
                                        </p:attrNameLst>
                                      </p:cBhvr>
                                      <p:to>
                                        <p:strVal val="visible"/>
                                      </p:to>
                                    </p:set>
                                    <p:animEffect transition="in" filter="fade">
                                      <p:cBhvr>
                                        <p:cTn id="126" dur="320"/>
                                        <p:tgtEl>
                                          <p:spTgt spid="38"/>
                                        </p:tgtEl>
                                      </p:cBhvr>
                                    </p:animEffect>
                                  </p:childTnLst>
                                </p:cTn>
                              </p:par>
                              <p:par>
                                <p:cTn id="127" presetID="0" presetClass="entr" presetSubtype="0" accel="20000" decel="30000" fill="hold" grpId="1" nodeType="withEffect">
                                  <p:stCondLst>
                                    <p:cond delay="0"/>
                                  </p:stCondLst>
                                  <p:childTnLst>
                                    <p:set>
                                      <p:cBhvr>
                                        <p:cTn id="128" dur="1" fill="hold">
                                          <p:stCondLst>
                                            <p:cond delay="449"/>
                                          </p:stCondLst>
                                        </p:cTn>
                                        <p:tgtEl>
                                          <p:spTgt spid="38"/>
                                        </p:tgtEl>
                                        <p:attrNameLst>
                                          <p:attrName>style.visibility</p:attrName>
                                        </p:attrNameLst>
                                      </p:cBhvr>
                                      <p:to>
                                        <p:strVal val="visible"/>
                                      </p:to>
                                    </p:set>
                                    <p:animMotion origin="layout" path="M 0 0.01111111 L 0 0 E" pathEditMode="relative">
                                      <p:cBhvr from="" to="">
                                        <p:cTn id="129" dur="450" fill="hold">
                                          <p:stCondLst>
                                            <p:cond delay="0"/>
                                          </p:stCondLst>
                                        </p:cTn>
                                        <p:tgtEl>
                                          <p:spTgt spid="38"/>
                                        </p:tgtEl>
                                        <p:attrNameLst>
                                          <p:attrName>ppt_x</p:attrName>
                                          <p:attrName>ppt_y</p:attrName>
                                        </p:attrNameLst>
                                      </p:cBhvr>
                                    </p:animMotion>
                                  </p:childTnLst>
                                </p:cTn>
                              </p:par>
                            </p:childTnLst>
                          </p:cTn>
                        </p:par>
                        <p:par>
                          <p:cTn id="130" fill="hold">
                            <p:stCondLst>
                              <p:cond delay="450"/>
                            </p:stCondLst>
                            <p:childTnLst>
                              <p:par>
                                <p:cTn id="131" presetID="10" presetClass="entr" presetSubtype="0" fill="hold" nodeType="afterEffect">
                                  <p:stCondLst>
                                    <p:cond delay="0"/>
                                  </p:stCondLst>
                                  <p:childTnLst>
                                    <p:set>
                                      <p:cBhvr>
                                        <p:cTn id="132" dur="1" fill="hold">
                                          <p:stCondLst>
                                            <p:cond delay="0"/>
                                          </p:stCondLst>
                                        </p:cTn>
                                        <p:tgtEl>
                                          <p:spTgt spid="20"/>
                                        </p:tgtEl>
                                        <p:attrNameLst>
                                          <p:attrName>style.visibility</p:attrName>
                                        </p:attrNameLst>
                                      </p:cBhvr>
                                      <p:to>
                                        <p:strVal val="visible"/>
                                      </p:to>
                                    </p:set>
                                    <p:animEffect transition="in" filter="fade">
                                      <p:cBhvr>
                                        <p:cTn id="133" dur="320"/>
                                        <p:tgtEl>
                                          <p:spTgt spid="20"/>
                                        </p:tgtEl>
                                      </p:cBhvr>
                                    </p:animEffect>
                                  </p:childTnLst>
                                </p:cTn>
                              </p:par>
                              <p:par>
                                <p:cTn id="134" presetID="0" presetClass="entr" presetSubtype="0" accel="20000" decel="30000" fill="hold" nodeType="withEffect">
                                  <p:stCondLst>
                                    <p:cond delay="0"/>
                                  </p:stCondLst>
                                  <p:childTnLst>
                                    <p:set>
                                      <p:cBhvr>
                                        <p:cTn id="135" dur="1" fill="hold">
                                          <p:stCondLst>
                                            <p:cond delay="449"/>
                                          </p:stCondLst>
                                        </p:cTn>
                                        <p:tgtEl>
                                          <p:spTgt spid="20"/>
                                        </p:tgtEl>
                                        <p:attrNameLst>
                                          <p:attrName>style.visibility</p:attrName>
                                        </p:attrNameLst>
                                      </p:cBhvr>
                                      <p:to>
                                        <p:strVal val="visible"/>
                                      </p:to>
                                    </p:set>
                                    <p:animMotion origin="layout" path="M 0 0.01111111 L 0 0 E" pathEditMode="relative">
                                      <p:cBhvr from="" to="">
                                        <p:cTn id="136" dur="450" fill="hold">
                                          <p:stCondLst>
                                            <p:cond delay="0"/>
                                          </p:stCondLst>
                                        </p:cTn>
                                        <p:tgtEl>
                                          <p:spTgt spid="20"/>
                                        </p:tgtEl>
                                        <p:attrNameLst>
                                          <p:attrName>ppt_x</p:attrName>
                                          <p:attrName>ppt_y</p:attrName>
                                        </p:attrNameLst>
                                      </p:cBhvr>
                                    </p:animMotion>
                                  </p:childTnLst>
                                </p:cTn>
                              </p:par>
                              <p:par>
                                <p:cTn id="137" presetID="10" presetClass="entr" presetSubtype="0" fill="hold" nodeType="withEffect">
                                  <p:stCondLst>
                                    <p:cond delay="0"/>
                                  </p:stCondLst>
                                  <p:childTnLst>
                                    <p:set>
                                      <p:cBhvr>
                                        <p:cTn id="138" dur="1" fill="hold">
                                          <p:stCondLst>
                                            <p:cond delay="0"/>
                                          </p:stCondLst>
                                        </p:cTn>
                                        <p:tgtEl>
                                          <p:spTgt spid="21"/>
                                        </p:tgtEl>
                                        <p:attrNameLst>
                                          <p:attrName>style.visibility</p:attrName>
                                        </p:attrNameLst>
                                      </p:cBhvr>
                                      <p:to>
                                        <p:strVal val="visible"/>
                                      </p:to>
                                    </p:set>
                                    <p:animEffect transition="in" filter="fade">
                                      <p:cBhvr>
                                        <p:cTn id="139" dur="320"/>
                                        <p:tgtEl>
                                          <p:spTgt spid="21"/>
                                        </p:tgtEl>
                                      </p:cBhvr>
                                    </p:animEffect>
                                  </p:childTnLst>
                                </p:cTn>
                              </p:par>
                              <p:par>
                                <p:cTn id="140" presetID="0" presetClass="entr" presetSubtype="0" accel="20000" decel="30000" fill="hold" nodeType="withEffect">
                                  <p:stCondLst>
                                    <p:cond delay="0"/>
                                  </p:stCondLst>
                                  <p:childTnLst>
                                    <p:set>
                                      <p:cBhvr>
                                        <p:cTn id="141" dur="1" fill="hold">
                                          <p:stCondLst>
                                            <p:cond delay="449"/>
                                          </p:stCondLst>
                                        </p:cTn>
                                        <p:tgtEl>
                                          <p:spTgt spid="21"/>
                                        </p:tgtEl>
                                        <p:attrNameLst>
                                          <p:attrName>style.visibility</p:attrName>
                                        </p:attrNameLst>
                                      </p:cBhvr>
                                      <p:to>
                                        <p:strVal val="visible"/>
                                      </p:to>
                                    </p:set>
                                    <p:animMotion origin="layout" path="M 0 0.01111111 L 0 0 E" pathEditMode="relative">
                                      <p:cBhvr from="" to="">
                                        <p:cTn id="142" dur="450" fill="hold">
                                          <p:stCondLst>
                                            <p:cond delay="0"/>
                                          </p:stCondLst>
                                        </p:cTn>
                                        <p:tgtEl>
                                          <p:spTgt spid="21"/>
                                        </p:tgtEl>
                                        <p:attrNameLst>
                                          <p:attrName>ppt_x</p:attrName>
                                          <p:attrName>ppt_y</p:attrName>
                                        </p:attrNameLst>
                                      </p:cBhvr>
                                    </p:animMotion>
                                  </p:childTnLst>
                                </p:cTn>
                              </p:par>
                              <p:par>
                                <p:cTn id="143" presetID="10" presetClass="entr" presetSubtype="0" fill="hold" nodeType="withEffect">
                                  <p:stCondLst>
                                    <p:cond delay="0"/>
                                  </p:stCondLst>
                                  <p:childTnLst>
                                    <p:set>
                                      <p:cBhvr>
                                        <p:cTn id="144" dur="1" fill="hold">
                                          <p:stCondLst>
                                            <p:cond delay="0"/>
                                          </p:stCondLst>
                                        </p:cTn>
                                        <p:tgtEl>
                                          <p:spTgt spid="22"/>
                                        </p:tgtEl>
                                        <p:attrNameLst>
                                          <p:attrName>style.visibility</p:attrName>
                                        </p:attrNameLst>
                                      </p:cBhvr>
                                      <p:to>
                                        <p:strVal val="visible"/>
                                      </p:to>
                                    </p:set>
                                    <p:animEffect transition="in" filter="fade">
                                      <p:cBhvr>
                                        <p:cTn id="145" dur="320"/>
                                        <p:tgtEl>
                                          <p:spTgt spid="22"/>
                                        </p:tgtEl>
                                      </p:cBhvr>
                                    </p:animEffect>
                                  </p:childTnLst>
                                </p:cTn>
                              </p:par>
                              <p:par>
                                <p:cTn id="146" presetID="0" presetClass="entr" presetSubtype="0" accel="20000" decel="30000" fill="hold" nodeType="withEffect">
                                  <p:stCondLst>
                                    <p:cond delay="0"/>
                                  </p:stCondLst>
                                  <p:childTnLst>
                                    <p:set>
                                      <p:cBhvr>
                                        <p:cTn id="147" dur="1" fill="hold">
                                          <p:stCondLst>
                                            <p:cond delay="449"/>
                                          </p:stCondLst>
                                        </p:cTn>
                                        <p:tgtEl>
                                          <p:spTgt spid="22"/>
                                        </p:tgtEl>
                                        <p:attrNameLst>
                                          <p:attrName>style.visibility</p:attrName>
                                        </p:attrNameLst>
                                      </p:cBhvr>
                                      <p:to>
                                        <p:strVal val="visible"/>
                                      </p:to>
                                    </p:set>
                                    <p:animMotion origin="layout" path="M 0 0.01111111 L 0 0 E" pathEditMode="relative">
                                      <p:cBhvr from="" to="">
                                        <p:cTn id="148" dur="450" fill="hold">
                                          <p:stCondLst>
                                            <p:cond delay="0"/>
                                          </p:stCondLst>
                                        </p:cTn>
                                        <p:tgtEl>
                                          <p:spTgt spid="22"/>
                                        </p:tgtEl>
                                        <p:attrNameLst>
                                          <p:attrName>ppt_x</p:attrName>
                                          <p:attrName>ppt_y</p:attrName>
                                        </p:attrNameLst>
                                      </p:cBhvr>
                                    </p:animMotion>
                                  </p:childTnLst>
                                </p:cTn>
                              </p:par>
                              <p:par>
                                <p:cTn id="149" presetID="10" presetClass="entr" presetSubtype="0" fill="hold" nodeType="withEffect">
                                  <p:stCondLst>
                                    <p:cond delay="0"/>
                                  </p:stCondLst>
                                  <p:childTnLst>
                                    <p:set>
                                      <p:cBhvr>
                                        <p:cTn id="150" dur="1" fill="hold">
                                          <p:stCondLst>
                                            <p:cond delay="0"/>
                                          </p:stCondLst>
                                        </p:cTn>
                                        <p:tgtEl>
                                          <p:spTgt spid="23"/>
                                        </p:tgtEl>
                                        <p:attrNameLst>
                                          <p:attrName>style.visibility</p:attrName>
                                        </p:attrNameLst>
                                      </p:cBhvr>
                                      <p:to>
                                        <p:strVal val="visible"/>
                                      </p:to>
                                    </p:set>
                                    <p:animEffect transition="in" filter="fade">
                                      <p:cBhvr>
                                        <p:cTn id="151" dur="320"/>
                                        <p:tgtEl>
                                          <p:spTgt spid="23"/>
                                        </p:tgtEl>
                                      </p:cBhvr>
                                    </p:animEffect>
                                  </p:childTnLst>
                                </p:cTn>
                              </p:par>
                              <p:par>
                                <p:cTn id="152" presetID="0" presetClass="entr" presetSubtype="0" accel="20000" decel="30000" fill="hold" nodeType="withEffect">
                                  <p:stCondLst>
                                    <p:cond delay="0"/>
                                  </p:stCondLst>
                                  <p:childTnLst>
                                    <p:set>
                                      <p:cBhvr>
                                        <p:cTn id="153" dur="1" fill="hold">
                                          <p:stCondLst>
                                            <p:cond delay="449"/>
                                          </p:stCondLst>
                                        </p:cTn>
                                        <p:tgtEl>
                                          <p:spTgt spid="23"/>
                                        </p:tgtEl>
                                        <p:attrNameLst>
                                          <p:attrName>style.visibility</p:attrName>
                                        </p:attrNameLst>
                                      </p:cBhvr>
                                      <p:to>
                                        <p:strVal val="visible"/>
                                      </p:to>
                                    </p:set>
                                    <p:animMotion origin="layout" path="M 0 0.01111111 L 0 0 E" pathEditMode="relative">
                                      <p:cBhvr from="" to="">
                                        <p:cTn id="154" dur="450" fill="hold">
                                          <p:stCondLst>
                                            <p:cond delay="0"/>
                                          </p:stCondLst>
                                        </p:cTn>
                                        <p:tgtEl>
                                          <p:spTgt spid="23"/>
                                        </p:tgtEl>
                                        <p:attrNameLst>
                                          <p:attrName>ppt_x</p:attrName>
                                          <p:attrName>ppt_y</p:attrName>
                                        </p:attrNameLst>
                                      </p:cBhvr>
                                    </p:animMotion>
                                  </p:childTnLst>
                                </p:cTn>
                              </p:par>
                              <p:par>
                                <p:cTn id="155" presetID="10" presetClass="entr" presetSubtype="0" fill="hold" grpId="0" nodeType="withEffect">
                                  <p:stCondLst>
                                    <p:cond delay="0"/>
                                  </p:stCondLst>
                                  <p:childTnLst>
                                    <p:set>
                                      <p:cBhvr>
                                        <p:cTn id="156" dur="1" fill="hold">
                                          <p:stCondLst>
                                            <p:cond delay="0"/>
                                          </p:stCondLst>
                                        </p:cTn>
                                        <p:tgtEl>
                                          <p:spTgt spid="24"/>
                                        </p:tgtEl>
                                        <p:attrNameLst>
                                          <p:attrName>style.visibility</p:attrName>
                                        </p:attrNameLst>
                                      </p:cBhvr>
                                      <p:to>
                                        <p:strVal val="visible"/>
                                      </p:to>
                                    </p:set>
                                    <p:animEffect transition="in" filter="fade">
                                      <p:cBhvr>
                                        <p:cTn id="157" dur="320"/>
                                        <p:tgtEl>
                                          <p:spTgt spid="24"/>
                                        </p:tgtEl>
                                      </p:cBhvr>
                                    </p:animEffect>
                                  </p:childTnLst>
                                </p:cTn>
                              </p:par>
                              <p:par>
                                <p:cTn id="158" presetID="0" presetClass="entr" presetSubtype="0" accel="20000" decel="30000" fill="hold" grpId="1" nodeType="withEffect">
                                  <p:stCondLst>
                                    <p:cond delay="0"/>
                                  </p:stCondLst>
                                  <p:childTnLst>
                                    <p:set>
                                      <p:cBhvr>
                                        <p:cTn id="159" dur="1" fill="hold">
                                          <p:stCondLst>
                                            <p:cond delay="449"/>
                                          </p:stCondLst>
                                        </p:cTn>
                                        <p:tgtEl>
                                          <p:spTgt spid="24"/>
                                        </p:tgtEl>
                                        <p:attrNameLst>
                                          <p:attrName>style.visibility</p:attrName>
                                        </p:attrNameLst>
                                      </p:cBhvr>
                                      <p:to>
                                        <p:strVal val="visible"/>
                                      </p:to>
                                    </p:set>
                                    <p:animMotion origin="layout" path="M 0 0.01111111 L 0 0 E" pathEditMode="relative">
                                      <p:cBhvr from="" to="">
                                        <p:cTn id="160" dur="450" fill="hold">
                                          <p:stCondLst>
                                            <p:cond delay="0"/>
                                          </p:stCondLst>
                                        </p:cTn>
                                        <p:tgtEl>
                                          <p:spTgt spid="24"/>
                                        </p:tgtEl>
                                        <p:attrNameLst>
                                          <p:attrName>ppt_x</p:attrName>
                                          <p:attrName>ppt_y</p:attrName>
                                        </p:attrNameLst>
                                      </p:cBhvr>
                                    </p:animMotion>
                                  </p:childTnLst>
                                </p:cTn>
                              </p:par>
                              <p:par>
                                <p:cTn id="161" presetID="10" presetClass="entr" presetSubtype="0" fill="hold" grpId="0" nodeType="withEffect">
                                  <p:stCondLst>
                                    <p:cond delay="0"/>
                                  </p:stCondLst>
                                  <p:childTnLst>
                                    <p:set>
                                      <p:cBhvr>
                                        <p:cTn id="162" dur="1" fill="hold">
                                          <p:stCondLst>
                                            <p:cond delay="0"/>
                                          </p:stCondLst>
                                        </p:cTn>
                                        <p:tgtEl>
                                          <p:spTgt spid="25"/>
                                        </p:tgtEl>
                                        <p:attrNameLst>
                                          <p:attrName>style.visibility</p:attrName>
                                        </p:attrNameLst>
                                      </p:cBhvr>
                                      <p:to>
                                        <p:strVal val="visible"/>
                                      </p:to>
                                    </p:set>
                                    <p:animEffect transition="in" filter="fade">
                                      <p:cBhvr>
                                        <p:cTn id="163" dur="320"/>
                                        <p:tgtEl>
                                          <p:spTgt spid="25"/>
                                        </p:tgtEl>
                                      </p:cBhvr>
                                    </p:animEffect>
                                  </p:childTnLst>
                                </p:cTn>
                              </p:par>
                              <p:par>
                                <p:cTn id="164" presetID="0" presetClass="entr" presetSubtype="0" accel="20000" decel="30000" fill="hold" grpId="1" nodeType="withEffect">
                                  <p:stCondLst>
                                    <p:cond delay="0"/>
                                  </p:stCondLst>
                                  <p:childTnLst>
                                    <p:set>
                                      <p:cBhvr>
                                        <p:cTn id="165" dur="1" fill="hold">
                                          <p:stCondLst>
                                            <p:cond delay="449"/>
                                          </p:stCondLst>
                                        </p:cTn>
                                        <p:tgtEl>
                                          <p:spTgt spid="25"/>
                                        </p:tgtEl>
                                        <p:attrNameLst>
                                          <p:attrName>style.visibility</p:attrName>
                                        </p:attrNameLst>
                                      </p:cBhvr>
                                      <p:to>
                                        <p:strVal val="visible"/>
                                      </p:to>
                                    </p:set>
                                    <p:animMotion origin="layout" path="M 0 0.01111111 L 0 0 E" pathEditMode="relative">
                                      <p:cBhvr from="" to="">
                                        <p:cTn id="166" dur="450" fill="hold">
                                          <p:stCondLst>
                                            <p:cond delay="0"/>
                                          </p:stCondLst>
                                        </p:cTn>
                                        <p:tgtEl>
                                          <p:spTgt spid="25"/>
                                        </p:tgtEl>
                                        <p:attrNameLst>
                                          <p:attrName>ppt_x</p:attrName>
                                          <p:attrName>ppt_y</p:attrName>
                                        </p:attrNameLst>
                                      </p:cBhvr>
                                    </p:animMotion>
                                  </p:childTnLst>
                                </p:cTn>
                              </p:par>
                              <p:par>
                                <p:cTn id="167" presetID="10" presetClass="entr" presetSubtype="0" fill="hold" grpId="0" nodeType="withEffect">
                                  <p:stCondLst>
                                    <p:cond delay="0"/>
                                  </p:stCondLst>
                                  <p:childTnLst>
                                    <p:set>
                                      <p:cBhvr>
                                        <p:cTn id="168" dur="1" fill="hold">
                                          <p:stCondLst>
                                            <p:cond delay="0"/>
                                          </p:stCondLst>
                                        </p:cTn>
                                        <p:tgtEl>
                                          <p:spTgt spid="39"/>
                                        </p:tgtEl>
                                        <p:attrNameLst>
                                          <p:attrName>style.visibility</p:attrName>
                                        </p:attrNameLst>
                                      </p:cBhvr>
                                      <p:to>
                                        <p:strVal val="visible"/>
                                      </p:to>
                                    </p:set>
                                    <p:animEffect transition="in" filter="fade">
                                      <p:cBhvr>
                                        <p:cTn id="169" dur="320"/>
                                        <p:tgtEl>
                                          <p:spTgt spid="39"/>
                                        </p:tgtEl>
                                      </p:cBhvr>
                                    </p:animEffect>
                                  </p:childTnLst>
                                </p:cTn>
                              </p:par>
                              <p:par>
                                <p:cTn id="170" presetID="0" presetClass="entr" presetSubtype="0" accel="20000" decel="30000" fill="hold" grpId="1" nodeType="withEffect">
                                  <p:stCondLst>
                                    <p:cond delay="0"/>
                                  </p:stCondLst>
                                  <p:childTnLst>
                                    <p:set>
                                      <p:cBhvr>
                                        <p:cTn id="171" dur="1" fill="hold">
                                          <p:stCondLst>
                                            <p:cond delay="449"/>
                                          </p:stCondLst>
                                        </p:cTn>
                                        <p:tgtEl>
                                          <p:spTgt spid="39"/>
                                        </p:tgtEl>
                                        <p:attrNameLst>
                                          <p:attrName>style.visibility</p:attrName>
                                        </p:attrNameLst>
                                      </p:cBhvr>
                                      <p:to>
                                        <p:strVal val="visible"/>
                                      </p:to>
                                    </p:set>
                                    <p:animMotion origin="layout" path="M 0 0.01111111 L 0 0 E" pathEditMode="relative">
                                      <p:cBhvr from="" to="">
                                        <p:cTn id="172" dur="450" fill="hold">
                                          <p:stCondLst>
                                            <p:cond delay="0"/>
                                          </p:stCondLst>
                                        </p:cTn>
                                        <p:tgtEl>
                                          <p:spTgt spid="39"/>
                                        </p:tgtEl>
                                        <p:attrNameLst>
                                          <p:attrName>ppt_x</p:attrName>
                                          <p:attrName>ppt_y</p:attrName>
                                        </p:attrNameLst>
                                      </p:cBhvr>
                                    </p:animMotion>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nodeType="clickEffect">
                                  <p:stCondLst>
                                    <p:cond delay="0"/>
                                  </p:stCondLst>
                                  <p:childTnLst>
                                    <p:set>
                                      <p:cBhvr>
                                        <p:cTn id="176" dur="1" fill="hold">
                                          <p:stCondLst>
                                            <p:cond delay="0"/>
                                          </p:stCondLst>
                                        </p:cTn>
                                        <p:tgtEl>
                                          <p:spTgt spid="26"/>
                                        </p:tgtEl>
                                        <p:attrNameLst>
                                          <p:attrName>style.visibility</p:attrName>
                                        </p:attrNameLst>
                                      </p:cBhvr>
                                      <p:to>
                                        <p:strVal val="visible"/>
                                      </p:to>
                                    </p:set>
                                    <p:animEffect transition="in" filter="fade">
                                      <p:cBhvr>
                                        <p:cTn id="177" dur="320"/>
                                        <p:tgtEl>
                                          <p:spTgt spid="26"/>
                                        </p:tgtEl>
                                      </p:cBhvr>
                                    </p:animEffect>
                                  </p:childTnLst>
                                </p:cTn>
                              </p:par>
                              <p:par>
                                <p:cTn id="178" presetID="0" presetClass="entr" presetSubtype="0" accel="20000" decel="30000" fill="hold" nodeType="withEffect">
                                  <p:stCondLst>
                                    <p:cond delay="0"/>
                                  </p:stCondLst>
                                  <p:childTnLst>
                                    <p:set>
                                      <p:cBhvr>
                                        <p:cTn id="179" dur="1" fill="hold">
                                          <p:stCondLst>
                                            <p:cond delay="449"/>
                                          </p:stCondLst>
                                        </p:cTn>
                                        <p:tgtEl>
                                          <p:spTgt spid="26"/>
                                        </p:tgtEl>
                                        <p:attrNameLst>
                                          <p:attrName>style.visibility</p:attrName>
                                        </p:attrNameLst>
                                      </p:cBhvr>
                                      <p:to>
                                        <p:strVal val="visible"/>
                                      </p:to>
                                    </p:set>
                                    <p:animMotion origin="layout" path="M 0 0.01111111 L 0 0 E" pathEditMode="relative">
                                      <p:cBhvr from="" to="">
                                        <p:cTn id="180" dur="450" fill="hold">
                                          <p:stCondLst>
                                            <p:cond delay="0"/>
                                          </p:stCondLst>
                                        </p:cTn>
                                        <p:tgtEl>
                                          <p:spTgt spid="26"/>
                                        </p:tgtEl>
                                        <p:attrNameLst>
                                          <p:attrName>ppt_x</p:attrName>
                                          <p:attrName>ppt_y</p:attrName>
                                        </p:attrNameLst>
                                      </p:cBhvr>
                                    </p:animMotion>
                                  </p:childTnLst>
                                </p:cTn>
                              </p:par>
                              <p:par>
                                <p:cTn id="181" presetID="10" presetClass="entr" presetSubtype="0" fill="hold" nodeType="withEffect">
                                  <p:stCondLst>
                                    <p:cond delay="0"/>
                                  </p:stCondLst>
                                  <p:childTnLst>
                                    <p:set>
                                      <p:cBhvr>
                                        <p:cTn id="182" dur="1" fill="hold">
                                          <p:stCondLst>
                                            <p:cond delay="0"/>
                                          </p:stCondLst>
                                        </p:cTn>
                                        <p:tgtEl>
                                          <p:spTgt spid="27"/>
                                        </p:tgtEl>
                                        <p:attrNameLst>
                                          <p:attrName>style.visibility</p:attrName>
                                        </p:attrNameLst>
                                      </p:cBhvr>
                                      <p:to>
                                        <p:strVal val="visible"/>
                                      </p:to>
                                    </p:set>
                                    <p:animEffect transition="in" filter="fade">
                                      <p:cBhvr>
                                        <p:cTn id="183" dur="320"/>
                                        <p:tgtEl>
                                          <p:spTgt spid="27"/>
                                        </p:tgtEl>
                                      </p:cBhvr>
                                    </p:animEffect>
                                  </p:childTnLst>
                                </p:cTn>
                              </p:par>
                              <p:par>
                                <p:cTn id="184" presetID="0" presetClass="entr" presetSubtype="0" accel="20000" decel="30000" fill="hold" nodeType="withEffect">
                                  <p:stCondLst>
                                    <p:cond delay="0"/>
                                  </p:stCondLst>
                                  <p:childTnLst>
                                    <p:set>
                                      <p:cBhvr>
                                        <p:cTn id="185" dur="1" fill="hold">
                                          <p:stCondLst>
                                            <p:cond delay="449"/>
                                          </p:stCondLst>
                                        </p:cTn>
                                        <p:tgtEl>
                                          <p:spTgt spid="27"/>
                                        </p:tgtEl>
                                        <p:attrNameLst>
                                          <p:attrName>style.visibility</p:attrName>
                                        </p:attrNameLst>
                                      </p:cBhvr>
                                      <p:to>
                                        <p:strVal val="visible"/>
                                      </p:to>
                                    </p:set>
                                    <p:animMotion origin="layout" path="M 0 0.01111111 L 0 0 E" pathEditMode="relative">
                                      <p:cBhvr from="" to="">
                                        <p:cTn id="186" dur="450" fill="hold">
                                          <p:stCondLst>
                                            <p:cond delay="0"/>
                                          </p:stCondLst>
                                        </p:cTn>
                                        <p:tgtEl>
                                          <p:spTgt spid="27"/>
                                        </p:tgtEl>
                                        <p:attrNameLst>
                                          <p:attrName>ppt_x</p:attrName>
                                          <p:attrName>ppt_y</p:attrName>
                                        </p:attrNameLst>
                                      </p:cBhvr>
                                    </p:animMotion>
                                  </p:childTnLst>
                                </p:cTn>
                              </p:par>
                              <p:par>
                                <p:cTn id="187" presetID="10" presetClass="entr" presetSubtype="0" fill="hold" nodeType="withEffect">
                                  <p:stCondLst>
                                    <p:cond delay="0"/>
                                  </p:stCondLst>
                                  <p:childTnLst>
                                    <p:set>
                                      <p:cBhvr>
                                        <p:cTn id="188" dur="1" fill="hold">
                                          <p:stCondLst>
                                            <p:cond delay="0"/>
                                          </p:stCondLst>
                                        </p:cTn>
                                        <p:tgtEl>
                                          <p:spTgt spid="28"/>
                                        </p:tgtEl>
                                        <p:attrNameLst>
                                          <p:attrName>style.visibility</p:attrName>
                                        </p:attrNameLst>
                                      </p:cBhvr>
                                      <p:to>
                                        <p:strVal val="visible"/>
                                      </p:to>
                                    </p:set>
                                    <p:animEffect transition="in" filter="fade">
                                      <p:cBhvr>
                                        <p:cTn id="189" dur="320"/>
                                        <p:tgtEl>
                                          <p:spTgt spid="28"/>
                                        </p:tgtEl>
                                      </p:cBhvr>
                                    </p:animEffect>
                                  </p:childTnLst>
                                </p:cTn>
                              </p:par>
                              <p:par>
                                <p:cTn id="190" presetID="0" presetClass="entr" presetSubtype="0" accel="20000" decel="30000" fill="hold" nodeType="withEffect">
                                  <p:stCondLst>
                                    <p:cond delay="0"/>
                                  </p:stCondLst>
                                  <p:childTnLst>
                                    <p:set>
                                      <p:cBhvr>
                                        <p:cTn id="191" dur="1" fill="hold">
                                          <p:stCondLst>
                                            <p:cond delay="449"/>
                                          </p:stCondLst>
                                        </p:cTn>
                                        <p:tgtEl>
                                          <p:spTgt spid="28"/>
                                        </p:tgtEl>
                                        <p:attrNameLst>
                                          <p:attrName>style.visibility</p:attrName>
                                        </p:attrNameLst>
                                      </p:cBhvr>
                                      <p:to>
                                        <p:strVal val="visible"/>
                                      </p:to>
                                    </p:set>
                                    <p:animMotion origin="layout" path="M 0 0.01111111 L 0 0 E" pathEditMode="relative">
                                      <p:cBhvr from="" to="">
                                        <p:cTn id="192" dur="450" fill="hold">
                                          <p:stCondLst>
                                            <p:cond delay="0"/>
                                          </p:stCondLst>
                                        </p:cTn>
                                        <p:tgtEl>
                                          <p:spTgt spid="28"/>
                                        </p:tgtEl>
                                        <p:attrNameLst>
                                          <p:attrName>ppt_x</p:attrName>
                                          <p:attrName>ppt_y</p:attrName>
                                        </p:attrNameLst>
                                      </p:cBhvr>
                                    </p:animMotion>
                                  </p:childTnLst>
                                </p:cTn>
                              </p:par>
                              <p:par>
                                <p:cTn id="193" presetID="10" presetClass="entr" presetSubtype="0" fill="hold" nodeType="withEffect">
                                  <p:stCondLst>
                                    <p:cond delay="0"/>
                                  </p:stCondLst>
                                  <p:childTnLst>
                                    <p:set>
                                      <p:cBhvr>
                                        <p:cTn id="194" dur="1" fill="hold">
                                          <p:stCondLst>
                                            <p:cond delay="0"/>
                                          </p:stCondLst>
                                        </p:cTn>
                                        <p:tgtEl>
                                          <p:spTgt spid="29"/>
                                        </p:tgtEl>
                                        <p:attrNameLst>
                                          <p:attrName>style.visibility</p:attrName>
                                        </p:attrNameLst>
                                      </p:cBhvr>
                                      <p:to>
                                        <p:strVal val="visible"/>
                                      </p:to>
                                    </p:set>
                                    <p:animEffect transition="in" filter="fade">
                                      <p:cBhvr>
                                        <p:cTn id="195" dur="320"/>
                                        <p:tgtEl>
                                          <p:spTgt spid="29"/>
                                        </p:tgtEl>
                                      </p:cBhvr>
                                    </p:animEffect>
                                  </p:childTnLst>
                                </p:cTn>
                              </p:par>
                              <p:par>
                                <p:cTn id="196" presetID="0" presetClass="entr" presetSubtype="0" accel="20000" decel="30000" fill="hold" nodeType="withEffect">
                                  <p:stCondLst>
                                    <p:cond delay="0"/>
                                  </p:stCondLst>
                                  <p:childTnLst>
                                    <p:set>
                                      <p:cBhvr>
                                        <p:cTn id="197" dur="1" fill="hold">
                                          <p:stCondLst>
                                            <p:cond delay="449"/>
                                          </p:stCondLst>
                                        </p:cTn>
                                        <p:tgtEl>
                                          <p:spTgt spid="29"/>
                                        </p:tgtEl>
                                        <p:attrNameLst>
                                          <p:attrName>style.visibility</p:attrName>
                                        </p:attrNameLst>
                                      </p:cBhvr>
                                      <p:to>
                                        <p:strVal val="visible"/>
                                      </p:to>
                                    </p:set>
                                    <p:animMotion origin="layout" path="M 0 0.01111111 L 0 0 E" pathEditMode="relative">
                                      <p:cBhvr from="" to="">
                                        <p:cTn id="198" dur="450" fill="hold">
                                          <p:stCondLst>
                                            <p:cond delay="0"/>
                                          </p:stCondLst>
                                        </p:cTn>
                                        <p:tgtEl>
                                          <p:spTgt spid="29"/>
                                        </p:tgtEl>
                                        <p:attrNameLst>
                                          <p:attrName>ppt_x</p:attrName>
                                          <p:attrName>ppt_y</p:attrName>
                                        </p:attrNameLst>
                                      </p:cBhvr>
                                    </p:animMotion>
                                  </p:childTnLst>
                                </p:cTn>
                              </p:par>
                              <p:par>
                                <p:cTn id="199" presetID="10" presetClass="entr" presetSubtype="0" fill="hold" grpId="0" nodeType="withEffect">
                                  <p:stCondLst>
                                    <p:cond delay="0"/>
                                  </p:stCondLst>
                                  <p:childTnLst>
                                    <p:set>
                                      <p:cBhvr>
                                        <p:cTn id="200" dur="1" fill="hold">
                                          <p:stCondLst>
                                            <p:cond delay="0"/>
                                          </p:stCondLst>
                                        </p:cTn>
                                        <p:tgtEl>
                                          <p:spTgt spid="30"/>
                                        </p:tgtEl>
                                        <p:attrNameLst>
                                          <p:attrName>style.visibility</p:attrName>
                                        </p:attrNameLst>
                                      </p:cBhvr>
                                      <p:to>
                                        <p:strVal val="visible"/>
                                      </p:to>
                                    </p:set>
                                    <p:animEffect transition="in" filter="fade">
                                      <p:cBhvr>
                                        <p:cTn id="201" dur="320"/>
                                        <p:tgtEl>
                                          <p:spTgt spid="30"/>
                                        </p:tgtEl>
                                      </p:cBhvr>
                                    </p:animEffect>
                                  </p:childTnLst>
                                </p:cTn>
                              </p:par>
                              <p:par>
                                <p:cTn id="202" presetID="0" presetClass="entr" presetSubtype="0" accel="20000" decel="30000" fill="hold" grpId="1" nodeType="withEffect">
                                  <p:stCondLst>
                                    <p:cond delay="0"/>
                                  </p:stCondLst>
                                  <p:childTnLst>
                                    <p:set>
                                      <p:cBhvr>
                                        <p:cTn id="203" dur="1" fill="hold">
                                          <p:stCondLst>
                                            <p:cond delay="449"/>
                                          </p:stCondLst>
                                        </p:cTn>
                                        <p:tgtEl>
                                          <p:spTgt spid="30"/>
                                        </p:tgtEl>
                                        <p:attrNameLst>
                                          <p:attrName>style.visibility</p:attrName>
                                        </p:attrNameLst>
                                      </p:cBhvr>
                                      <p:to>
                                        <p:strVal val="visible"/>
                                      </p:to>
                                    </p:set>
                                    <p:animMotion origin="layout" path="M 0 0.01111111 L 0 0 E" pathEditMode="relative">
                                      <p:cBhvr from="" to="">
                                        <p:cTn id="204" dur="450" fill="hold">
                                          <p:stCondLst>
                                            <p:cond delay="0"/>
                                          </p:stCondLst>
                                        </p:cTn>
                                        <p:tgtEl>
                                          <p:spTgt spid="30"/>
                                        </p:tgtEl>
                                        <p:attrNameLst>
                                          <p:attrName>ppt_x</p:attrName>
                                          <p:attrName>ppt_y</p:attrName>
                                        </p:attrNameLst>
                                      </p:cBhvr>
                                    </p:animMotion>
                                  </p:childTnLst>
                                </p:cTn>
                              </p:par>
                              <p:par>
                                <p:cTn id="205" presetID="10" presetClass="entr" presetSubtype="0" fill="hold" grpId="0" nodeType="withEffect">
                                  <p:stCondLst>
                                    <p:cond delay="0"/>
                                  </p:stCondLst>
                                  <p:childTnLst>
                                    <p:set>
                                      <p:cBhvr>
                                        <p:cTn id="206" dur="1" fill="hold">
                                          <p:stCondLst>
                                            <p:cond delay="0"/>
                                          </p:stCondLst>
                                        </p:cTn>
                                        <p:tgtEl>
                                          <p:spTgt spid="31"/>
                                        </p:tgtEl>
                                        <p:attrNameLst>
                                          <p:attrName>style.visibility</p:attrName>
                                        </p:attrNameLst>
                                      </p:cBhvr>
                                      <p:to>
                                        <p:strVal val="visible"/>
                                      </p:to>
                                    </p:set>
                                    <p:animEffect transition="in" filter="fade">
                                      <p:cBhvr>
                                        <p:cTn id="207" dur="320"/>
                                        <p:tgtEl>
                                          <p:spTgt spid="31"/>
                                        </p:tgtEl>
                                      </p:cBhvr>
                                    </p:animEffect>
                                  </p:childTnLst>
                                </p:cTn>
                              </p:par>
                              <p:par>
                                <p:cTn id="208" presetID="0" presetClass="entr" presetSubtype="0" accel="20000" decel="30000" fill="hold" grpId="1" nodeType="withEffect">
                                  <p:stCondLst>
                                    <p:cond delay="0"/>
                                  </p:stCondLst>
                                  <p:childTnLst>
                                    <p:set>
                                      <p:cBhvr>
                                        <p:cTn id="209" dur="1" fill="hold">
                                          <p:stCondLst>
                                            <p:cond delay="449"/>
                                          </p:stCondLst>
                                        </p:cTn>
                                        <p:tgtEl>
                                          <p:spTgt spid="31"/>
                                        </p:tgtEl>
                                        <p:attrNameLst>
                                          <p:attrName>style.visibility</p:attrName>
                                        </p:attrNameLst>
                                      </p:cBhvr>
                                      <p:to>
                                        <p:strVal val="visible"/>
                                      </p:to>
                                    </p:set>
                                    <p:animMotion origin="layout" path="M 0 0.01111111 L 0 0 E" pathEditMode="relative">
                                      <p:cBhvr from="" to="">
                                        <p:cTn id="210" dur="450" fill="hold">
                                          <p:stCondLst>
                                            <p:cond delay="0"/>
                                          </p:stCondLst>
                                        </p:cTn>
                                        <p:tgtEl>
                                          <p:spTgt spid="31"/>
                                        </p:tgtEl>
                                        <p:attrNameLst>
                                          <p:attrName>ppt_x</p:attrName>
                                          <p:attrName>ppt_y</p:attrName>
                                        </p:attrNameLst>
                                      </p:cBhvr>
                                    </p:animMotion>
                                  </p:childTnLst>
                                </p:cTn>
                              </p:par>
                              <p:par>
                                <p:cTn id="211" presetID="10" presetClass="entr" presetSubtype="0" fill="hold" grpId="0" nodeType="withEffect">
                                  <p:stCondLst>
                                    <p:cond delay="0"/>
                                  </p:stCondLst>
                                  <p:childTnLst>
                                    <p:set>
                                      <p:cBhvr>
                                        <p:cTn id="212" dur="1" fill="hold">
                                          <p:stCondLst>
                                            <p:cond delay="0"/>
                                          </p:stCondLst>
                                        </p:cTn>
                                        <p:tgtEl>
                                          <p:spTgt spid="40"/>
                                        </p:tgtEl>
                                        <p:attrNameLst>
                                          <p:attrName>style.visibility</p:attrName>
                                        </p:attrNameLst>
                                      </p:cBhvr>
                                      <p:to>
                                        <p:strVal val="visible"/>
                                      </p:to>
                                    </p:set>
                                    <p:animEffect transition="in" filter="fade">
                                      <p:cBhvr>
                                        <p:cTn id="213" dur="320"/>
                                        <p:tgtEl>
                                          <p:spTgt spid="40"/>
                                        </p:tgtEl>
                                      </p:cBhvr>
                                    </p:animEffect>
                                  </p:childTnLst>
                                </p:cTn>
                              </p:par>
                              <p:par>
                                <p:cTn id="214" presetID="0" presetClass="entr" presetSubtype="0" accel="20000" decel="30000" fill="hold" grpId="1" nodeType="withEffect">
                                  <p:stCondLst>
                                    <p:cond delay="0"/>
                                  </p:stCondLst>
                                  <p:childTnLst>
                                    <p:set>
                                      <p:cBhvr>
                                        <p:cTn id="215" dur="1" fill="hold">
                                          <p:stCondLst>
                                            <p:cond delay="449"/>
                                          </p:stCondLst>
                                        </p:cTn>
                                        <p:tgtEl>
                                          <p:spTgt spid="40"/>
                                        </p:tgtEl>
                                        <p:attrNameLst>
                                          <p:attrName>style.visibility</p:attrName>
                                        </p:attrNameLst>
                                      </p:cBhvr>
                                      <p:to>
                                        <p:strVal val="visible"/>
                                      </p:to>
                                    </p:set>
                                    <p:animMotion origin="layout" path="M 0 0.01111111 L 0 0 E" pathEditMode="relative">
                                      <p:cBhvr from="" to="">
                                        <p:cTn id="216" dur="450" fill="hold">
                                          <p:stCondLst>
                                            <p:cond delay="0"/>
                                          </p:stCondLst>
                                        </p:cTn>
                                        <p:tgtEl>
                                          <p:spTgt spid="40"/>
                                        </p:tgtEl>
                                        <p:attrNameLst>
                                          <p:attrName>ppt_x</p:attrName>
                                          <p:attrName>ppt_y</p:attrName>
                                        </p:attrNameLst>
                                      </p:cBhvr>
                                    </p:animMotion>
                                  </p:childTnLst>
                                </p:cTn>
                              </p:par>
                            </p:childTnLst>
                          </p:cTn>
                        </p:par>
                        <p:par>
                          <p:cTn id="217" fill="hold">
                            <p:stCondLst>
                              <p:cond delay="450"/>
                            </p:stCondLst>
                            <p:childTnLst>
                              <p:par>
                                <p:cTn id="218" presetID="10" presetClass="entr" presetSubtype="0" fill="hold" nodeType="afterEffect">
                                  <p:stCondLst>
                                    <p:cond delay="0"/>
                                  </p:stCondLst>
                                  <p:childTnLst>
                                    <p:set>
                                      <p:cBhvr>
                                        <p:cTn id="219" dur="1" fill="hold">
                                          <p:stCondLst>
                                            <p:cond delay="0"/>
                                          </p:stCondLst>
                                        </p:cTn>
                                        <p:tgtEl>
                                          <p:spTgt spid="32"/>
                                        </p:tgtEl>
                                        <p:attrNameLst>
                                          <p:attrName>style.visibility</p:attrName>
                                        </p:attrNameLst>
                                      </p:cBhvr>
                                      <p:to>
                                        <p:strVal val="visible"/>
                                      </p:to>
                                    </p:set>
                                    <p:animEffect transition="in" filter="fade">
                                      <p:cBhvr>
                                        <p:cTn id="220" dur="450"/>
                                        <p:tgtEl>
                                          <p:spTgt spid="32"/>
                                        </p:tgtEl>
                                      </p:cBhvr>
                                    </p:animEffect>
                                  </p:childTnLst>
                                </p:cTn>
                              </p:par>
                              <p:par>
                                <p:cTn id="221" presetID="10" presetClass="entr" presetSubtype="0" fill="hold" nodeType="withEffect">
                                  <p:stCondLst>
                                    <p:cond delay="0"/>
                                  </p:stCondLst>
                                  <p:childTnLst>
                                    <p:set>
                                      <p:cBhvr>
                                        <p:cTn id="222" dur="1" fill="hold">
                                          <p:stCondLst>
                                            <p:cond delay="0"/>
                                          </p:stCondLst>
                                        </p:cTn>
                                        <p:tgtEl>
                                          <p:spTgt spid="33"/>
                                        </p:tgtEl>
                                        <p:attrNameLst>
                                          <p:attrName>style.visibility</p:attrName>
                                        </p:attrNameLst>
                                      </p:cBhvr>
                                      <p:to>
                                        <p:strVal val="visible"/>
                                      </p:to>
                                    </p:set>
                                    <p:animEffect transition="in" filter="fade">
                                      <p:cBhvr>
                                        <p:cTn id="223" dur="450"/>
                                        <p:tgtEl>
                                          <p:spTgt spid="33"/>
                                        </p:tgtEl>
                                      </p:cBhvr>
                                    </p:animEffect>
                                  </p:childTnLst>
                                </p:cTn>
                              </p:par>
                              <p:par>
                                <p:cTn id="224" presetID="10" presetClass="entr" presetSubtype="0" fill="hold" grpId="0" nodeType="withEffect">
                                  <p:stCondLst>
                                    <p:cond delay="0"/>
                                  </p:stCondLst>
                                  <p:childTnLst>
                                    <p:set>
                                      <p:cBhvr>
                                        <p:cTn id="225" dur="1" fill="hold">
                                          <p:stCondLst>
                                            <p:cond delay="0"/>
                                          </p:stCondLst>
                                        </p:cTn>
                                        <p:tgtEl>
                                          <p:spTgt spid="34"/>
                                        </p:tgtEl>
                                        <p:attrNameLst>
                                          <p:attrName>style.visibility</p:attrName>
                                        </p:attrNameLst>
                                      </p:cBhvr>
                                      <p:to>
                                        <p:strVal val="visible"/>
                                      </p:to>
                                    </p:set>
                                    <p:animEffect transition="in" filter="fade">
                                      <p:cBhvr>
                                        <p:cTn id="226" dur="450"/>
                                        <p:tgtEl>
                                          <p:spTgt spid="34"/>
                                        </p:tgtEl>
                                      </p:cBhvr>
                                    </p:animEffect>
                                  </p:childTnLst>
                                </p:cTn>
                              </p:par>
                              <p:par>
                                <p:cTn id="227" presetID="10" presetClass="entr" presetSubtype="0" fill="hold" nodeType="withEffect">
                                  <p:stCondLst>
                                    <p:cond delay="0"/>
                                  </p:stCondLst>
                                  <p:childTnLst>
                                    <p:set>
                                      <p:cBhvr>
                                        <p:cTn id="228" dur="1" fill="hold">
                                          <p:stCondLst>
                                            <p:cond delay="0"/>
                                          </p:stCondLst>
                                        </p:cTn>
                                        <p:tgtEl>
                                          <p:spTgt spid="35"/>
                                        </p:tgtEl>
                                        <p:attrNameLst>
                                          <p:attrName>style.visibility</p:attrName>
                                        </p:attrNameLst>
                                      </p:cBhvr>
                                      <p:to>
                                        <p:strVal val="visible"/>
                                      </p:to>
                                    </p:set>
                                    <p:animEffect transition="in" filter="fade">
                                      <p:cBhvr>
                                        <p:cTn id="229" dur="450"/>
                                        <p:tgtEl>
                                          <p:spTgt spid="35"/>
                                        </p:tgtEl>
                                      </p:cBhvr>
                                    </p:animEffect>
                                  </p:childTnLst>
                                </p:cTn>
                              </p:par>
                              <p:par>
                                <p:cTn id="230" presetID="10" presetClass="entr" presetSubtype="0" fill="hold" grpId="0" nodeType="withEffect">
                                  <p:stCondLst>
                                    <p:cond delay="0"/>
                                  </p:stCondLst>
                                  <p:childTnLst>
                                    <p:set>
                                      <p:cBhvr>
                                        <p:cTn id="231" dur="1" fill="hold">
                                          <p:stCondLst>
                                            <p:cond delay="0"/>
                                          </p:stCondLst>
                                        </p:cTn>
                                        <p:tgtEl>
                                          <p:spTgt spid="36"/>
                                        </p:tgtEl>
                                        <p:attrNameLst>
                                          <p:attrName>style.visibility</p:attrName>
                                        </p:attrNameLst>
                                      </p:cBhvr>
                                      <p:to>
                                        <p:strVal val="visible"/>
                                      </p:to>
                                    </p:set>
                                    <p:animEffect transition="in" filter="fade">
                                      <p:cBhvr>
                                        <p:cTn id="232"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6" grpId="0"/>
      <p:bldP spid="6" grpId="1"/>
      <p:bldP spid="7" grpId="0"/>
      <p:bldP spid="7" grpId="1"/>
      <p:bldP spid="12" grpId="0"/>
      <p:bldP spid="12" grpId="1"/>
      <p:bldP spid="13" grpId="0"/>
      <p:bldP spid="13" grpId="1"/>
      <p:bldP spid="18" grpId="0"/>
      <p:bldP spid="18" grpId="1"/>
      <p:bldP spid="19" grpId="0"/>
      <p:bldP spid="19" grpId="1"/>
      <p:bldP spid="24" grpId="0"/>
      <p:bldP spid="24" grpId="1"/>
      <p:bldP spid="25" grpId="0"/>
      <p:bldP spid="25" grpId="1"/>
      <p:bldP spid="30" grpId="0"/>
      <p:bldP spid="30" grpId="1"/>
      <p:bldP spid="31" grpId="0"/>
      <p:bldP spid="31" grpId="1"/>
      <p:bldP spid="34" grpId="0"/>
      <p:bldP spid="36" grpId="0"/>
      <p:bldP spid="37" grpId="0"/>
      <p:bldP spid="37" grpId="1"/>
      <p:bldP spid="38" grpId="0"/>
      <p:bldP spid="38" grpId="1"/>
      <p:bldP spid="39" grpId="0"/>
      <p:bldP spid="39" grpId="1"/>
      <p:bldP spid="40" grpId="0"/>
      <p:bldP spid="40" grpId="1"/>
      <p:bldP spid="41" grpId="0"/>
      <p:bldP spid="41"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58" name="top_band">
            <a:extLst>
              <a:ext uri="{FF2B5EF4-FFF2-40B4-BE49-F238E27FC236}">
                <a16:creationId xmlns:a16="http://schemas.microsoft.com/office/drawing/2014/main" id="{076095C2-90E0-46F4-B1E7-6364D98584FB}"/>
              </a:ext>
            </a:extLst>
          </p:cNvPr>
          <p:cNvSpPr>
            <a:spLocks/>
          </p:cNvSpPr>
          <p:nvPr/>
        </p:nvSpPr>
        <p:spPr>
          <a:xfrm>
            <a:off x="0" y="0"/>
            <a:ext cx="18288000" cy="114300"/>
          </a:xfrm>
          <a:prstGeom prst="rect">
            <a:avLst/>
          </a:prstGeom>
          <a:solidFill>
            <a:srgbClr val="285C4D"/>
          </a:solidFill>
          <a:ln w="9525">
            <a:noFill/>
            <a:prstDash val="solid"/>
          </a:ln>
        </p:spPr>
      </p:sp>
      <p:sp>
        <p:nvSpPr>
          <p:cNvPr id="2" name="brand">
            <a:hlinkClick r:id="rId3" action="ppaction://hlinksldjump" tooltip="Retour à l'accueil JNC" highlightClick="1"/>
            <a:extLst>
              <a:ext uri="{FF2B5EF4-FFF2-40B4-BE49-F238E27FC236}">
                <a16:creationId xmlns:a16="http://schemas.microsoft.com/office/drawing/2014/main" id="{BE791A98-C0F0-456E-B846-D9D8D2D4E9C3}"/>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4F3F19C8-270A-493B-BAC4-F79F6564158B}"/>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ARCHITECTURE</a:t>
            </a:r>
          </a:p>
        </p:txBody>
      </p:sp>
      <p:sp>
        <p:nvSpPr>
          <p:cNvPr id="4" name="folio">
            <a:extLst>
              <a:ext uri="{FF2B5EF4-FFF2-40B4-BE49-F238E27FC236}">
                <a16:creationId xmlns:a16="http://schemas.microsoft.com/office/drawing/2014/main" id="{535CCC86-37D2-4FAA-8238-36F39F71462E}"/>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4 / 9</a:t>
            </a:r>
          </a:p>
        </p:txBody>
      </p:sp>
      <p:grpSp>
        <p:nvGrpSpPr>
          <p:cNvPr id="59" name="anim_heading">
            <a:extLst>
              <a:ext uri="{FF2B5EF4-FFF2-40B4-BE49-F238E27FC236}">
                <a16:creationId xmlns:a16="http://schemas.microsoft.com/office/drawing/2014/main" id="{BA0E438C-76CF-EDED-C0A5-DF83CFE9DCB2}"/>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36597973-7A05-4DCC-84C8-205668E7091B}"/>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Architecture</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du filtre</a:t>
              </a:r>
            </a:p>
          </p:txBody>
        </p:sp>
        <p:sp>
          <p:nvSpPr>
            <p:cNvPr id="6" name="summary">
              <a:extLst>
                <a:ext uri="{FF2B5EF4-FFF2-40B4-BE49-F238E27FC236}">
                  <a16:creationId xmlns:a16="http://schemas.microsoft.com/office/drawing/2014/main" id="{B13F3545-FD78-4157-A059-5B5004C048D3}"/>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Le filtre prend sa décision avant l’accès SQL. L’assistant aide à comprendre les traces.</a:t>
              </a:r>
            </a:p>
          </p:txBody>
        </p:sp>
      </p:grpSp>
      <p:sp>
        <p:nvSpPr>
          <p:cNvPr id="7" name="footer_rule">
            <a:extLst>
              <a:ext uri="{FF2B5EF4-FFF2-40B4-BE49-F238E27FC236}">
                <a16:creationId xmlns:a16="http://schemas.microsoft.com/office/drawing/2014/main" id="{485621C4-6C58-4CF4-8598-C817BF76B18A}"/>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0380D24F-936C-4867-ACC9-A6427246C00D}"/>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Services locaux dans Docker. Le MLP réalise une analyse ciblée et bornée ; les requêtes préparées restent nécessaires.</a:t>
            </a:r>
          </a:p>
        </p:txBody>
      </p:sp>
      <p:sp>
        <p:nvSpPr>
          <p:cNvPr id="9" name="scope_label">
            <a:extLst>
              <a:ext uri="{FF2B5EF4-FFF2-40B4-BE49-F238E27FC236}">
                <a16:creationId xmlns:a16="http://schemas.microsoft.com/office/drawing/2014/main" id="{234EE0A6-E464-483C-B45D-8D2C87867C88}"/>
              </a:ext>
            </a:extLst>
          </p:cNvPr>
          <p:cNvSpPr>
            <a:spLocks/>
          </p:cNvSpPr>
          <p:nvPr/>
        </p:nvSpPr>
        <p:spPr>
          <a:xfrm>
            <a:off x="6762750" y="1504950"/>
            <a:ext cx="5143500" cy="381000"/>
          </a:xfrm>
          <a:prstGeom prst="rect">
            <a:avLst/>
          </a:prstGeom>
          <a:noFill/>
          <a:ln w="9525">
            <a:noFill/>
            <a:prstDash val="solid"/>
          </a:ln>
        </p:spPr>
        <p:txBody>
          <a:bodyPr wrap="square" lIns="0" tIns="0" rIns="0" bIns="0" anchor="ctr">
            <a:noAutofit/>
          </a:bodyPr>
          <a:lstStyle>
            <a:defPPr algn="l">
              <a:defRPr sz="1650" b="1">
                <a:solidFill>
                  <a:srgbClr val="637368"/>
                </a:solidFill>
                <a:latin typeface="Segoe UI"/>
                <a:ea typeface="Segoe UI"/>
                <a:cs typeface="Segoe UI"/>
              </a:defRPr>
            </a:defPPr>
          </a:lstStyle>
          <a:p>
            <a:pPr algn="l">
              <a:defRPr sz="1650" b="1">
                <a:solidFill>
                  <a:srgbClr val="637368"/>
                </a:solidFill>
                <a:latin typeface="Segoe UI"/>
                <a:ea typeface="Segoe UI"/>
                <a:cs typeface="Segoe UI"/>
              </a:defRPr>
            </a:pPr>
            <a:r>
              <a:rPr sz="1650" b="1">
                <a:solidFill>
                  <a:srgbClr val="637368"/>
                </a:solidFill>
                <a:latin typeface="Segoe UI"/>
                <a:ea typeface="Segoe UI"/>
                <a:cs typeface="Segoe UI"/>
              </a:rPr>
              <a:t>DÉPLOIEMENT LOCAL</a:t>
            </a:r>
          </a:p>
        </p:txBody>
      </p:sp>
      <p:grpSp>
        <p:nvGrpSpPr>
          <p:cNvPr id="60" name="anim_request">
            <a:extLst>
              <a:ext uri="{FF2B5EF4-FFF2-40B4-BE49-F238E27FC236}">
                <a16:creationId xmlns:a16="http://schemas.microsoft.com/office/drawing/2014/main" id="{54D9E9B7-2BDB-EF28-4C78-B3778457EEBA}"/>
              </a:ext>
            </a:extLst>
          </p:cNvPr>
          <p:cNvGrpSpPr/>
          <p:nvPr/>
        </p:nvGrpSpPr>
        <p:grpSpPr>
          <a:xfrm>
            <a:off x="6762750" y="2428875"/>
            <a:ext cx="5905500" cy="1285875"/>
            <a:chOff x="6762750" y="2428875"/>
            <a:chExt cx="5905500" cy="1285875"/>
          </a:xfrm>
        </p:grpSpPr>
        <p:sp>
          <p:nvSpPr>
            <p:cNvPr id="10" name="client_body">
              <a:extLst>
                <a:ext uri="{FF2B5EF4-FFF2-40B4-BE49-F238E27FC236}">
                  <a16:creationId xmlns:a16="http://schemas.microsoft.com/office/drawing/2014/main" id="{23CC9503-8E8F-4A13-A54E-74FB12A6B176}"/>
                </a:ext>
              </a:extLst>
            </p:cNvPr>
            <p:cNvSpPr>
              <a:spLocks/>
            </p:cNvSpPr>
            <p:nvPr/>
          </p:nvSpPr>
          <p:spPr>
            <a:xfrm>
              <a:off x="6762750" y="2428875"/>
              <a:ext cx="2047875" cy="1285875"/>
            </a:xfrm>
            <a:prstGeom prst="rect">
              <a:avLst/>
            </a:prstGeom>
            <a:solidFill>
              <a:srgbClr val="FBF9F3"/>
            </a:solidFill>
            <a:ln w="19050">
              <a:solidFill>
                <a:srgbClr val="285C4D"/>
              </a:solidFill>
              <a:prstDash val="solid"/>
            </a:ln>
          </p:spPr>
        </p:sp>
        <p:sp>
          <p:nvSpPr>
            <p:cNvPr id="11" name="client_title">
              <a:extLst>
                <a:ext uri="{FF2B5EF4-FFF2-40B4-BE49-F238E27FC236}">
                  <a16:creationId xmlns:a16="http://schemas.microsoft.com/office/drawing/2014/main" id="{E1CA6EF7-9446-405A-801D-359361697583}"/>
                </a:ext>
              </a:extLst>
            </p:cNvPr>
            <p:cNvSpPr>
              <a:spLocks/>
            </p:cNvSpPr>
            <p:nvPr/>
          </p:nvSpPr>
          <p:spPr>
            <a:xfrm>
              <a:off x="6953250" y="2571750"/>
              <a:ext cx="1666875" cy="476250"/>
            </a:xfrm>
            <a:prstGeom prst="rect">
              <a:avLst/>
            </a:prstGeom>
            <a:noFill/>
            <a:ln w="9525">
              <a:noFill/>
              <a:prstDash val="solid"/>
            </a:ln>
          </p:spPr>
          <p:txBody>
            <a:bodyPr wrap="square" lIns="0" tIns="0" rIns="0" bIns="0" anchor="ctr">
              <a:noAutofit/>
            </a:bodyPr>
            <a:lstStyle>
              <a:defPPr algn="ctr">
                <a:defRPr sz="2100" b="1">
                  <a:solidFill>
                    <a:srgbClr val="285C4D"/>
                  </a:solidFill>
                  <a:latin typeface="Segoe UI"/>
                  <a:ea typeface="Segoe UI"/>
                  <a:cs typeface="Segoe UI"/>
                </a:defRPr>
              </a:defPPr>
            </a:lstStyle>
            <a:p>
              <a:pPr algn="ctr">
                <a:defRPr sz="2100" b="1">
                  <a:solidFill>
                    <a:srgbClr val="285C4D"/>
                  </a:solidFill>
                  <a:latin typeface="Segoe UI"/>
                  <a:ea typeface="Segoe UI"/>
                  <a:cs typeface="Segoe UI"/>
                </a:defRPr>
              </a:pPr>
              <a:r>
                <a:rPr sz="2100" b="1">
                  <a:solidFill>
                    <a:srgbClr val="285C4D"/>
                  </a:solidFill>
                  <a:latin typeface="Segoe UI"/>
                  <a:ea typeface="Segoe UI"/>
                  <a:cs typeface="Segoe UI"/>
                </a:rPr>
                <a:t>Client web</a:t>
              </a:r>
            </a:p>
          </p:txBody>
        </p:sp>
        <p:sp>
          <p:nvSpPr>
            <p:cNvPr id="12" name="client_sub">
              <a:extLst>
                <a:ext uri="{FF2B5EF4-FFF2-40B4-BE49-F238E27FC236}">
                  <a16:creationId xmlns:a16="http://schemas.microsoft.com/office/drawing/2014/main" id="{1EBD2B74-4314-4090-B858-9E389F3FD6B1}"/>
                </a:ext>
              </a:extLst>
            </p:cNvPr>
            <p:cNvSpPr>
              <a:spLocks/>
            </p:cNvSpPr>
            <p:nvPr/>
          </p:nvSpPr>
          <p:spPr>
            <a:xfrm>
              <a:off x="6905625" y="3076575"/>
              <a:ext cx="1762125" cy="55245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Paramètre HTTP</a:t>
              </a:r>
            </a:p>
          </p:txBody>
        </p:sp>
        <p:sp>
          <p:nvSpPr>
            <p:cNvPr id="13" name="php_body">
              <a:hlinkClick r:id="rId4" action="ppaction://hlinksldjump" tooltip="Voir le blocage par une signature forte" highlightClick="1"/>
              <a:extLst>
                <a:ext uri="{FF2B5EF4-FFF2-40B4-BE49-F238E27FC236}">
                  <a16:creationId xmlns:a16="http://schemas.microsoft.com/office/drawing/2014/main" id="{F16822F6-EF62-47D3-A482-0AE46B02FA0F}"/>
                </a:ext>
              </a:extLst>
            </p:cNvPr>
            <p:cNvSpPr>
              <a:spLocks/>
            </p:cNvSpPr>
            <p:nvPr/>
          </p:nvSpPr>
          <p:spPr>
            <a:xfrm>
              <a:off x="10001250" y="2428875"/>
              <a:ext cx="2667000" cy="1285875"/>
            </a:xfrm>
            <a:prstGeom prst="rect">
              <a:avLst/>
            </a:prstGeom>
            <a:solidFill>
              <a:srgbClr val="FBF9F3"/>
            </a:solidFill>
            <a:ln w="19050">
              <a:solidFill>
                <a:srgbClr val="285C4D"/>
              </a:solidFill>
              <a:prstDash val="solid"/>
            </a:ln>
          </p:spPr>
        </p:sp>
        <p:sp>
          <p:nvSpPr>
            <p:cNvPr id="14" name="php_title">
              <a:hlinkClick r:id="rId4" action="ppaction://hlinksldjump" tooltip="Voir le blocage par une signature forte" highlightClick="1"/>
              <a:extLst>
                <a:ext uri="{FF2B5EF4-FFF2-40B4-BE49-F238E27FC236}">
                  <a16:creationId xmlns:a16="http://schemas.microsoft.com/office/drawing/2014/main" id="{7E2369EF-BCFE-40BD-8BF0-8A1C3FC5EB0A}"/>
                </a:ext>
              </a:extLst>
            </p:cNvPr>
            <p:cNvSpPr>
              <a:spLocks/>
            </p:cNvSpPr>
            <p:nvPr/>
          </p:nvSpPr>
          <p:spPr>
            <a:xfrm>
              <a:off x="10191750" y="2571750"/>
              <a:ext cx="2286000" cy="476250"/>
            </a:xfrm>
            <a:prstGeom prst="rect">
              <a:avLst/>
            </a:prstGeom>
            <a:noFill/>
            <a:ln w="9525">
              <a:noFill/>
              <a:prstDash val="solid"/>
            </a:ln>
          </p:spPr>
          <p:txBody>
            <a:bodyPr wrap="square" lIns="0" tIns="0" rIns="0" bIns="0" anchor="ctr">
              <a:noAutofit/>
            </a:bodyPr>
            <a:lstStyle>
              <a:defPPr algn="ctr">
                <a:defRPr sz="2250" b="1">
                  <a:solidFill>
                    <a:srgbClr val="285C4D"/>
                  </a:solidFill>
                  <a:latin typeface="Segoe UI"/>
                  <a:ea typeface="Segoe UI"/>
                  <a:cs typeface="Segoe UI"/>
                </a:defRPr>
              </a:defPPr>
            </a:lstStyle>
            <a:p>
              <a:pPr algn="ctr">
                <a:defRPr sz="2250" b="1">
                  <a:solidFill>
                    <a:srgbClr val="285C4D"/>
                  </a:solidFill>
                  <a:latin typeface="Segoe UI"/>
                  <a:ea typeface="Segoe UI"/>
                  <a:cs typeface="Segoe UI"/>
                </a:defRPr>
              </a:pPr>
              <a:r>
                <a:rPr sz="2250" b="1">
                  <a:solidFill>
                    <a:srgbClr val="285C4D"/>
                  </a:solidFill>
                  <a:latin typeface="Segoe UI"/>
                  <a:ea typeface="Segoe UI"/>
                  <a:cs typeface="Segoe UI"/>
                </a:rPr>
                <a:t>PHP + règles</a:t>
              </a:r>
            </a:p>
          </p:txBody>
        </p:sp>
        <p:sp>
          <p:nvSpPr>
            <p:cNvPr id="15" name="php_sub">
              <a:hlinkClick r:id="rId4" action="ppaction://hlinksldjump" tooltip="Voir le blocage par une signature forte" highlightClick="1"/>
              <a:extLst>
                <a:ext uri="{FF2B5EF4-FFF2-40B4-BE49-F238E27FC236}">
                  <a16:creationId xmlns:a16="http://schemas.microsoft.com/office/drawing/2014/main" id="{CB4980EC-4CB2-450A-8C3A-74698EC64F5F}"/>
                </a:ext>
              </a:extLst>
            </p:cNvPr>
            <p:cNvSpPr>
              <a:spLocks/>
            </p:cNvSpPr>
            <p:nvPr/>
          </p:nvSpPr>
          <p:spPr>
            <a:xfrm>
              <a:off x="10144125" y="3076575"/>
              <a:ext cx="2381250" cy="55245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Signatures SQLi</a:t>
              </a:r>
            </a:p>
          </p:txBody>
        </p:sp>
        <p:sp>
          <p:nvSpPr>
            <p:cNvPr id="16" name="incoming">
              <a:extLst>
                <a:ext uri="{FF2B5EF4-FFF2-40B4-BE49-F238E27FC236}">
                  <a16:creationId xmlns:a16="http://schemas.microsoft.com/office/drawing/2014/main" id="{77A598F3-145C-4FFF-831C-06C8E1DE5952}"/>
                </a:ext>
              </a:extLst>
            </p:cNvPr>
            <p:cNvSpPr>
              <a:spLocks/>
            </p:cNvSpPr>
            <p:nvPr/>
          </p:nvSpPr>
          <p:spPr>
            <a:xfrm>
              <a:off x="9020175" y="2971800"/>
              <a:ext cx="762000" cy="152400"/>
            </a:xfrm>
            <a:prstGeom prst="rightArrow">
              <a:avLst/>
            </a:prstGeom>
            <a:solidFill>
              <a:srgbClr val="285C4D"/>
            </a:solidFill>
            <a:ln w="9525">
              <a:noFill/>
              <a:prstDash val="solid"/>
            </a:ln>
          </p:spPr>
        </p:sp>
      </p:grpSp>
      <p:sp>
        <p:nvSpPr>
          <p:cNvPr id="17" name="anim_http_packet">
            <a:extLst>
              <a:ext uri="{FF2B5EF4-FFF2-40B4-BE49-F238E27FC236}">
                <a16:creationId xmlns:a16="http://schemas.microsoft.com/office/drawing/2014/main" id="{996F416A-974C-46E6-AC2C-BC29369DA792}"/>
              </a:ext>
            </a:extLst>
          </p:cNvPr>
          <p:cNvSpPr>
            <a:spLocks/>
          </p:cNvSpPr>
          <p:nvPr/>
        </p:nvSpPr>
        <p:spPr>
          <a:xfrm>
            <a:off x="8858250" y="2705100"/>
            <a:ext cx="1047750" cy="457200"/>
          </a:xfrm>
          <a:prstGeom prst="rect">
            <a:avLst/>
          </a:prstGeom>
          <a:solidFill>
            <a:srgbClr val="FBF9F3"/>
          </a:solidFill>
          <a:ln w="14288">
            <a:solidFill>
              <a:srgbClr val="285C4D"/>
            </a:solidFill>
            <a:prstDash val="solid"/>
          </a:ln>
        </p:spPr>
        <p:txBody>
          <a:bodyPr wrap="square" lIns="47625" tIns="47625" rIns="47625" bIns="47625" anchor="ctr">
            <a:noAutofit/>
          </a:bodyPr>
          <a:lstStyle>
            <a:defPPr algn="ctr">
              <a:defRPr sz="1725" b="1">
                <a:solidFill>
                  <a:srgbClr val="285C4D"/>
                </a:solidFill>
                <a:latin typeface="Segoe UI"/>
                <a:ea typeface="Segoe UI"/>
                <a:cs typeface="Segoe UI"/>
              </a:defRPr>
            </a:defPPr>
          </a:lstStyle>
          <a:p>
            <a:pPr algn="ctr">
              <a:defRPr sz="1725" b="1">
                <a:solidFill>
                  <a:srgbClr val="285C4D"/>
                </a:solidFill>
                <a:latin typeface="Segoe UI"/>
                <a:ea typeface="Segoe UI"/>
                <a:cs typeface="Segoe UI"/>
              </a:defRPr>
            </a:pPr>
            <a:r>
              <a:rPr sz="1725" b="1">
                <a:solidFill>
                  <a:srgbClr val="285C4D"/>
                </a:solidFill>
                <a:latin typeface="Segoe UI"/>
                <a:ea typeface="Segoe UI"/>
                <a:cs typeface="Segoe UI"/>
              </a:rPr>
              <a:t>HTTP</a:t>
            </a:r>
          </a:p>
        </p:txBody>
      </p:sp>
      <p:grpSp>
        <p:nvGrpSpPr>
          <p:cNvPr id="61" name="anim_decision">
            <a:extLst>
              <a:ext uri="{FF2B5EF4-FFF2-40B4-BE49-F238E27FC236}">
                <a16:creationId xmlns:a16="http://schemas.microsoft.com/office/drawing/2014/main" id="{C383FE28-EFDF-F9EE-730B-2A457F5723D5}"/>
              </a:ext>
            </a:extLst>
          </p:cNvPr>
          <p:cNvGrpSpPr/>
          <p:nvPr/>
        </p:nvGrpSpPr>
        <p:grpSpPr>
          <a:xfrm>
            <a:off x="12715875" y="2047875"/>
            <a:ext cx="4524375" cy="1666875"/>
            <a:chOff x="12715875" y="2047875"/>
            <a:chExt cx="4524375" cy="1666875"/>
          </a:xfrm>
        </p:grpSpPr>
        <p:sp>
          <p:nvSpPr>
            <p:cNvPr id="18" name="decision_body">
              <a:extLst>
                <a:ext uri="{FF2B5EF4-FFF2-40B4-BE49-F238E27FC236}">
                  <a16:creationId xmlns:a16="http://schemas.microsoft.com/office/drawing/2014/main" id="{7CEE9BC2-9AB6-4B49-BD06-97107ED04B22}"/>
                </a:ext>
              </a:extLst>
            </p:cNvPr>
            <p:cNvSpPr>
              <a:spLocks/>
            </p:cNvSpPr>
            <p:nvPr/>
          </p:nvSpPr>
          <p:spPr>
            <a:xfrm>
              <a:off x="14097000" y="2428875"/>
              <a:ext cx="3143250" cy="1285875"/>
            </a:xfrm>
            <a:prstGeom prst="rect">
              <a:avLst/>
            </a:prstGeom>
            <a:solidFill>
              <a:srgbClr val="FBF9F3"/>
            </a:solidFill>
            <a:ln w="19050">
              <a:solidFill>
                <a:srgbClr val="285C4D"/>
              </a:solidFill>
              <a:prstDash val="solid"/>
            </a:ln>
          </p:spPr>
        </p:sp>
        <p:sp>
          <p:nvSpPr>
            <p:cNvPr id="19" name="decision_title">
              <a:extLst>
                <a:ext uri="{FF2B5EF4-FFF2-40B4-BE49-F238E27FC236}">
                  <a16:creationId xmlns:a16="http://schemas.microsoft.com/office/drawing/2014/main" id="{323117F0-EAA6-4F23-ACA2-A12A67781CF4}"/>
                </a:ext>
              </a:extLst>
            </p:cNvPr>
            <p:cNvSpPr>
              <a:spLocks/>
            </p:cNvSpPr>
            <p:nvPr/>
          </p:nvSpPr>
          <p:spPr>
            <a:xfrm>
              <a:off x="14287500" y="2571750"/>
              <a:ext cx="2762250" cy="476250"/>
            </a:xfrm>
            <a:prstGeom prst="rect">
              <a:avLst/>
            </a:prstGeom>
            <a:noFill/>
            <a:ln w="9525">
              <a:noFill/>
              <a:prstDash val="solid"/>
            </a:ln>
          </p:spPr>
          <p:txBody>
            <a:bodyPr wrap="square" lIns="0" tIns="0" rIns="0" bIns="0" anchor="ctr">
              <a:noAutofit/>
            </a:bodyPr>
            <a:lstStyle>
              <a:defPPr algn="ctr">
                <a:defRPr sz="2250" b="1">
                  <a:solidFill>
                    <a:srgbClr val="285C4D"/>
                  </a:solidFill>
                  <a:latin typeface="Segoe UI"/>
                  <a:ea typeface="Segoe UI"/>
                  <a:cs typeface="Segoe UI"/>
                </a:defRPr>
              </a:defPPr>
            </a:lstStyle>
            <a:p>
              <a:pPr algn="ctr">
                <a:defRPr sz="2250" b="1">
                  <a:solidFill>
                    <a:srgbClr val="285C4D"/>
                  </a:solidFill>
                  <a:latin typeface="Segoe UI"/>
                  <a:ea typeface="Segoe UI"/>
                  <a:cs typeface="Segoe UI"/>
                </a:defRPr>
              </a:pPr>
              <a:r>
                <a:rPr sz="2250" b="1">
                  <a:solidFill>
                    <a:srgbClr val="285C4D"/>
                  </a:solidFill>
                  <a:latin typeface="Segoe UI"/>
                  <a:ea typeface="Segoe UI"/>
                  <a:cs typeface="Segoe UI"/>
                </a:rPr>
                <a:t>Décision du filtre</a:t>
              </a:r>
            </a:p>
          </p:txBody>
        </p:sp>
        <p:sp>
          <p:nvSpPr>
            <p:cNvPr id="20" name="decision_sub">
              <a:extLst>
                <a:ext uri="{FF2B5EF4-FFF2-40B4-BE49-F238E27FC236}">
                  <a16:creationId xmlns:a16="http://schemas.microsoft.com/office/drawing/2014/main" id="{5C9A15F0-4712-4BCF-BD3F-66609B6F0C92}"/>
                </a:ext>
              </a:extLst>
            </p:cNvPr>
            <p:cNvSpPr>
              <a:spLocks/>
            </p:cNvSpPr>
            <p:nvPr/>
          </p:nvSpPr>
          <p:spPr>
            <a:xfrm>
              <a:off x="14239875" y="3076575"/>
              <a:ext cx="2857500" cy="55245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Mode blocage / observation</a:t>
              </a:r>
            </a:p>
          </p:txBody>
        </p:sp>
        <p:sp>
          <p:nvSpPr>
            <p:cNvPr id="21" name="direct_rail">
              <a:extLst>
                <a:ext uri="{FF2B5EF4-FFF2-40B4-BE49-F238E27FC236}">
                  <a16:creationId xmlns:a16="http://schemas.microsoft.com/office/drawing/2014/main" id="{BCD9B717-57B7-42EA-AC71-C030DAB385FB}"/>
                </a:ext>
              </a:extLst>
            </p:cNvPr>
            <p:cNvSpPr>
              <a:spLocks/>
            </p:cNvSpPr>
            <p:nvPr/>
          </p:nvSpPr>
          <p:spPr>
            <a:xfrm>
              <a:off x="12858750" y="2971800"/>
              <a:ext cx="1047750" cy="152400"/>
            </a:xfrm>
            <a:prstGeom prst="rightArrow">
              <a:avLst/>
            </a:prstGeom>
            <a:solidFill>
              <a:srgbClr val="285C4D"/>
            </a:solidFill>
            <a:ln w="9525">
              <a:noFill/>
              <a:prstDash val="solid"/>
            </a:ln>
          </p:spPr>
        </p:sp>
        <p:sp>
          <p:nvSpPr>
            <p:cNvPr id="22" name="direct_label">
              <a:extLst>
                <a:ext uri="{FF2B5EF4-FFF2-40B4-BE49-F238E27FC236}">
                  <a16:creationId xmlns:a16="http://schemas.microsoft.com/office/drawing/2014/main" id="{14D8C4E1-F819-40F0-87E0-170EE7E27FB9}"/>
                </a:ext>
              </a:extLst>
            </p:cNvPr>
            <p:cNvSpPr>
              <a:spLocks/>
            </p:cNvSpPr>
            <p:nvPr/>
          </p:nvSpPr>
          <p:spPr>
            <a:xfrm>
              <a:off x="12715875" y="2047875"/>
              <a:ext cx="1428750" cy="333375"/>
            </a:xfrm>
            <a:prstGeom prst="rect">
              <a:avLst/>
            </a:prstGeom>
            <a:noFill/>
            <a:ln w="9525">
              <a:noFill/>
              <a:prstDash val="solid"/>
            </a:ln>
          </p:spPr>
          <p:txBody>
            <a:bodyPr wrap="square" lIns="0" tIns="0" rIns="0" bIns="0" anchor="ctr">
              <a:noAutofit/>
            </a:bodyPr>
            <a:lstStyle>
              <a:defPPr algn="ctr">
                <a:defRPr sz="1575" b="0">
                  <a:solidFill>
                    <a:srgbClr val="637368"/>
                  </a:solidFill>
                  <a:latin typeface="Segoe UI"/>
                  <a:ea typeface="Segoe UI"/>
                  <a:cs typeface="Segoe UI"/>
                </a:defRPr>
              </a:defPPr>
            </a:lstStyle>
            <a:p>
              <a:pPr algn="ctr">
                <a:defRPr sz="1575" b="0">
                  <a:solidFill>
                    <a:srgbClr val="637368"/>
                  </a:solidFill>
                  <a:latin typeface="Segoe UI"/>
                  <a:ea typeface="Segoe UI"/>
                  <a:cs typeface="Segoe UI"/>
                </a:defRPr>
              </a:pPr>
              <a:r>
                <a:rPr sz="1575" b="0">
                  <a:solidFill>
                    <a:srgbClr val="637368"/>
                  </a:solidFill>
                  <a:latin typeface="Segoe UI"/>
                  <a:ea typeface="Segoe UI"/>
                  <a:cs typeface="Segoe UI"/>
                </a:rPr>
                <a:t>Signature forte</a:t>
              </a:r>
            </a:p>
          </p:txBody>
        </p:sp>
      </p:grpSp>
      <p:grpSp>
        <p:nvGrpSpPr>
          <p:cNvPr id="62" name="anim_mlp">
            <a:extLst>
              <a:ext uri="{FF2B5EF4-FFF2-40B4-BE49-F238E27FC236}">
                <a16:creationId xmlns:a16="http://schemas.microsoft.com/office/drawing/2014/main" id="{07F1009A-58A2-4314-E054-1FFEE2113DC4}"/>
              </a:ext>
            </a:extLst>
          </p:cNvPr>
          <p:cNvGrpSpPr/>
          <p:nvPr/>
        </p:nvGrpSpPr>
        <p:grpSpPr>
          <a:xfrm>
            <a:off x="9953625" y="3048000"/>
            <a:ext cx="3333750" cy="2781300"/>
            <a:chOff x="9953625" y="3048000"/>
            <a:chExt cx="3333750" cy="2781300"/>
          </a:xfrm>
        </p:grpSpPr>
        <p:sp>
          <p:nvSpPr>
            <p:cNvPr id="23" name="mlp_body">
              <a:hlinkClick r:id="rId5" action="ppaction://hlinksldjump" tooltip="Voir le parcours conditionnel du MLP" highlightClick="1"/>
              <a:extLst>
                <a:ext uri="{FF2B5EF4-FFF2-40B4-BE49-F238E27FC236}">
                  <a16:creationId xmlns:a16="http://schemas.microsoft.com/office/drawing/2014/main" id="{5CBB4F1B-D8CB-4697-B6C1-2D67D692EAF9}"/>
                </a:ext>
              </a:extLst>
            </p:cNvPr>
            <p:cNvSpPr>
              <a:spLocks/>
            </p:cNvSpPr>
            <p:nvPr/>
          </p:nvSpPr>
          <p:spPr>
            <a:xfrm>
              <a:off x="9953625" y="4572000"/>
              <a:ext cx="2762250" cy="1257300"/>
            </a:xfrm>
            <a:prstGeom prst="rect">
              <a:avLst/>
            </a:prstGeom>
            <a:solidFill>
              <a:srgbClr val="E1EAE1"/>
            </a:solidFill>
            <a:ln w="19050">
              <a:solidFill>
                <a:srgbClr val="285C4D"/>
              </a:solidFill>
              <a:prstDash val="solid"/>
            </a:ln>
          </p:spPr>
        </p:sp>
        <p:sp>
          <p:nvSpPr>
            <p:cNvPr id="24" name="mlp_title">
              <a:hlinkClick r:id="rId5" action="ppaction://hlinksldjump" tooltip="Voir le parcours conditionnel du MLP" highlightClick="1"/>
              <a:extLst>
                <a:ext uri="{FF2B5EF4-FFF2-40B4-BE49-F238E27FC236}">
                  <a16:creationId xmlns:a16="http://schemas.microsoft.com/office/drawing/2014/main" id="{B89BC6BA-3349-40AE-8408-54339EB5DC10}"/>
                </a:ext>
              </a:extLst>
            </p:cNvPr>
            <p:cNvSpPr>
              <a:spLocks/>
            </p:cNvSpPr>
            <p:nvPr/>
          </p:nvSpPr>
          <p:spPr>
            <a:xfrm>
              <a:off x="10144125" y="4714875"/>
              <a:ext cx="2381250" cy="476250"/>
            </a:xfrm>
            <a:prstGeom prst="rect">
              <a:avLst/>
            </a:prstGeom>
            <a:noFill/>
            <a:ln w="9525">
              <a:noFill/>
              <a:prstDash val="solid"/>
            </a:ln>
          </p:spPr>
          <p:txBody>
            <a:bodyPr wrap="square" lIns="0" tIns="0" rIns="0" bIns="0" anchor="ctr">
              <a:noAutofit/>
            </a:bodyPr>
            <a:lstStyle>
              <a:defPPr algn="ctr">
                <a:defRPr sz="2175" b="1">
                  <a:solidFill>
                    <a:srgbClr val="285C4D"/>
                  </a:solidFill>
                  <a:latin typeface="Segoe UI"/>
                  <a:ea typeface="Segoe UI"/>
                  <a:cs typeface="Segoe UI"/>
                </a:defRPr>
              </a:defPPr>
            </a:lstStyle>
            <a:p>
              <a:pPr algn="ctr">
                <a:defRPr sz="2175" b="1">
                  <a:solidFill>
                    <a:srgbClr val="285C4D"/>
                  </a:solidFill>
                  <a:latin typeface="Segoe UI"/>
                  <a:ea typeface="Segoe UI"/>
                  <a:cs typeface="Segoe UI"/>
                </a:defRPr>
              </a:pPr>
              <a:r>
                <a:rPr sz="2175" b="1">
                  <a:solidFill>
                    <a:srgbClr val="285C4D"/>
                  </a:solidFill>
                  <a:latin typeface="Segoe UI"/>
                  <a:ea typeface="Segoe UI"/>
                  <a:cs typeface="Segoe UI"/>
                </a:rPr>
                <a:t>MLP local</a:t>
              </a:r>
            </a:p>
          </p:txBody>
        </p:sp>
        <p:sp>
          <p:nvSpPr>
            <p:cNvPr id="25" name="mlp_sub">
              <a:hlinkClick r:id="rId5" action="ppaction://hlinksldjump" tooltip="Voir le parcours conditionnel du MLP" highlightClick="1"/>
              <a:extLst>
                <a:ext uri="{FF2B5EF4-FFF2-40B4-BE49-F238E27FC236}">
                  <a16:creationId xmlns:a16="http://schemas.microsoft.com/office/drawing/2014/main" id="{A6F48B2B-783D-4C28-A3C2-F6044D932DD6}"/>
                </a:ext>
              </a:extLst>
            </p:cNvPr>
            <p:cNvSpPr>
              <a:spLocks/>
            </p:cNvSpPr>
            <p:nvPr/>
          </p:nvSpPr>
          <p:spPr>
            <a:xfrm>
              <a:off x="10096500" y="5219700"/>
              <a:ext cx="2476500" cy="523875"/>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Analyse ciblée et bornée</a:t>
              </a:r>
            </a:p>
          </p:txBody>
        </p:sp>
        <p:sp>
          <p:nvSpPr>
            <p:cNvPr id="26" name="mlp_in">
              <a:extLst>
                <a:ext uri="{FF2B5EF4-FFF2-40B4-BE49-F238E27FC236}">
                  <a16:creationId xmlns:a16="http://schemas.microsoft.com/office/drawing/2014/main" id="{0FD40FEB-A99E-41F5-B429-931F1A783AF3}"/>
                </a:ext>
              </a:extLst>
            </p:cNvPr>
            <p:cNvSpPr>
              <a:spLocks/>
            </p:cNvSpPr>
            <p:nvPr/>
          </p:nvSpPr>
          <p:spPr>
            <a:xfrm>
              <a:off x="11087100" y="3886200"/>
              <a:ext cx="161925" cy="457200"/>
            </a:xfrm>
            <a:prstGeom prst="downArrow">
              <a:avLst/>
            </a:prstGeom>
            <a:solidFill>
              <a:srgbClr val="285C4D"/>
            </a:solidFill>
            <a:ln w="9525">
              <a:noFill/>
              <a:prstDash val="solid"/>
            </a:ln>
          </p:spPr>
        </p:sp>
        <p:sp>
          <p:nvSpPr>
            <p:cNvPr id="27" name="optional_label">
              <a:extLst>
                <a:ext uri="{FF2B5EF4-FFF2-40B4-BE49-F238E27FC236}">
                  <a16:creationId xmlns:a16="http://schemas.microsoft.com/office/drawing/2014/main" id="{CDE762C5-49E2-4C30-84B9-D7E9F95863F8}"/>
                </a:ext>
              </a:extLst>
            </p:cNvPr>
            <p:cNvSpPr>
              <a:spLocks/>
            </p:cNvSpPr>
            <p:nvPr/>
          </p:nvSpPr>
          <p:spPr>
            <a:xfrm>
              <a:off x="11525250" y="3952875"/>
              <a:ext cx="1762125" cy="352425"/>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Si sollicité</a:t>
              </a:r>
            </a:p>
          </p:txBody>
        </p:sp>
        <p:sp>
          <p:nvSpPr>
            <p:cNvPr id="28" name="mlp_back_a">
              <a:extLst>
                <a:ext uri="{FF2B5EF4-FFF2-40B4-BE49-F238E27FC236}">
                  <a16:creationId xmlns:a16="http://schemas.microsoft.com/office/drawing/2014/main" id="{89534952-B641-4AAF-8CAC-873B0E604E8D}"/>
                </a:ext>
              </a:extLst>
            </p:cNvPr>
            <p:cNvSpPr>
              <a:spLocks/>
            </p:cNvSpPr>
            <p:nvPr/>
          </p:nvSpPr>
          <p:spPr>
            <a:xfrm>
              <a:off x="12744450" y="5210175"/>
              <a:ext cx="495300" cy="0"/>
            </a:xfrm>
            <a:prstGeom prst="line">
              <a:avLst/>
            </a:prstGeom>
            <a:noFill/>
            <a:ln w="19050">
              <a:solidFill>
                <a:srgbClr val="285C4D"/>
              </a:solidFill>
              <a:prstDash val="solid"/>
            </a:ln>
          </p:spPr>
        </p:sp>
        <p:sp>
          <p:nvSpPr>
            <p:cNvPr id="29" name="mlp_back_b">
              <a:extLst>
                <a:ext uri="{FF2B5EF4-FFF2-40B4-BE49-F238E27FC236}">
                  <a16:creationId xmlns:a16="http://schemas.microsoft.com/office/drawing/2014/main" id="{A5B25FB1-5C1E-4838-B962-52D8BB258936}"/>
                </a:ext>
              </a:extLst>
            </p:cNvPr>
            <p:cNvSpPr>
              <a:spLocks/>
            </p:cNvSpPr>
            <p:nvPr/>
          </p:nvSpPr>
          <p:spPr>
            <a:xfrm>
              <a:off x="13239750" y="3048000"/>
              <a:ext cx="0" cy="2162175"/>
            </a:xfrm>
            <a:prstGeom prst="line">
              <a:avLst/>
            </a:prstGeom>
            <a:noFill/>
            <a:ln w="19050">
              <a:solidFill>
                <a:srgbClr val="285C4D"/>
              </a:solidFill>
              <a:prstDash val="solid"/>
            </a:ln>
          </p:spPr>
        </p:sp>
      </p:grpSp>
      <p:sp>
        <p:nvSpPr>
          <p:cNvPr id="30" name="anim_score_packet">
            <a:extLst>
              <a:ext uri="{FF2B5EF4-FFF2-40B4-BE49-F238E27FC236}">
                <a16:creationId xmlns:a16="http://schemas.microsoft.com/office/drawing/2014/main" id="{C4530ECF-55DF-422E-AFE0-FFD8322D24F8}"/>
              </a:ext>
            </a:extLst>
          </p:cNvPr>
          <p:cNvSpPr>
            <a:spLocks/>
          </p:cNvSpPr>
          <p:nvPr/>
        </p:nvSpPr>
        <p:spPr>
          <a:xfrm>
            <a:off x="12744450" y="4981575"/>
            <a:ext cx="1000125" cy="457200"/>
          </a:xfrm>
          <a:prstGeom prst="rect">
            <a:avLst/>
          </a:prstGeom>
          <a:solidFill>
            <a:srgbClr val="FBF9F3"/>
          </a:solidFill>
          <a:ln w="14288">
            <a:solidFill>
              <a:srgbClr val="285C4D"/>
            </a:solidFill>
            <a:prstDash val="solid"/>
          </a:ln>
        </p:spPr>
        <p:txBody>
          <a:bodyPr wrap="square" lIns="47625" tIns="47625" rIns="47625" bIns="47625" anchor="ctr">
            <a:noAutofit/>
          </a:bodyPr>
          <a:lstStyle>
            <a:defPPr algn="ctr">
              <a:defRPr sz="1725" b="1">
                <a:solidFill>
                  <a:srgbClr val="285C4D"/>
                </a:solidFill>
                <a:latin typeface="Segoe UI"/>
                <a:ea typeface="Segoe UI"/>
                <a:cs typeface="Segoe UI"/>
              </a:defRPr>
            </a:defPPr>
          </a:lstStyle>
          <a:p>
            <a:pPr algn="ctr">
              <a:defRPr sz="1725" b="1">
                <a:solidFill>
                  <a:srgbClr val="285C4D"/>
                </a:solidFill>
                <a:latin typeface="Segoe UI"/>
                <a:ea typeface="Segoe UI"/>
                <a:cs typeface="Segoe UI"/>
              </a:defRPr>
            </a:pPr>
            <a:r>
              <a:rPr sz="1725" b="1">
                <a:solidFill>
                  <a:srgbClr val="285C4D"/>
                </a:solidFill>
                <a:latin typeface="Segoe UI"/>
                <a:ea typeface="Segoe UI"/>
                <a:cs typeface="Segoe UI"/>
              </a:rPr>
              <a:t>Score</a:t>
            </a:r>
          </a:p>
        </p:txBody>
      </p:sp>
      <p:grpSp>
        <p:nvGrpSpPr>
          <p:cNvPr id="63" name="anim_outcomes">
            <a:extLst>
              <a:ext uri="{FF2B5EF4-FFF2-40B4-BE49-F238E27FC236}">
                <a16:creationId xmlns:a16="http://schemas.microsoft.com/office/drawing/2014/main" id="{D8E91076-A838-1E9D-C76F-3C7BA6DF9F6C}"/>
              </a:ext>
            </a:extLst>
          </p:cNvPr>
          <p:cNvGrpSpPr/>
          <p:nvPr/>
        </p:nvGrpSpPr>
        <p:grpSpPr>
          <a:xfrm>
            <a:off x="13811250" y="3714750"/>
            <a:ext cx="3810000" cy="3876675"/>
            <a:chOff x="13811250" y="3714750"/>
            <a:chExt cx="3810000" cy="3876675"/>
          </a:xfrm>
        </p:grpSpPr>
        <p:sp>
          <p:nvSpPr>
            <p:cNvPr id="31" name="choice_stem">
              <a:extLst>
                <a:ext uri="{FF2B5EF4-FFF2-40B4-BE49-F238E27FC236}">
                  <a16:creationId xmlns:a16="http://schemas.microsoft.com/office/drawing/2014/main" id="{69324FDD-2966-441C-BBDB-41DA9FE5F623}"/>
                </a:ext>
              </a:extLst>
            </p:cNvPr>
            <p:cNvSpPr>
              <a:spLocks/>
            </p:cNvSpPr>
            <p:nvPr/>
          </p:nvSpPr>
          <p:spPr>
            <a:xfrm>
              <a:off x="15621000" y="3724275"/>
              <a:ext cx="0" cy="285750"/>
            </a:xfrm>
            <a:prstGeom prst="line">
              <a:avLst/>
            </a:prstGeom>
            <a:noFill/>
            <a:ln w="19050">
              <a:solidFill>
                <a:srgbClr val="285C4D"/>
              </a:solidFill>
              <a:prstDash val="solid"/>
            </a:ln>
          </p:spPr>
        </p:sp>
        <p:sp>
          <p:nvSpPr>
            <p:cNvPr id="32" name="choice_split">
              <a:extLst>
                <a:ext uri="{FF2B5EF4-FFF2-40B4-BE49-F238E27FC236}">
                  <a16:creationId xmlns:a16="http://schemas.microsoft.com/office/drawing/2014/main" id="{2FC055E0-FB5B-4A3B-AC32-8169D952BFF0}"/>
                </a:ext>
              </a:extLst>
            </p:cNvPr>
            <p:cNvSpPr>
              <a:spLocks/>
            </p:cNvSpPr>
            <p:nvPr/>
          </p:nvSpPr>
          <p:spPr>
            <a:xfrm>
              <a:off x="14716125" y="4010025"/>
              <a:ext cx="2000250" cy="0"/>
            </a:xfrm>
            <a:prstGeom prst="line">
              <a:avLst/>
            </a:prstGeom>
            <a:noFill/>
            <a:ln w="19050">
              <a:solidFill>
                <a:srgbClr val="285C4D"/>
              </a:solidFill>
              <a:prstDash val="solid"/>
            </a:ln>
          </p:spPr>
        </p:sp>
        <p:sp>
          <p:nvSpPr>
            <p:cNvPr id="33" name="blocked_in">
              <a:extLst>
                <a:ext uri="{FF2B5EF4-FFF2-40B4-BE49-F238E27FC236}">
                  <a16:creationId xmlns:a16="http://schemas.microsoft.com/office/drawing/2014/main" id="{C0B3CE43-48EF-4499-8CF6-D8428B35B4DD}"/>
                </a:ext>
              </a:extLst>
            </p:cNvPr>
            <p:cNvSpPr>
              <a:spLocks/>
            </p:cNvSpPr>
            <p:nvPr/>
          </p:nvSpPr>
          <p:spPr>
            <a:xfrm>
              <a:off x="14639925" y="4067175"/>
              <a:ext cx="152400" cy="304800"/>
            </a:xfrm>
            <a:prstGeom prst="downArrow">
              <a:avLst/>
            </a:prstGeom>
            <a:solidFill>
              <a:srgbClr val="A64035"/>
            </a:solidFill>
            <a:ln w="9525">
              <a:noFill/>
              <a:prstDash val="solid"/>
            </a:ln>
          </p:spPr>
        </p:sp>
        <p:sp>
          <p:nvSpPr>
            <p:cNvPr id="34" name="blocked_tag">
              <a:extLst>
                <a:ext uri="{FF2B5EF4-FFF2-40B4-BE49-F238E27FC236}">
                  <a16:creationId xmlns:a16="http://schemas.microsoft.com/office/drawing/2014/main" id="{1B7FA686-21F4-459A-A723-691E35359151}"/>
                </a:ext>
              </a:extLst>
            </p:cNvPr>
            <p:cNvSpPr>
              <a:spLocks/>
            </p:cNvSpPr>
            <p:nvPr/>
          </p:nvSpPr>
          <p:spPr>
            <a:xfrm>
              <a:off x="13811250" y="3790950"/>
              <a:ext cx="1333500" cy="333375"/>
            </a:xfrm>
            <a:prstGeom prst="rect">
              <a:avLst/>
            </a:prstGeom>
            <a:noFill/>
            <a:ln w="9525">
              <a:noFill/>
              <a:prstDash val="solid"/>
            </a:ln>
          </p:spPr>
          <p:txBody>
            <a:bodyPr wrap="square" lIns="0" tIns="0" rIns="0" bIns="0" anchor="ctr">
              <a:noAutofit/>
            </a:bodyPr>
            <a:lstStyle>
              <a:defPPr algn="l">
                <a:defRPr sz="1575" b="0">
                  <a:solidFill>
                    <a:srgbClr val="A64035"/>
                  </a:solidFill>
                  <a:latin typeface="Segoe UI"/>
                  <a:ea typeface="Segoe UI"/>
                  <a:cs typeface="Segoe UI"/>
                </a:defRPr>
              </a:defPPr>
            </a:lstStyle>
            <a:p>
              <a:pPr algn="l">
                <a:defRPr sz="1575" b="0">
                  <a:solidFill>
                    <a:srgbClr val="A64035"/>
                  </a:solidFill>
                  <a:latin typeface="Segoe UI"/>
                  <a:ea typeface="Segoe UI"/>
                  <a:cs typeface="Segoe UI"/>
                </a:defRPr>
              </a:pPr>
              <a:r>
                <a:rPr sz="1575" b="0">
                  <a:solidFill>
                    <a:srgbClr val="A64035"/>
                  </a:solidFill>
                  <a:latin typeface="Segoe UI"/>
                  <a:ea typeface="Segoe UI"/>
                  <a:cs typeface="Segoe UI"/>
                </a:rPr>
                <a:t>Blocage</a:t>
              </a:r>
            </a:p>
          </p:txBody>
        </p:sp>
        <p:sp>
          <p:nvSpPr>
            <p:cNvPr id="35" name="blocked_body">
              <a:extLst>
                <a:ext uri="{FF2B5EF4-FFF2-40B4-BE49-F238E27FC236}">
                  <a16:creationId xmlns:a16="http://schemas.microsoft.com/office/drawing/2014/main" id="{60443BA5-F79D-4807-88A5-47714D0A4C33}"/>
                </a:ext>
              </a:extLst>
            </p:cNvPr>
            <p:cNvSpPr>
              <a:spLocks/>
            </p:cNvSpPr>
            <p:nvPr/>
          </p:nvSpPr>
          <p:spPr>
            <a:xfrm>
              <a:off x="13954125" y="4514850"/>
              <a:ext cx="1619250" cy="971550"/>
            </a:xfrm>
            <a:prstGeom prst="rect">
              <a:avLst/>
            </a:prstGeom>
            <a:solidFill>
              <a:srgbClr val="F1DFD7"/>
            </a:solidFill>
            <a:ln w="19050">
              <a:solidFill>
                <a:srgbClr val="A64035"/>
              </a:solidFill>
              <a:prstDash val="solid"/>
            </a:ln>
          </p:spPr>
        </p:sp>
        <p:sp>
          <p:nvSpPr>
            <p:cNvPr id="36" name="blocked_text">
              <a:extLst>
                <a:ext uri="{FF2B5EF4-FFF2-40B4-BE49-F238E27FC236}">
                  <a16:creationId xmlns:a16="http://schemas.microsoft.com/office/drawing/2014/main" id="{D7593742-E7A4-4466-9149-07A7543AA195}"/>
                </a:ext>
              </a:extLst>
            </p:cNvPr>
            <p:cNvSpPr>
              <a:spLocks/>
            </p:cNvSpPr>
            <p:nvPr/>
          </p:nvSpPr>
          <p:spPr>
            <a:xfrm>
              <a:off x="14068425" y="4724400"/>
              <a:ext cx="1390650" cy="552450"/>
            </a:xfrm>
            <a:prstGeom prst="rect">
              <a:avLst/>
            </a:prstGeom>
            <a:noFill/>
            <a:ln w="9525">
              <a:noFill/>
              <a:prstDash val="solid"/>
            </a:ln>
          </p:spPr>
          <p:txBody>
            <a:bodyPr wrap="square" lIns="0" tIns="0" rIns="0" bIns="0" anchor="ctr">
              <a:noAutofit/>
            </a:bodyPr>
            <a:lstStyle>
              <a:defPPr algn="ctr">
                <a:defRPr sz="2175" b="1">
                  <a:solidFill>
                    <a:srgbClr val="A64035"/>
                  </a:solidFill>
                  <a:latin typeface="Segoe UI"/>
                  <a:ea typeface="Segoe UI"/>
                  <a:cs typeface="Segoe UI"/>
                </a:defRPr>
              </a:defPPr>
            </a:lstStyle>
            <a:p>
              <a:pPr algn="ctr">
                <a:defRPr sz="2175" b="1">
                  <a:solidFill>
                    <a:srgbClr val="A64035"/>
                  </a:solidFill>
                  <a:latin typeface="Segoe UI"/>
                  <a:ea typeface="Segoe UI"/>
                  <a:cs typeface="Segoe UI"/>
                </a:defRPr>
              </a:pPr>
              <a:r>
                <a:rPr sz="2175" b="1">
                  <a:solidFill>
                    <a:srgbClr val="A64035"/>
                  </a:solidFill>
                  <a:latin typeface="Segoe UI"/>
                  <a:ea typeface="Segoe UI"/>
                  <a:cs typeface="Segoe UI"/>
                </a:rPr>
                <a:t>HTTP 403</a:t>
              </a:r>
            </a:p>
          </p:txBody>
        </p:sp>
        <p:sp>
          <p:nvSpPr>
            <p:cNvPr id="37" name="allowed_in">
              <a:extLst>
                <a:ext uri="{FF2B5EF4-FFF2-40B4-BE49-F238E27FC236}">
                  <a16:creationId xmlns:a16="http://schemas.microsoft.com/office/drawing/2014/main" id="{9DA88948-E0D8-4510-A806-A543A9425465}"/>
                </a:ext>
              </a:extLst>
            </p:cNvPr>
            <p:cNvSpPr>
              <a:spLocks/>
            </p:cNvSpPr>
            <p:nvPr/>
          </p:nvSpPr>
          <p:spPr>
            <a:xfrm>
              <a:off x="16640175" y="4067175"/>
              <a:ext cx="152400" cy="304800"/>
            </a:xfrm>
            <a:prstGeom prst="downArrow">
              <a:avLst/>
            </a:prstGeom>
            <a:solidFill>
              <a:srgbClr val="285C4D"/>
            </a:solidFill>
            <a:ln w="9525">
              <a:noFill/>
              <a:prstDash val="solid"/>
            </a:ln>
          </p:spPr>
        </p:sp>
        <p:sp>
          <p:nvSpPr>
            <p:cNvPr id="38" name="allowed_tag">
              <a:extLst>
                <a:ext uri="{FF2B5EF4-FFF2-40B4-BE49-F238E27FC236}">
                  <a16:creationId xmlns:a16="http://schemas.microsoft.com/office/drawing/2014/main" id="{3DEA478E-6804-46A0-A074-23427571D9DA}"/>
                </a:ext>
              </a:extLst>
            </p:cNvPr>
            <p:cNvSpPr>
              <a:spLocks/>
            </p:cNvSpPr>
            <p:nvPr/>
          </p:nvSpPr>
          <p:spPr>
            <a:xfrm>
              <a:off x="16097250" y="3714750"/>
              <a:ext cx="1524000" cy="361950"/>
            </a:xfrm>
            <a:prstGeom prst="rect">
              <a:avLst/>
            </a:prstGeom>
            <a:noFill/>
            <a:ln w="9525">
              <a:noFill/>
              <a:prstDash val="solid"/>
            </a:ln>
          </p:spPr>
          <p:txBody>
            <a:bodyPr wrap="square" lIns="0" tIns="0" rIns="0" bIns="0" anchor="ctr">
              <a:noAutofit/>
            </a:bodyPr>
            <a:lstStyle>
              <a:defPPr algn="l">
                <a:defRPr sz="1575" b="0">
                  <a:solidFill>
                    <a:srgbClr val="285C4D"/>
                  </a:solidFill>
                  <a:latin typeface="Segoe UI"/>
                  <a:ea typeface="Segoe UI"/>
                  <a:cs typeface="Segoe UI"/>
                </a:defRPr>
              </a:defPPr>
            </a:lstStyle>
            <a:p>
              <a:pPr algn="l">
                <a:defRPr sz="1575" b="0">
                  <a:solidFill>
                    <a:srgbClr val="285C4D"/>
                  </a:solidFill>
                  <a:latin typeface="Segoe UI"/>
                  <a:ea typeface="Segoe UI"/>
                  <a:cs typeface="Segoe UI"/>
                </a:defRPr>
              </a:pPr>
              <a:r>
                <a:rPr sz="1575" b="0">
                  <a:solidFill>
                    <a:srgbClr val="285C4D"/>
                  </a:solidFill>
                  <a:latin typeface="Segoe UI"/>
                  <a:ea typeface="Segoe UI"/>
                  <a:cs typeface="Segoe UI"/>
                </a:rPr>
                <a:t>Poursuite</a:t>
              </a:r>
            </a:p>
          </p:txBody>
        </p:sp>
        <p:sp>
          <p:nvSpPr>
            <p:cNvPr id="39" name="allowed_body">
              <a:extLst>
                <a:ext uri="{FF2B5EF4-FFF2-40B4-BE49-F238E27FC236}">
                  <a16:creationId xmlns:a16="http://schemas.microsoft.com/office/drawing/2014/main" id="{670FB7E4-9685-4A18-8063-C0F5A2DA0297}"/>
                </a:ext>
              </a:extLst>
            </p:cNvPr>
            <p:cNvSpPr>
              <a:spLocks/>
            </p:cNvSpPr>
            <p:nvPr/>
          </p:nvSpPr>
          <p:spPr>
            <a:xfrm>
              <a:off x="15811500" y="4514850"/>
              <a:ext cx="1809750" cy="1104900"/>
            </a:xfrm>
            <a:prstGeom prst="rect">
              <a:avLst/>
            </a:prstGeom>
            <a:solidFill>
              <a:srgbClr val="FBF9F3"/>
            </a:solidFill>
            <a:ln w="19050">
              <a:solidFill>
                <a:srgbClr val="285C4D"/>
              </a:solidFill>
              <a:prstDash val="solid"/>
            </a:ln>
          </p:spPr>
        </p:sp>
        <p:sp>
          <p:nvSpPr>
            <p:cNvPr id="40" name="allowed_text">
              <a:extLst>
                <a:ext uri="{FF2B5EF4-FFF2-40B4-BE49-F238E27FC236}">
                  <a16:creationId xmlns:a16="http://schemas.microsoft.com/office/drawing/2014/main" id="{480CF9E5-6B36-4247-B509-73AE2C8873EE}"/>
                </a:ext>
              </a:extLst>
            </p:cNvPr>
            <p:cNvSpPr>
              <a:spLocks/>
            </p:cNvSpPr>
            <p:nvPr/>
          </p:nvSpPr>
          <p:spPr>
            <a:xfrm>
              <a:off x="15925800" y="4695825"/>
              <a:ext cx="1581150" cy="733425"/>
            </a:xfrm>
            <a:prstGeom prst="rect">
              <a:avLst/>
            </a:prstGeom>
            <a:noFill/>
            <a:ln w="9525">
              <a:noFill/>
              <a:prstDash val="solid"/>
            </a:ln>
          </p:spPr>
          <p:txBody>
            <a:bodyPr wrap="square" lIns="0" tIns="0" rIns="0" bIns="0" anchor="ctr">
              <a:noAutofit/>
            </a:bodyPr>
            <a:lstStyle>
              <a:defPPr algn="ctr">
                <a:defRPr sz="2025" b="1">
                  <a:solidFill>
                    <a:srgbClr val="285C4D"/>
                  </a:solidFill>
                  <a:latin typeface="Segoe UI"/>
                  <a:ea typeface="Segoe UI"/>
                  <a:cs typeface="Segoe UI"/>
                </a:defRPr>
              </a:defPPr>
            </a:lstStyle>
            <a:p>
              <a:pPr algn="ctr">
                <a:defRPr sz="2025" b="1">
                  <a:solidFill>
                    <a:srgbClr val="285C4D"/>
                  </a:solidFill>
                  <a:latin typeface="Segoe UI"/>
                  <a:ea typeface="Segoe UI"/>
                  <a:cs typeface="Segoe UI"/>
                </a:defRPr>
              </a:pPr>
              <a:r>
                <a:rPr sz="2025" b="1">
                  <a:solidFill>
                    <a:srgbClr val="285C4D"/>
                  </a:solidFill>
                  <a:latin typeface="Segoe UI"/>
                  <a:ea typeface="Segoe UI"/>
                  <a:cs typeface="Segoe UI"/>
                </a:rPr>
                <a:t>Requête</a:t>
              </a:r>
            </a:p>
            <a:p>
              <a:pPr algn="ctr">
                <a:defRPr sz="2025" b="1">
                  <a:solidFill>
                    <a:srgbClr val="285C4D"/>
                  </a:solidFill>
                  <a:latin typeface="Segoe UI"/>
                  <a:ea typeface="Segoe UI"/>
                  <a:cs typeface="Segoe UI"/>
                </a:defRPr>
              </a:pPr>
              <a:r>
                <a:rPr sz="2025" b="1">
                  <a:solidFill>
                    <a:srgbClr val="285C4D"/>
                  </a:solidFill>
                  <a:latin typeface="Segoe UI"/>
                  <a:ea typeface="Segoe UI"/>
                  <a:cs typeface="Segoe UI"/>
                </a:rPr>
                <a:t>préparée</a:t>
              </a:r>
            </a:p>
          </p:txBody>
        </p:sp>
        <p:sp>
          <p:nvSpPr>
            <p:cNvPr id="41" name="db_in">
              <a:extLst>
                <a:ext uri="{FF2B5EF4-FFF2-40B4-BE49-F238E27FC236}">
                  <a16:creationId xmlns:a16="http://schemas.microsoft.com/office/drawing/2014/main" id="{C5680D0C-2340-4FCE-85D1-6B2BC33AC88B}"/>
                </a:ext>
              </a:extLst>
            </p:cNvPr>
            <p:cNvSpPr>
              <a:spLocks/>
            </p:cNvSpPr>
            <p:nvPr/>
          </p:nvSpPr>
          <p:spPr>
            <a:xfrm>
              <a:off x="16640175" y="5857875"/>
              <a:ext cx="152400" cy="381000"/>
            </a:xfrm>
            <a:prstGeom prst="downArrow">
              <a:avLst/>
            </a:prstGeom>
            <a:solidFill>
              <a:srgbClr val="285C4D"/>
            </a:solidFill>
            <a:ln w="9525">
              <a:noFill/>
              <a:prstDash val="solid"/>
            </a:ln>
          </p:spPr>
        </p:sp>
        <p:sp>
          <p:nvSpPr>
            <p:cNvPr id="42" name="db">
              <a:extLst>
                <a:ext uri="{FF2B5EF4-FFF2-40B4-BE49-F238E27FC236}">
                  <a16:creationId xmlns:a16="http://schemas.microsoft.com/office/drawing/2014/main" id="{4B75EE21-0296-4B95-A31A-D5455380F2ED}"/>
                </a:ext>
              </a:extLst>
            </p:cNvPr>
            <p:cNvSpPr>
              <a:spLocks/>
            </p:cNvSpPr>
            <p:nvPr/>
          </p:nvSpPr>
          <p:spPr>
            <a:xfrm>
              <a:off x="15954375" y="6496050"/>
              <a:ext cx="1666875" cy="1095375"/>
            </a:xfrm>
            <a:prstGeom prst="can">
              <a:avLst/>
            </a:prstGeom>
            <a:solidFill>
              <a:srgbClr val="FBF9F3"/>
            </a:solidFill>
            <a:ln w="19050">
              <a:solidFill>
                <a:srgbClr val="285C4D"/>
              </a:solidFill>
              <a:prstDash val="solid"/>
            </a:ln>
          </p:spPr>
        </p:sp>
        <p:sp>
          <p:nvSpPr>
            <p:cNvPr id="43" name="db_text">
              <a:extLst>
                <a:ext uri="{FF2B5EF4-FFF2-40B4-BE49-F238E27FC236}">
                  <a16:creationId xmlns:a16="http://schemas.microsoft.com/office/drawing/2014/main" id="{DE417F90-ADC3-4714-B382-24705372F838}"/>
                </a:ext>
              </a:extLst>
            </p:cNvPr>
            <p:cNvSpPr>
              <a:spLocks/>
            </p:cNvSpPr>
            <p:nvPr/>
          </p:nvSpPr>
          <p:spPr>
            <a:xfrm>
              <a:off x="16078200" y="6867525"/>
              <a:ext cx="1419225" cy="352425"/>
            </a:xfrm>
            <a:prstGeom prst="rect">
              <a:avLst/>
            </a:prstGeom>
            <a:noFill/>
            <a:ln w="9525">
              <a:noFill/>
              <a:prstDash val="solid"/>
            </a:ln>
          </p:spPr>
          <p:txBody>
            <a:bodyPr wrap="square" lIns="0" tIns="0" rIns="0" bIns="0" anchor="ctr">
              <a:noAutofit/>
            </a:bodyPr>
            <a:lstStyle>
              <a:defPPr algn="ctr">
                <a:defRPr sz="2100" b="1">
                  <a:solidFill>
                    <a:srgbClr val="285C4D"/>
                  </a:solidFill>
                  <a:latin typeface="Segoe UI"/>
                  <a:ea typeface="Segoe UI"/>
                  <a:cs typeface="Segoe UI"/>
                </a:defRPr>
              </a:defPPr>
            </a:lstStyle>
            <a:p>
              <a:pPr algn="ctr">
                <a:defRPr sz="2100" b="1">
                  <a:solidFill>
                    <a:srgbClr val="285C4D"/>
                  </a:solidFill>
                  <a:latin typeface="Segoe UI"/>
                  <a:ea typeface="Segoe UI"/>
                  <a:cs typeface="Segoe UI"/>
                </a:defRPr>
              </a:pPr>
              <a:r>
                <a:rPr sz="2100" b="1">
                  <a:solidFill>
                    <a:srgbClr val="285C4D"/>
                  </a:solidFill>
                  <a:latin typeface="Segoe UI"/>
                  <a:ea typeface="Segoe UI"/>
                  <a:cs typeface="Segoe UI"/>
                </a:rPr>
                <a:t>MariaDB</a:t>
              </a:r>
            </a:p>
          </p:txBody>
        </p:sp>
      </p:grpSp>
      <p:grpSp>
        <p:nvGrpSpPr>
          <p:cNvPr id="64" name="anim_trace">
            <a:extLst>
              <a:ext uri="{FF2B5EF4-FFF2-40B4-BE49-F238E27FC236}">
                <a16:creationId xmlns:a16="http://schemas.microsoft.com/office/drawing/2014/main" id="{18AF6536-9FEC-38AE-9171-6EBC98B2A945}"/>
              </a:ext>
            </a:extLst>
          </p:cNvPr>
          <p:cNvGrpSpPr/>
          <p:nvPr/>
        </p:nvGrpSpPr>
        <p:grpSpPr>
          <a:xfrm>
            <a:off x="6762750" y="3743325"/>
            <a:ext cx="7334250" cy="4067175"/>
            <a:chOff x="6762750" y="3743325"/>
            <a:chExt cx="7334250" cy="4067175"/>
          </a:xfrm>
        </p:grpSpPr>
        <p:sp>
          <p:nvSpPr>
            <p:cNvPr id="44" name="trace_body">
              <a:extLst>
                <a:ext uri="{FF2B5EF4-FFF2-40B4-BE49-F238E27FC236}">
                  <a16:creationId xmlns:a16="http://schemas.microsoft.com/office/drawing/2014/main" id="{BB1C267B-0290-4631-A4D0-DA72C8CE6EA6}"/>
                </a:ext>
              </a:extLst>
            </p:cNvPr>
            <p:cNvSpPr>
              <a:spLocks/>
            </p:cNvSpPr>
            <p:nvPr/>
          </p:nvSpPr>
          <p:spPr>
            <a:xfrm>
              <a:off x="6762750" y="6619875"/>
              <a:ext cx="4667250" cy="1190625"/>
            </a:xfrm>
            <a:prstGeom prst="rect">
              <a:avLst/>
            </a:prstGeom>
            <a:solidFill>
              <a:srgbClr val="E1EAE1"/>
            </a:solidFill>
            <a:ln w="19050">
              <a:solidFill>
                <a:srgbClr val="285C4D"/>
              </a:solidFill>
              <a:prstDash val="solid"/>
            </a:ln>
          </p:spPr>
        </p:sp>
        <p:sp>
          <p:nvSpPr>
            <p:cNvPr id="45" name="trace_title">
              <a:extLst>
                <a:ext uri="{FF2B5EF4-FFF2-40B4-BE49-F238E27FC236}">
                  <a16:creationId xmlns:a16="http://schemas.microsoft.com/office/drawing/2014/main" id="{7F677077-8DFD-4022-B352-10D3B7117EDE}"/>
                </a:ext>
              </a:extLst>
            </p:cNvPr>
            <p:cNvSpPr>
              <a:spLocks/>
            </p:cNvSpPr>
            <p:nvPr/>
          </p:nvSpPr>
          <p:spPr>
            <a:xfrm>
              <a:off x="6953250" y="6762750"/>
              <a:ext cx="4286250" cy="476250"/>
            </a:xfrm>
            <a:prstGeom prst="rect">
              <a:avLst/>
            </a:prstGeom>
            <a:noFill/>
            <a:ln w="9525">
              <a:noFill/>
              <a:prstDash val="solid"/>
            </a:ln>
          </p:spPr>
          <p:txBody>
            <a:bodyPr wrap="square" lIns="0" tIns="0" rIns="0" bIns="0" anchor="ctr">
              <a:noAutofit/>
            </a:bodyPr>
            <a:lstStyle>
              <a:defPPr algn="ctr">
                <a:defRPr sz="2250" b="1">
                  <a:solidFill>
                    <a:srgbClr val="285C4D"/>
                  </a:solidFill>
                  <a:latin typeface="Segoe UI"/>
                  <a:ea typeface="Segoe UI"/>
                  <a:cs typeface="Segoe UI"/>
                </a:defRPr>
              </a:defPPr>
            </a:lstStyle>
            <a:p>
              <a:pPr algn="ctr">
                <a:defRPr sz="2250" b="1">
                  <a:solidFill>
                    <a:srgbClr val="285C4D"/>
                  </a:solidFill>
                  <a:latin typeface="Segoe UI"/>
                  <a:ea typeface="Segoe UI"/>
                  <a:cs typeface="Segoe UI"/>
                </a:defRPr>
              </a:pPr>
              <a:r>
                <a:rPr sz="2250" b="1">
                  <a:solidFill>
                    <a:srgbClr val="285C4D"/>
                  </a:solidFill>
                  <a:latin typeface="Segoe UI"/>
                  <a:ea typeface="Segoe UI"/>
                  <a:cs typeface="Segoe UI"/>
                </a:rPr>
                <a:t>Trace minimisée</a:t>
              </a:r>
            </a:p>
          </p:txBody>
        </p:sp>
        <p:sp>
          <p:nvSpPr>
            <p:cNvPr id="46" name="trace_sub">
              <a:extLst>
                <a:ext uri="{FF2B5EF4-FFF2-40B4-BE49-F238E27FC236}">
                  <a16:creationId xmlns:a16="http://schemas.microsoft.com/office/drawing/2014/main" id="{2D569AA1-12A3-4EED-907D-39640B004AA0}"/>
                </a:ext>
              </a:extLst>
            </p:cNvPr>
            <p:cNvSpPr>
              <a:spLocks/>
            </p:cNvSpPr>
            <p:nvPr/>
          </p:nvSpPr>
          <p:spPr>
            <a:xfrm>
              <a:off x="6905625" y="7267575"/>
              <a:ext cx="4381500" cy="45720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Journal du filtre + console</a:t>
              </a:r>
            </a:p>
          </p:txBody>
        </p:sp>
        <p:sp>
          <p:nvSpPr>
            <p:cNvPr id="47" name="trace_a">
              <a:extLst>
                <a:ext uri="{FF2B5EF4-FFF2-40B4-BE49-F238E27FC236}">
                  <a16:creationId xmlns:a16="http://schemas.microsoft.com/office/drawing/2014/main" id="{C442C137-B273-46CD-8DAA-CB7B082AAFF6}"/>
                </a:ext>
              </a:extLst>
            </p:cNvPr>
            <p:cNvSpPr>
              <a:spLocks/>
            </p:cNvSpPr>
            <p:nvPr/>
          </p:nvSpPr>
          <p:spPr>
            <a:xfrm>
              <a:off x="13620750" y="3743325"/>
              <a:ext cx="476250" cy="0"/>
            </a:xfrm>
            <a:prstGeom prst="line">
              <a:avLst/>
            </a:prstGeom>
            <a:noFill/>
            <a:ln w="19050">
              <a:solidFill>
                <a:srgbClr val="BFCABE"/>
              </a:solidFill>
              <a:prstDash val="solid"/>
            </a:ln>
          </p:spPr>
        </p:sp>
        <p:sp>
          <p:nvSpPr>
            <p:cNvPr id="48" name="trace_b">
              <a:extLst>
                <a:ext uri="{FF2B5EF4-FFF2-40B4-BE49-F238E27FC236}">
                  <a16:creationId xmlns:a16="http://schemas.microsoft.com/office/drawing/2014/main" id="{E8D47B28-9A16-4CAF-8098-6682511C7375}"/>
                </a:ext>
              </a:extLst>
            </p:cNvPr>
            <p:cNvSpPr>
              <a:spLocks/>
            </p:cNvSpPr>
            <p:nvPr/>
          </p:nvSpPr>
          <p:spPr>
            <a:xfrm>
              <a:off x="13620750" y="3743325"/>
              <a:ext cx="0" cy="3448050"/>
            </a:xfrm>
            <a:prstGeom prst="line">
              <a:avLst/>
            </a:prstGeom>
            <a:noFill/>
            <a:ln w="19050">
              <a:solidFill>
                <a:srgbClr val="BFCABE"/>
              </a:solidFill>
              <a:prstDash val="solid"/>
            </a:ln>
          </p:spPr>
        </p:sp>
        <p:sp>
          <p:nvSpPr>
            <p:cNvPr id="49" name="trace_c">
              <a:extLst>
                <a:ext uri="{FF2B5EF4-FFF2-40B4-BE49-F238E27FC236}">
                  <a16:creationId xmlns:a16="http://schemas.microsoft.com/office/drawing/2014/main" id="{477E854C-B585-4357-B157-129CD43774A2}"/>
                </a:ext>
              </a:extLst>
            </p:cNvPr>
            <p:cNvSpPr>
              <a:spLocks/>
            </p:cNvSpPr>
            <p:nvPr/>
          </p:nvSpPr>
          <p:spPr>
            <a:xfrm>
              <a:off x="12144375" y="7191375"/>
              <a:ext cx="1476375" cy="0"/>
            </a:xfrm>
            <a:prstGeom prst="line">
              <a:avLst/>
            </a:prstGeom>
            <a:noFill/>
            <a:ln w="19050">
              <a:solidFill>
                <a:srgbClr val="BFCABE"/>
              </a:solidFill>
              <a:prstDash val="solid"/>
            </a:ln>
          </p:spPr>
        </p:sp>
        <p:sp>
          <p:nvSpPr>
            <p:cNvPr id="50" name="trace_arrow">
              <a:extLst>
                <a:ext uri="{FF2B5EF4-FFF2-40B4-BE49-F238E27FC236}">
                  <a16:creationId xmlns:a16="http://schemas.microsoft.com/office/drawing/2014/main" id="{2E855428-0F03-4B57-8281-0866EB121814}"/>
                </a:ext>
              </a:extLst>
            </p:cNvPr>
            <p:cNvSpPr>
              <a:spLocks/>
            </p:cNvSpPr>
            <p:nvPr/>
          </p:nvSpPr>
          <p:spPr>
            <a:xfrm>
              <a:off x="11477625" y="7124700"/>
              <a:ext cx="666750" cy="133350"/>
            </a:xfrm>
            <a:prstGeom prst="leftArrow">
              <a:avLst/>
            </a:prstGeom>
            <a:solidFill>
              <a:srgbClr val="BFCABE"/>
            </a:solidFill>
            <a:ln w="9525">
              <a:noFill/>
              <a:prstDash val="solid"/>
            </a:ln>
          </p:spPr>
        </p:sp>
      </p:grpSp>
      <p:grpSp>
        <p:nvGrpSpPr>
          <p:cNvPr id="65" name="anim_assistant">
            <a:extLst>
              <a:ext uri="{FF2B5EF4-FFF2-40B4-BE49-F238E27FC236}">
                <a16:creationId xmlns:a16="http://schemas.microsoft.com/office/drawing/2014/main" id="{0C3C23F4-5766-EA1F-FAFD-056538A841E5}"/>
              </a:ext>
            </a:extLst>
          </p:cNvPr>
          <p:cNvGrpSpPr/>
          <p:nvPr/>
        </p:nvGrpSpPr>
        <p:grpSpPr>
          <a:xfrm>
            <a:off x="6762750" y="8001000"/>
            <a:ext cx="9953625" cy="1095375"/>
            <a:chOff x="6762750" y="8001000"/>
            <a:chExt cx="9953625" cy="1095375"/>
          </a:xfrm>
        </p:grpSpPr>
        <p:sp>
          <p:nvSpPr>
            <p:cNvPr id="51" name="assistant_in">
              <a:extLst>
                <a:ext uri="{FF2B5EF4-FFF2-40B4-BE49-F238E27FC236}">
                  <a16:creationId xmlns:a16="http://schemas.microsoft.com/office/drawing/2014/main" id="{50BC06EA-88D8-40AC-AA51-63A328A571DC}"/>
                </a:ext>
              </a:extLst>
            </p:cNvPr>
            <p:cNvSpPr>
              <a:spLocks/>
            </p:cNvSpPr>
            <p:nvPr/>
          </p:nvSpPr>
          <p:spPr>
            <a:xfrm>
              <a:off x="9020175" y="8001000"/>
              <a:ext cx="152400" cy="238125"/>
            </a:xfrm>
            <a:prstGeom prst="downArrow">
              <a:avLst/>
            </a:prstGeom>
            <a:solidFill>
              <a:srgbClr val="BFCABE"/>
            </a:solidFill>
            <a:ln w="9525">
              <a:noFill/>
              <a:prstDash val="solid"/>
            </a:ln>
          </p:spPr>
        </p:sp>
        <p:sp>
          <p:nvSpPr>
            <p:cNvPr id="52" name="assistant_label">
              <a:extLst>
                <a:ext uri="{FF2B5EF4-FFF2-40B4-BE49-F238E27FC236}">
                  <a16:creationId xmlns:a16="http://schemas.microsoft.com/office/drawing/2014/main" id="{2216684B-ECDC-4B58-B7AA-6335B091810E}"/>
                </a:ext>
              </a:extLst>
            </p:cNvPr>
            <p:cNvSpPr>
              <a:spLocks/>
            </p:cNvSpPr>
            <p:nvPr/>
          </p:nvSpPr>
          <p:spPr>
            <a:xfrm>
              <a:off x="6762750" y="8334375"/>
              <a:ext cx="4238625" cy="333375"/>
            </a:xfrm>
            <a:prstGeom prst="rect">
              <a:avLst/>
            </a:prstGeom>
            <a:noFill/>
            <a:ln w="9525">
              <a:noFill/>
              <a:prstDash val="solid"/>
            </a:ln>
          </p:spPr>
          <p:txBody>
            <a:bodyPr wrap="square" lIns="0" tIns="0" rIns="0" bIns="0" anchor="ctr">
              <a:noAutofit/>
            </a:bodyPr>
            <a:lstStyle>
              <a:defPPr algn="l">
                <a:defRPr sz="1500" b="1">
                  <a:solidFill>
                    <a:srgbClr val="285C4D"/>
                  </a:solidFill>
                  <a:latin typeface="Segoe UI"/>
                  <a:ea typeface="Segoe UI"/>
                  <a:cs typeface="Segoe UI"/>
                </a:defRPr>
              </a:defPPr>
            </a:lstStyle>
            <a:p>
              <a:pPr algn="l">
                <a:defRPr sz="1500" b="1">
                  <a:solidFill>
                    <a:srgbClr val="285C4D"/>
                  </a:solidFill>
                  <a:latin typeface="Segoe UI"/>
                  <a:ea typeface="Segoe UI"/>
                  <a:cs typeface="Segoe UI"/>
                </a:defRPr>
              </a:pPr>
              <a:r>
                <a:rPr sz="1500" b="1">
                  <a:solidFill>
                    <a:srgbClr val="285C4D"/>
                  </a:solidFill>
                  <a:latin typeface="Segoe UI"/>
                  <a:ea typeface="Segoe UI"/>
                  <a:cs typeface="Segoe UI"/>
                </a:rPr>
                <a:t>CONSULTATION UNIQUEMENT</a:t>
              </a:r>
            </a:p>
          </p:txBody>
        </p:sp>
        <p:sp>
          <p:nvSpPr>
            <p:cNvPr id="53" name="counters">
              <a:extLst>
                <a:ext uri="{FF2B5EF4-FFF2-40B4-BE49-F238E27FC236}">
                  <a16:creationId xmlns:a16="http://schemas.microsoft.com/office/drawing/2014/main" id="{5E1E4888-D2D4-42DF-84DE-F3AF3E5F9183}"/>
                </a:ext>
              </a:extLst>
            </p:cNvPr>
            <p:cNvSpPr>
              <a:spLocks/>
            </p:cNvSpPr>
            <p:nvPr/>
          </p:nvSpPr>
          <p:spPr>
            <a:xfrm>
              <a:off x="6772275" y="8763000"/>
              <a:ext cx="2952750" cy="333375"/>
            </a:xfrm>
            <a:prstGeom prst="rect">
              <a:avLst/>
            </a:prstGeom>
            <a:noFill/>
            <a:ln w="9525">
              <a:noFill/>
              <a:prstDash val="solid"/>
            </a:ln>
          </p:spPr>
          <p:txBody>
            <a:bodyPr wrap="square" lIns="0" tIns="0" rIns="0" bIns="0" anchor="ctr">
              <a:noAutofit/>
            </a:bodyPr>
            <a:lstStyle>
              <a:defPPr algn="l">
                <a:defRPr sz="1725" b="0">
                  <a:solidFill>
                    <a:srgbClr val="637368"/>
                  </a:solidFill>
                  <a:latin typeface="Segoe UI"/>
                  <a:ea typeface="Segoe UI"/>
                  <a:cs typeface="Segoe UI"/>
                </a:defRPr>
              </a:defPPr>
            </a:lstStyle>
            <a:p>
              <a:pPr algn="l">
                <a:defRPr sz="1725" b="0">
                  <a:solidFill>
                    <a:srgbClr val="637368"/>
                  </a:solidFill>
                  <a:latin typeface="Segoe UI"/>
                  <a:ea typeface="Segoe UI"/>
                  <a:cs typeface="Segoe UI"/>
                </a:defRPr>
              </a:pPr>
              <a:r>
                <a:rPr sz="1725" b="0">
                  <a:solidFill>
                    <a:srgbClr val="637368"/>
                  </a:solidFill>
                  <a:latin typeface="Segoe UI"/>
                  <a:ea typeface="Segoe UI"/>
                  <a:cs typeface="Segoe UI"/>
                </a:rPr>
                <a:t>Compteurs autorisés</a:t>
              </a:r>
            </a:p>
          </p:txBody>
        </p:sp>
        <p:sp>
          <p:nvSpPr>
            <p:cNvPr id="54" name="context_a">
              <a:extLst>
                <a:ext uri="{FF2B5EF4-FFF2-40B4-BE49-F238E27FC236}">
                  <a16:creationId xmlns:a16="http://schemas.microsoft.com/office/drawing/2014/main" id="{2B37CD37-AE81-4A4E-820E-86D8DEF0ABAD}"/>
                </a:ext>
              </a:extLst>
            </p:cNvPr>
            <p:cNvSpPr>
              <a:spLocks/>
            </p:cNvSpPr>
            <p:nvPr/>
          </p:nvSpPr>
          <p:spPr>
            <a:xfrm>
              <a:off x="9763125" y="8867775"/>
              <a:ext cx="504825" cy="114300"/>
            </a:xfrm>
            <a:prstGeom prst="rightArrow">
              <a:avLst/>
            </a:prstGeom>
            <a:solidFill>
              <a:srgbClr val="BFCABE"/>
            </a:solidFill>
            <a:ln w="9525">
              <a:noFill/>
              <a:prstDash val="solid"/>
            </a:ln>
          </p:spPr>
        </p:sp>
        <p:sp>
          <p:nvSpPr>
            <p:cNvPr id="55" name="langgraph">
              <a:extLst>
                <a:ext uri="{FF2B5EF4-FFF2-40B4-BE49-F238E27FC236}">
                  <a16:creationId xmlns:a16="http://schemas.microsoft.com/office/drawing/2014/main" id="{86845250-340D-4E23-9259-A9A91276DD67}"/>
                </a:ext>
              </a:extLst>
            </p:cNvPr>
            <p:cNvSpPr>
              <a:spLocks/>
            </p:cNvSpPr>
            <p:nvPr/>
          </p:nvSpPr>
          <p:spPr>
            <a:xfrm>
              <a:off x="10477500" y="8763000"/>
              <a:ext cx="2381250" cy="333375"/>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LangGraph</a:t>
              </a:r>
            </a:p>
          </p:txBody>
        </p:sp>
        <p:sp>
          <p:nvSpPr>
            <p:cNvPr id="56" name="context_b">
              <a:extLst>
                <a:ext uri="{FF2B5EF4-FFF2-40B4-BE49-F238E27FC236}">
                  <a16:creationId xmlns:a16="http://schemas.microsoft.com/office/drawing/2014/main" id="{BAB0CEAB-C69E-46F1-A7A0-F615F646AEE1}"/>
                </a:ext>
              </a:extLst>
            </p:cNvPr>
            <p:cNvSpPr>
              <a:spLocks/>
            </p:cNvSpPr>
            <p:nvPr/>
          </p:nvSpPr>
          <p:spPr>
            <a:xfrm>
              <a:off x="13049250" y="8867775"/>
              <a:ext cx="504825" cy="114300"/>
            </a:xfrm>
            <a:prstGeom prst="rightArrow">
              <a:avLst/>
            </a:prstGeom>
            <a:solidFill>
              <a:srgbClr val="BFCABE"/>
            </a:solidFill>
            <a:ln w="9525">
              <a:noFill/>
              <a:prstDash val="solid"/>
            </a:ln>
          </p:spPr>
        </p:sp>
        <p:sp>
          <p:nvSpPr>
            <p:cNvPr id="57" name="ollama">
              <a:extLst>
                <a:ext uri="{FF2B5EF4-FFF2-40B4-BE49-F238E27FC236}">
                  <a16:creationId xmlns:a16="http://schemas.microsoft.com/office/drawing/2014/main" id="{67BDB70F-F60B-426D-AD18-BF2A19BF23DA}"/>
                </a:ext>
              </a:extLst>
            </p:cNvPr>
            <p:cNvSpPr>
              <a:spLocks/>
            </p:cNvSpPr>
            <p:nvPr/>
          </p:nvSpPr>
          <p:spPr>
            <a:xfrm>
              <a:off x="13763625" y="8763000"/>
              <a:ext cx="2952750" cy="333375"/>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Ollama local</a:t>
              </a:r>
            </a:p>
          </p:txBody>
        </p:sp>
      </p:grpSp>
      <p:sp>
        <p:nvSpPr>
          <p:cNvPr id="66" name="nav_architecture" descr="Revenir au schéma de l'architecture">
            <a:hlinkClick r:id="rId6" action="ppaction://hlinksldjump" tooltip="Revenir au schéma de l'architecture" highlightClick="1"/>
            <a:extLst>
              <a:ext uri="{FF2B5EF4-FFF2-40B4-BE49-F238E27FC236}">
                <a16:creationId xmlns:a16="http://schemas.microsoft.com/office/drawing/2014/main" id="{81B119A5-83D9-590C-3C5A-6C63C845B044}"/>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67" name="nav_demonstrations" descr="Ouvrir la comparaison des parcours">
            <a:hlinkClick r:id="rId7" action="ppaction://hlinksldjump" tooltip="Ouvrir la comparaison des parcours" highlightClick="1"/>
            <a:extLst>
              <a:ext uri="{FF2B5EF4-FFF2-40B4-BE49-F238E27FC236}">
                <a16:creationId xmlns:a16="http://schemas.microsoft.com/office/drawing/2014/main" id="{65FE0129-DAAC-84BA-6C93-6173C567441B}"/>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68" name="nav_results" descr="Ouvrir les résultats et leurs limites">
            <a:hlinkClick r:id="rId8" action="ppaction://hlinksldjump" tooltip="Ouvrir les résultats et leurs limites" highlightClick="1"/>
            <a:extLst>
              <a:ext uri="{FF2B5EF4-FFF2-40B4-BE49-F238E27FC236}">
                <a16:creationId xmlns:a16="http://schemas.microsoft.com/office/drawing/2014/main" id="{8183C213-6477-6F63-703B-5B9533EF0723}"/>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extLst>
      <p:ext uri="{BB962C8B-B14F-4D97-AF65-F5344CB8AC3E}">
        <p14:creationId xmlns:p14="http://schemas.microsoft.com/office/powerpoint/2010/main" val="426712268"/>
      </p:ext>
    </p:extLst>
  </p:cSld>
  <p:clrMapOvr>
    <a:masterClrMapping/>
  </p:clrMapOvr>
  <mc:AlternateContent xmlns:mc="http://schemas.openxmlformats.org/markup-compatibility/2006">
    <mc:Choice xmlns:p14="http://schemas.microsoft.com/office/powerpoint/2010/main" Requires="p14">
      <p:transition p14:dur="4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400"/>
                                        <p:tgtEl>
                                          <p:spTgt spid="59"/>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59"/>
                                        </p:tgtEl>
                                        <p:attrNameLst>
                                          <p:attrName>style.visibility</p:attrName>
                                        </p:attrNameLst>
                                      </p:cBhvr>
                                      <p:to>
                                        <p:strVal val="visible"/>
                                      </p:to>
                                    </p:set>
                                    <p:animMotion origin="layout" path="M 0 0.01296296 L 0 0 E" pathEditMode="relative">
                                      <p:cBhvr from="" to="">
                                        <p:cTn id="10" dur="500" fill="hold">
                                          <p:stCondLst>
                                            <p:cond delay="0"/>
                                          </p:stCondLst>
                                        </p:cTn>
                                        <p:tgtEl>
                                          <p:spTgt spid="59"/>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350"/>
                                        <p:tgtEl>
                                          <p:spTgt spid="60"/>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60"/>
                                        </p:tgtEl>
                                        <p:attrNameLst>
                                          <p:attrName>style.visibility</p:attrName>
                                        </p:attrNameLst>
                                      </p:cBhvr>
                                      <p:to>
                                        <p:strVal val="visible"/>
                                      </p:to>
                                    </p:set>
                                    <p:animMotion origin="layout" path="M 0 0.01296296 L 0 0 E" pathEditMode="relative">
                                      <p:cBhvr from="" to="">
                                        <p:cTn id="18" dur="450" fill="hold">
                                          <p:stCondLst>
                                            <p:cond delay="0"/>
                                          </p:stCondLst>
                                        </p:cTn>
                                        <p:tgtEl>
                                          <p:spTgt spid="60"/>
                                        </p:tgtEl>
                                        <p:attrNameLst>
                                          <p:attrName>ppt_x</p:attrName>
                                          <p:attrName>ppt_y</p:attrName>
                                        </p:attrNameLst>
                                      </p:cBhvr>
                                    </p:animMotion>
                                  </p:childTnLst>
                                </p:cTn>
                              </p:par>
                            </p:childTnLst>
                          </p:cTn>
                        </p:par>
                        <p:par>
                          <p:cTn id="19" fill="hold">
                            <p:stCondLst>
                              <p:cond delay="45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300"/>
                                        <p:tgtEl>
                                          <p:spTgt spid="17"/>
                                        </p:tgtEl>
                                      </p:cBhvr>
                                    </p:animEffect>
                                  </p:childTnLst>
                                </p:cTn>
                              </p:par>
                            </p:childTnLst>
                          </p:cTn>
                        </p:par>
                        <p:par>
                          <p:cTn id="23" fill="hold">
                            <p:stCondLst>
                              <p:cond delay="750"/>
                            </p:stCondLst>
                            <p:childTnLst>
                              <p:par>
                                <p:cTn id="24" presetID="0" presetClass="entr" presetSubtype="0" accel="22000" decel="25000" fill="hold" grpId="1" nodeType="afterEffect">
                                  <p:stCondLst>
                                    <p:cond delay="0"/>
                                  </p:stCondLst>
                                  <p:childTnLst>
                                    <p:set>
                                      <p:cBhvr>
                                        <p:cTn id="25" dur="1" fill="hold">
                                          <p:stCondLst>
                                            <p:cond delay="649"/>
                                          </p:stCondLst>
                                        </p:cTn>
                                        <p:tgtEl>
                                          <p:spTgt spid="17"/>
                                        </p:tgtEl>
                                        <p:attrNameLst>
                                          <p:attrName>style.visibility</p:attrName>
                                        </p:attrNameLst>
                                      </p:cBhvr>
                                      <p:to>
                                        <p:strVal val="visible"/>
                                      </p:to>
                                    </p:set>
                                    <p:animMotion origin="layout" path="M 0 0 L 0.0546875 0 E" pathEditMode="relative">
                                      <p:cBhvr from="" to="">
                                        <p:cTn id="26" dur="650" fill="hold">
                                          <p:stCondLst>
                                            <p:cond delay="0"/>
                                          </p:stCondLst>
                                        </p:cTn>
                                        <p:tgtEl>
                                          <p:spTgt spid="17"/>
                                        </p:tgtEl>
                                        <p:attrNameLst>
                                          <p:attrName>ppt_x</p:attrName>
                                          <p:attrName>ppt_y</p:attrName>
                                        </p:attrNameLst>
                                      </p:cBhvr>
                                    </p:animMotion>
                                  </p:childTnLst>
                                </p:cTn>
                              </p:par>
                            </p:childTnLst>
                          </p:cTn>
                        </p:par>
                        <p:par>
                          <p:cTn id="27" fill="hold">
                            <p:stCondLst>
                              <p:cond delay="1400"/>
                            </p:stCondLst>
                            <p:childTnLst>
                              <p:par>
                                <p:cTn id="28" presetID="10" presetClass="exit" presetSubtype="0" fill="hold" grpId="2" nodeType="afterEffect">
                                  <p:stCondLst>
                                    <p:cond delay="0"/>
                                  </p:stCondLst>
                                  <p:childTnLst>
                                    <p:animEffect transition="out" filter="fade">
                                      <p:cBhvr>
                                        <p:cTn id="29" dur="500"/>
                                        <p:tgtEl>
                                          <p:spTgt spid="17"/>
                                        </p:tgtEl>
                                      </p:cBhvr>
                                    </p:animEffect>
                                    <p:set>
                                      <p:cBhvr>
                                        <p:cTn id="30" dur="1" fill="hold">
                                          <p:stCondLst>
                                            <p:cond delay="499"/>
                                          </p:stCondLst>
                                        </p:cTn>
                                        <p:tgtEl>
                                          <p:spTgt spid="17"/>
                                        </p:tgtEl>
                                        <p:attrNameLst>
                                          <p:attrName>style.visibility</p:attrName>
                                        </p:attrNameLst>
                                      </p:cBhvr>
                                      <p:to>
                                        <p:strVal val="hidden"/>
                                      </p:to>
                                    </p:set>
                                  </p:childTnLst>
                                </p:cTn>
                              </p:par>
                            </p:childTnLst>
                          </p:cTn>
                        </p:par>
                        <p:par>
                          <p:cTn id="31" fill="hold">
                            <p:stCondLst>
                              <p:cond delay="1900"/>
                            </p:stCondLst>
                            <p:childTnLst>
                              <p:par>
                                <p:cTn id="32" presetID="10" presetClass="entr" presetSubtype="0" fill="hold" nodeType="afterEffect">
                                  <p:stCondLst>
                                    <p:cond delay="0"/>
                                  </p:stCondLst>
                                  <p:childTnLst>
                                    <p:set>
                                      <p:cBhvr>
                                        <p:cTn id="33" dur="1" fill="hold">
                                          <p:stCondLst>
                                            <p:cond delay="0"/>
                                          </p:stCondLst>
                                        </p:cTn>
                                        <p:tgtEl>
                                          <p:spTgt spid="61"/>
                                        </p:tgtEl>
                                        <p:attrNameLst>
                                          <p:attrName>style.visibility</p:attrName>
                                        </p:attrNameLst>
                                      </p:cBhvr>
                                      <p:to>
                                        <p:strVal val="visible"/>
                                      </p:to>
                                    </p:set>
                                    <p:animEffect transition="in" filter="fade">
                                      <p:cBhvr>
                                        <p:cTn id="34" dur="350"/>
                                        <p:tgtEl>
                                          <p:spTgt spid="61"/>
                                        </p:tgtEl>
                                      </p:cBhvr>
                                    </p:animEffect>
                                  </p:childTnLst>
                                </p:cTn>
                              </p:par>
                              <p:par>
                                <p:cTn id="35" presetID="0" presetClass="entr" presetSubtype="0" accel="22000" decel="25000" fill="hold" nodeType="withEffect">
                                  <p:stCondLst>
                                    <p:cond delay="0"/>
                                  </p:stCondLst>
                                  <p:childTnLst>
                                    <p:set>
                                      <p:cBhvr>
                                        <p:cTn id="36" dur="1" fill="hold">
                                          <p:stCondLst>
                                            <p:cond delay="449"/>
                                          </p:stCondLst>
                                        </p:cTn>
                                        <p:tgtEl>
                                          <p:spTgt spid="61"/>
                                        </p:tgtEl>
                                        <p:attrNameLst>
                                          <p:attrName>style.visibility</p:attrName>
                                        </p:attrNameLst>
                                      </p:cBhvr>
                                      <p:to>
                                        <p:strVal val="visible"/>
                                      </p:to>
                                    </p:set>
                                    <p:animMotion origin="layout" path="M 0 0.01296296 L 0 0 E" pathEditMode="relative">
                                      <p:cBhvr from="" to="">
                                        <p:cTn id="37" dur="450" fill="hold">
                                          <p:stCondLst>
                                            <p:cond delay="0"/>
                                          </p:stCondLst>
                                        </p:cTn>
                                        <p:tgtEl>
                                          <p:spTgt spid="61"/>
                                        </p:tgtEl>
                                        <p:attrNameLst>
                                          <p:attrName>ppt_x</p:attrName>
                                          <p:attrName>ppt_y</p:attrName>
                                        </p:attrNameLst>
                                      </p:cBhvr>
                                    </p:animMotion>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350"/>
                                        <p:tgtEl>
                                          <p:spTgt spid="62"/>
                                        </p:tgtEl>
                                      </p:cBhvr>
                                    </p:animEffect>
                                  </p:childTnLst>
                                </p:cTn>
                              </p:par>
                              <p:par>
                                <p:cTn id="43" presetID="0" presetClass="entr" presetSubtype="0" accel="22000" decel="25000" fill="hold" nodeType="withEffect">
                                  <p:stCondLst>
                                    <p:cond delay="0"/>
                                  </p:stCondLst>
                                  <p:childTnLst>
                                    <p:set>
                                      <p:cBhvr>
                                        <p:cTn id="44" dur="1" fill="hold">
                                          <p:stCondLst>
                                            <p:cond delay="449"/>
                                          </p:stCondLst>
                                        </p:cTn>
                                        <p:tgtEl>
                                          <p:spTgt spid="62"/>
                                        </p:tgtEl>
                                        <p:attrNameLst>
                                          <p:attrName>style.visibility</p:attrName>
                                        </p:attrNameLst>
                                      </p:cBhvr>
                                      <p:to>
                                        <p:strVal val="visible"/>
                                      </p:to>
                                    </p:set>
                                    <p:animMotion origin="layout" path="M 0 0.01296296 L 0 0 E" pathEditMode="relative">
                                      <p:cBhvr from="" to="">
                                        <p:cTn id="45" dur="450" fill="hold">
                                          <p:stCondLst>
                                            <p:cond delay="0"/>
                                          </p:stCondLst>
                                        </p:cTn>
                                        <p:tgtEl>
                                          <p:spTgt spid="62"/>
                                        </p:tgtEl>
                                        <p:attrNameLst>
                                          <p:attrName>ppt_x</p:attrName>
                                          <p:attrName>ppt_y</p:attrName>
                                        </p:attrNameLst>
                                      </p:cBhvr>
                                    </p:animMotion>
                                  </p:childTnLst>
                                </p:cTn>
                              </p:par>
                            </p:childTnLst>
                          </p:cTn>
                        </p:par>
                        <p:par>
                          <p:cTn id="46" fill="hold">
                            <p:stCondLst>
                              <p:cond delay="450"/>
                            </p:stCondLst>
                            <p:childTnLst>
                              <p:par>
                                <p:cTn id="47" presetID="10" presetClass="entr" presetSubtype="0" fill="hold" grpId="0" nodeType="after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300"/>
                                        <p:tgtEl>
                                          <p:spTgt spid="30"/>
                                        </p:tgtEl>
                                      </p:cBhvr>
                                    </p:animEffect>
                                  </p:childTnLst>
                                </p:cTn>
                              </p:par>
                            </p:childTnLst>
                          </p:cTn>
                        </p:par>
                        <p:par>
                          <p:cTn id="50" fill="hold">
                            <p:stCondLst>
                              <p:cond delay="750"/>
                            </p:stCondLst>
                            <p:childTnLst>
                              <p:par>
                                <p:cTn id="51" presetID="0" presetClass="entr" presetSubtype="0" accel="22000" decel="25000" fill="hold" grpId="1" nodeType="afterEffect">
                                  <p:stCondLst>
                                    <p:cond delay="0"/>
                                  </p:stCondLst>
                                  <p:childTnLst>
                                    <p:set>
                                      <p:cBhvr>
                                        <p:cTn id="52" dur="1" fill="hold">
                                          <p:stCondLst>
                                            <p:cond delay="1049"/>
                                          </p:stCondLst>
                                        </p:cTn>
                                        <p:tgtEl>
                                          <p:spTgt spid="30"/>
                                        </p:tgtEl>
                                        <p:attrNameLst>
                                          <p:attrName>style.visibility</p:attrName>
                                        </p:attrNameLst>
                                      </p:cBhvr>
                                      <p:to>
                                        <p:strVal val="visible"/>
                                      </p:to>
                                    </p:set>
                                    <p:animMotion origin="layout" path="M 0 0 L 0 -0.21018519 L 0.05729167 -0.21018519 E" pathEditMode="relative">
                                      <p:cBhvr from="" to="">
                                        <p:cTn id="53" dur="1050" fill="hold">
                                          <p:stCondLst>
                                            <p:cond delay="0"/>
                                          </p:stCondLst>
                                        </p:cTn>
                                        <p:tgtEl>
                                          <p:spTgt spid="30"/>
                                        </p:tgtEl>
                                        <p:attrNameLst>
                                          <p:attrName>ppt_x</p:attrName>
                                          <p:attrName>ppt_y</p:attrName>
                                        </p:attrNameLst>
                                      </p:cBhvr>
                                    </p:animMotion>
                                  </p:childTnLst>
                                </p:cTn>
                              </p:par>
                            </p:childTnLst>
                          </p:cTn>
                        </p:par>
                        <p:par>
                          <p:cTn id="54" fill="hold">
                            <p:stCondLst>
                              <p:cond delay="1800"/>
                            </p:stCondLst>
                            <p:childTnLst>
                              <p:par>
                                <p:cTn id="55" presetID="10" presetClass="exit" presetSubtype="0" fill="hold" grpId="2" nodeType="afterEffect">
                                  <p:stCondLst>
                                    <p:cond delay="0"/>
                                  </p:stCondLst>
                                  <p:childTnLst>
                                    <p:animEffect transition="out" filter="fade">
                                      <p:cBhvr>
                                        <p:cTn id="56" dur="500"/>
                                        <p:tgtEl>
                                          <p:spTgt spid="30"/>
                                        </p:tgtEl>
                                      </p:cBhvr>
                                    </p:animEffect>
                                    <p:set>
                                      <p:cBhvr>
                                        <p:cTn id="57" dur="1" fill="hold">
                                          <p:stCondLst>
                                            <p:cond delay="499"/>
                                          </p:stCondLst>
                                        </p:cTn>
                                        <p:tgtEl>
                                          <p:spTgt spid="30"/>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350"/>
                                        <p:tgtEl>
                                          <p:spTgt spid="63"/>
                                        </p:tgtEl>
                                      </p:cBhvr>
                                    </p:animEffect>
                                  </p:childTnLst>
                                </p:cTn>
                              </p:par>
                              <p:par>
                                <p:cTn id="63" presetID="0" presetClass="entr" presetSubtype="0" accel="22000" decel="25000" fill="hold" nodeType="withEffect">
                                  <p:stCondLst>
                                    <p:cond delay="0"/>
                                  </p:stCondLst>
                                  <p:childTnLst>
                                    <p:set>
                                      <p:cBhvr>
                                        <p:cTn id="64" dur="1" fill="hold">
                                          <p:stCondLst>
                                            <p:cond delay="449"/>
                                          </p:stCondLst>
                                        </p:cTn>
                                        <p:tgtEl>
                                          <p:spTgt spid="63"/>
                                        </p:tgtEl>
                                        <p:attrNameLst>
                                          <p:attrName>style.visibility</p:attrName>
                                        </p:attrNameLst>
                                      </p:cBhvr>
                                      <p:to>
                                        <p:strVal val="visible"/>
                                      </p:to>
                                    </p:set>
                                    <p:animMotion origin="layout" path="M 0 0.01296296 L 0 0 E" pathEditMode="relative">
                                      <p:cBhvr from="" to="">
                                        <p:cTn id="65" dur="450" fill="hold">
                                          <p:stCondLst>
                                            <p:cond delay="0"/>
                                          </p:stCondLst>
                                        </p:cTn>
                                        <p:tgtEl>
                                          <p:spTgt spid="63"/>
                                        </p:tgtEl>
                                        <p:attrNameLst>
                                          <p:attrName>ppt_x</p:attrName>
                                          <p:attrName>ppt_y</p:attrName>
                                        </p:attrNameLst>
                                      </p:cBhvr>
                                    </p:animMotion>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350"/>
                                        <p:tgtEl>
                                          <p:spTgt spid="64"/>
                                        </p:tgtEl>
                                      </p:cBhvr>
                                    </p:animEffect>
                                  </p:childTnLst>
                                </p:cTn>
                              </p:par>
                              <p:par>
                                <p:cTn id="71" presetID="0" presetClass="entr" presetSubtype="0" accel="22000" decel="25000" fill="hold" nodeType="withEffect">
                                  <p:stCondLst>
                                    <p:cond delay="0"/>
                                  </p:stCondLst>
                                  <p:childTnLst>
                                    <p:set>
                                      <p:cBhvr>
                                        <p:cTn id="72" dur="1" fill="hold">
                                          <p:stCondLst>
                                            <p:cond delay="449"/>
                                          </p:stCondLst>
                                        </p:cTn>
                                        <p:tgtEl>
                                          <p:spTgt spid="64"/>
                                        </p:tgtEl>
                                        <p:attrNameLst>
                                          <p:attrName>style.visibility</p:attrName>
                                        </p:attrNameLst>
                                      </p:cBhvr>
                                      <p:to>
                                        <p:strVal val="visible"/>
                                      </p:to>
                                    </p:set>
                                    <p:animMotion origin="layout" path="M 0 0.01296296 L 0 0 E" pathEditMode="relative">
                                      <p:cBhvr from="" to="">
                                        <p:cTn id="73" dur="450" fill="hold">
                                          <p:stCondLst>
                                            <p:cond delay="0"/>
                                          </p:stCondLst>
                                        </p:cTn>
                                        <p:tgtEl>
                                          <p:spTgt spid="64"/>
                                        </p:tgtEl>
                                        <p:attrNameLst>
                                          <p:attrName>ppt_x</p:attrName>
                                          <p:attrName>ppt_y</p:attrName>
                                        </p:attrNameLst>
                                      </p:cBhvr>
                                    </p:animMotion>
                                  </p:childTnLst>
                                </p:cTn>
                              </p:par>
                            </p:childTnLst>
                          </p:cTn>
                        </p:par>
                        <p:par>
                          <p:cTn id="74" fill="hold">
                            <p:stCondLst>
                              <p:cond delay="450"/>
                            </p:stCondLst>
                            <p:childTnLst>
                              <p:par>
                                <p:cTn id="75" presetID="10" presetClass="entr" presetSubtype="0" fill="hold" nodeType="afterEffect">
                                  <p:stCondLst>
                                    <p:cond delay="0"/>
                                  </p:stCondLst>
                                  <p:childTnLst>
                                    <p:set>
                                      <p:cBhvr>
                                        <p:cTn id="76" dur="1" fill="hold">
                                          <p:stCondLst>
                                            <p:cond delay="0"/>
                                          </p:stCondLst>
                                        </p:cTn>
                                        <p:tgtEl>
                                          <p:spTgt spid="65"/>
                                        </p:tgtEl>
                                        <p:attrNameLst>
                                          <p:attrName>style.visibility</p:attrName>
                                        </p:attrNameLst>
                                      </p:cBhvr>
                                      <p:to>
                                        <p:strVal val="visible"/>
                                      </p:to>
                                    </p:set>
                                    <p:animEffect transition="in" filter="fade">
                                      <p:cBhvr>
                                        <p:cTn id="77" dur="350"/>
                                        <p:tgtEl>
                                          <p:spTgt spid="65"/>
                                        </p:tgtEl>
                                      </p:cBhvr>
                                    </p:animEffect>
                                  </p:childTnLst>
                                </p:cTn>
                              </p:par>
                              <p:par>
                                <p:cTn id="78" presetID="0" presetClass="entr" presetSubtype="0" accel="22000" decel="25000" fill="hold" nodeType="withEffect">
                                  <p:stCondLst>
                                    <p:cond delay="0"/>
                                  </p:stCondLst>
                                  <p:childTnLst>
                                    <p:set>
                                      <p:cBhvr>
                                        <p:cTn id="79" dur="1" fill="hold">
                                          <p:stCondLst>
                                            <p:cond delay="449"/>
                                          </p:stCondLst>
                                        </p:cTn>
                                        <p:tgtEl>
                                          <p:spTgt spid="65"/>
                                        </p:tgtEl>
                                        <p:attrNameLst>
                                          <p:attrName>style.visibility</p:attrName>
                                        </p:attrNameLst>
                                      </p:cBhvr>
                                      <p:to>
                                        <p:strVal val="visible"/>
                                      </p:to>
                                    </p:set>
                                    <p:animMotion origin="layout" path="M 0 0.01296296 L 0 0 E" pathEditMode="relative">
                                      <p:cBhvr from="" to="">
                                        <p:cTn id="80" dur="450" fill="hold">
                                          <p:stCondLst>
                                            <p:cond delay="0"/>
                                          </p:stCondLst>
                                        </p:cTn>
                                        <p:tgtEl>
                                          <p:spTgt spid="6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7" grpId="2" animBg="1"/>
      <p:bldP spid="30" grpId="0" animBg="1"/>
      <p:bldP spid="30" grpId="1" animBg="1"/>
      <p:bldP spid="30"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46" name="top_band">
            <a:extLst>
              <a:ext uri="{FF2B5EF4-FFF2-40B4-BE49-F238E27FC236}">
                <a16:creationId xmlns:a16="http://schemas.microsoft.com/office/drawing/2014/main" id="{5ED8B3F4-0E3E-46EE-817C-6DB1612D60CE}"/>
              </a:ext>
            </a:extLst>
          </p:cNvPr>
          <p:cNvSpPr>
            <a:spLocks/>
          </p:cNvSpPr>
          <p:nvPr/>
        </p:nvSpPr>
        <p:spPr>
          <a:xfrm>
            <a:off x="0" y="0"/>
            <a:ext cx="18288000" cy="114300"/>
          </a:xfrm>
          <a:prstGeom prst="rect">
            <a:avLst/>
          </a:prstGeom>
          <a:solidFill>
            <a:srgbClr val="285C4D"/>
          </a:solidFill>
          <a:ln w="9525">
            <a:noFill/>
            <a:prstDash val="solid"/>
          </a:ln>
        </p:spPr>
      </p:sp>
      <p:sp>
        <p:nvSpPr>
          <p:cNvPr id="2" name="brand">
            <a:hlinkClick r:id="rId3" action="ppaction://hlinksldjump" tooltip="Retour à l'accueil JNC" highlightClick="1"/>
            <a:extLst>
              <a:ext uri="{FF2B5EF4-FFF2-40B4-BE49-F238E27FC236}">
                <a16:creationId xmlns:a16="http://schemas.microsoft.com/office/drawing/2014/main" id="{004C3E7D-8CC0-4A89-BD1E-95A2DF7B3125}"/>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81E61981-EE9F-4A13-8A80-EC5A2E0618C6}"/>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DÉMONSTRATION 1 / 3</a:t>
            </a:r>
          </a:p>
        </p:txBody>
      </p:sp>
      <p:sp>
        <p:nvSpPr>
          <p:cNvPr id="4" name="folio">
            <a:extLst>
              <a:ext uri="{FF2B5EF4-FFF2-40B4-BE49-F238E27FC236}">
                <a16:creationId xmlns:a16="http://schemas.microsoft.com/office/drawing/2014/main" id="{D1B7A81E-F94A-4F21-9CF4-0202F6BFF7C7}"/>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5 / 9</a:t>
            </a:r>
          </a:p>
        </p:txBody>
      </p:sp>
      <p:grpSp>
        <p:nvGrpSpPr>
          <p:cNvPr id="47" name="anim_heading">
            <a:extLst>
              <a:ext uri="{FF2B5EF4-FFF2-40B4-BE49-F238E27FC236}">
                <a16:creationId xmlns:a16="http://schemas.microsoft.com/office/drawing/2014/main" id="{7CA47A63-0924-1BBB-7D7A-915B13754CE1}"/>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5502CE54-2B22-4893-920B-0DF69EA8D42E}"/>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Site</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vulnérable</a:t>
              </a:r>
            </a:p>
          </p:txBody>
        </p:sp>
        <p:sp>
          <p:nvSpPr>
            <p:cNvPr id="6" name="summary">
              <a:extLst>
                <a:ext uri="{FF2B5EF4-FFF2-40B4-BE49-F238E27FC236}">
                  <a16:creationId xmlns:a16="http://schemas.microsoft.com/office/drawing/2014/main" id="{EFF587BA-B205-4193-98D6-D7287C2F3710}"/>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La valeur HTTP est concaténée au SQL. La saisie peut alors modifier sa condition.</a:t>
              </a:r>
            </a:p>
          </p:txBody>
        </p:sp>
      </p:grpSp>
      <p:sp>
        <p:nvSpPr>
          <p:cNvPr id="7" name="footer_rule">
            <a:extLst>
              <a:ext uri="{FF2B5EF4-FFF2-40B4-BE49-F238E27FC236}">
                <a16:creationId xmlns:a16="http://schemas.microsoft.com/office/drawing/2014/main" id="{B507A9BC-023F-4741-BA00-8A30967F04EB}"/>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A9119F9B-1BE1-4FBF-90D2-7422069091A5}"/>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Simulation pédagogique : code vulnérable fictif, sans exécution réelle de SQL pendant le diaporama.</a:t>
            </a:r>
          </a:p>
        </p:txBody>
      </p:sp>
      <p:sp>
        <p:nvSpPr>
          <p:cNvPr id="9" name="browser_caption">
            <a:extLst>
              <a:ext uri="{FF2B5EF4-FFF2-40B4-BE49-F238E27FC236}">
                <a16:creationId xmlns:a16="http://schemas.microsoft.com/office/drawing/2014/main" id="{876A1016-C661-488D-980F-16E22D98300D}"/>
              </a:ext>
            </a:extLst>
          </p:cNvPr>
          <p:cNvSpPr>
            <a:spLocks/>
          </p:cNvSpPr>
          <p:nvPr/>
        </p:nvSpPr>
        <p:spPr>
          <a:xfrm>
            <a:off x="6286500" y="2133600"/>
            <a:ext cx="2905125"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NAVIGATEUR</a:t>
            </a:r>
          </a:p>
        </p:txBody>
      </p:sp>
      <p:sp>
        <p:nvSpPr>
          <p:cNvPr id="10" name="browser_frame">
            <a:extLst>
              <a:ext uri="{FF2B5EF4-FFF2-40B4-BE49-F238E27FC236}">
                <a16:creationId xmlns:a16="http://schemas.microsoft.com/office/drawing/2014/main" id="{751A2CEB-61A8-4716-BB2E-6F82EE6E7CE3}"/>
              </a:ext>
            </a:extLst>
          </p:cNvPr>
          <p:cNvSpPr>
            <a:spLocks/>
          </p:cNvSpPr>
          <p:nvPr/>
        </p:nvSpPr>
        <p:spPr>
          <a:xfrm>
            <a:off x="6286500" y="2952750"/>
            <a:ext cx="2952750" cy="2324100"/>
          </a:xfrm>
          <a:prstGeom prst="rect">
            <a:avLst/>
          </a:prstGeom>
          <a:solidFill>
            <a:srgbClr val="FBF9F3"/>
          </a:solidFill>
          <a:ln w="19050">
            <a:solidFill>
              <a:srgbClr val="BFCABE"/>
            </a:solidFill>
            <a:prstDash val="solid"/>
          </a:ln>
        </p:spPr>
      </p:sp>
      <p:sp>
        <p:nvSpPr>
          <p:cNvPr id="11" name="browser_bar">
            <a:extLst>
              <a:ext uri="{FF2B5EF4-FFF2-40B4-BE49-F238E27FC236}">
                <a16:creationId xmlns:a16="http://schemas.microsoft.com/office/drawing/2014/main" id="{0878F27C-8CD0-41B3-8633-98664CF1BA94}"/>
              </a:ext>
            </a:extLst>
          </p:cNvPr>
          <p:cNvSpPr>
            <a:spLocks/>
          </p:cNvSpPr>
          <p:nvPr/>
        </p:nvSpPr>
        <p:spPr>
          <a:xfrm>
            <a:off x="6286500" y="3343275"/>
            <a:ext cx="2952750" cy="0"/>
          </a:xfrm>
          <a:prstGeom prst="line">
            <a:avLst/>
          </a:prstGeom>
          <a:noFill/>
          <a:ln w="14288">
            <a:solidFill>
              <a:srgbClr val="BFCABE"/>
            </a:solidFill>
            <a:prstDash val="solid"/>
          </a:ln>
        </p:spPr>
      </p:sp>
      <p:sp>
        <p:nvSpPr>
          <p:cNvPr id="12" name="browser_dot_0">
            <a:extLst>
              <a:ext uri="{FF2B5EF4-FFF2-40B4-BE49-F238E27FC236}">
                <a16:creationId xmlns:a16="http://schemas.microsoft.com/office/drawing/2014/main" id="{2936310B-E26A-4089-A8A6-A818C1496819}"/>
              </a:ext>
            </a:extLst>
          </p:cNvPr>
          <p:cNvSpPr>
            <a:spLocks/>
          </p:cNvSpPr>
          <p:nvPr/>
        </p:nvSpPr>
        <p:spPr>
          <a:xfrm>
            <a:off x="6467475" y="3114675"/>
            <a:ext cx="57150" cy="57150"/>
          </a:xfrm>
          <a:prstGeom prst="ellipse">
            <a:avLst/>
          </a:prstGeom>
          <a:solidFill>
            <a:srgbClr val="BFCABE"/>
          </a:solidFill>
          <a:ln w="9525">
            <a:noFill/>
            <a:prstDash val="solid"/>
          </a:ln>
        </p:spPr>
      </p:sp>
      <p:sp>
        <p:nvSpPr>
          <p:cNvPr id="13" name="browser_dot_1">
            <a:extLst>
              <a:ext uri="{FF2B5EF4-FFF2-40B4-BE49-F238E27FC236}">
                <a16:creationId xmlns:a16="http://schemas.microsoft.com/office/drawing/2014/main" id="{D27E1777-6C48-4515-A59E-42DA8D1CE1F9}"/>
              </a:ext>
            </a:extLst>
          </p:cNvPr>
          <p:cNvSpPr>
            <a:spLocks/>
          </p:cNvSpPr>
          <p:nvPr/>
        </p:nvSpPr>
        <p:spPr>
          <a:xfrm>
            <a:off x="6629400" y="3114675"/>
            <a:ext cx="57150" cy="57150"/>
          </a:xfrm>
          <a:prstGeom prst="ellipse">
            <a:avLst/>
          </a:prstGeom>
          <a:solidFill>
            <a:srgbClr val="BFCABE"/>
          </a:solidFill>
          <a:ln w="9525">
            <a:noFill/>
            <a:prstDash val="solid"/>
          </a:ln>
        </p:spPr>
      </p:sp>
      <p:sp>
        <p:nvSpPr>
          <p:cNvPr id="14" name="browser_dot_2">
            <a:extLst>
              <a:ext uri="{FF2B5EF4-FFF2-40B4-BE49-F238E27FC236}">
                <a16:creationId xmlns:a16="http://schemas.microsoft.com/office/drawing/2014/main" id="{D770B061-9194-48C6-8D9A-D1AB5DB04897}"/>
              </a:ext>
            </a:extLst>
          </p:cNvPr>
          <p:cNvSpPr>
            <a:spLocks/>
          </p:cNvSpPr>
          <p:nvPr/>
        </p:nvSpPr>
        <p:spPr>
          <a:xfrm>
            <a:off x="6791325" y="3114675"/>
            <a:ext cx="57150" cy="57150"/>
          </a:xfrm>
          <a:prstGeom prst="ellipse">
            <a:avLst/>
          </a:prstGeom>
          <a:solidFill>
            <a:srgbClr val="BFCABE"/>
          </a:solidFill>
          <a:ln w="9525">
            <a:noFill/>
            <a:prstDash val="solid"/>
          </a:ln>
        </p:spPr>
      </p:sp>
      <p:sp>
        <p:nvSpPr>
          <p:cNvPr id="15" name="browser_tab">
            <a:extLst>
              <a:ext uri="{FF2B5EF4-FFF2-40B4-BE49-F238E27FC236}">
                <a16:creationId xmlns:a16="http://schemas.microsoft.com/office/drawing/2014/main" id="{47F820AA-DCD7-4D6E-B62A-4044E1604571}"/>
              </a:ext>
            </a:extLst>
          </p:cNvPr>
          <p:cNvSpPr>
            <a:spLocks/>
          </p:cNvSpPr>
          <p:nvPr/>
        </p:nvSpPr>
        <p:spPr>
          <a:xfrm>
            <a:off x="7086600" y="3009900"/>
            <a:ext cx="2000250" cy="266700"/>
          </a:xfrm>
          <a:prstGeom prst="rect">
            <a:avLst/>
          </a:prstGeom>
          <a:noFill/>
          <a:ln w="9525">
            <a:noFill/>
            <a:prstDash val="solid"/>
          </a:ln>
        </p:spPr>
        <p:txBody>
          <a:bodyPr wrap="square" lIns="0" tIns="0" rIns="0" bIns="0" anchor="ctr">
            <a:noAutofit/>
          </a:bodyPr>
          <a:lstStyle>
            <a:defPPr algn="l">
              <a:defRPr sz="1425" b="0">
                <a:solidFill>
                  <a:srgbClr val="637368"/>
                </a:solidFill>
                <a:latin typeface="Segoe UI"/>
                <a:ea typeface="Segoe UI"/>
                <a:cs typeface="Segoe UI"/>
              </a:defRPr>
            </a:defPPr>
          </a:lstStyle>
          <a:p>
            <a:pPr algn="l">
              <a:defRPr sz="1425" b="0">
                <a:solidFill>
                  <a:srgbClr val="637368"/>
                </a:solidFill>
                <a:latin typeface="Segoe UI"/>
                <a:ea typeface="Segoe UI"/>
                <a:cs typeface="Segoe UI"/>
              </a:defRPr>
            </a:pPr>
            <a:r>
              <a:rPr sz="1425" b="0">
                <a:solidFill>
                  <a:srgbClr val="637368"/>
                </a:solidFill>
                <a:latin typeface="Segoe UI"/>
                <a:ea typeface="Segoe UI"/>
                <a:cs typeface="Segoe UI"/>
              </a:rPr>
              <a:t>Formulaire</a:t>
            </a:r>
          </a:p>
        </p:txBody>
      </p:sp>
      <p:sp>
        <p:nvSpPr>
          <p:cNvPr id="16" name="input_label">
            <a:extLst>
              <a:ext uri="{FF2B5EF4-FFF2-40B4-BE49-F238E27FC236}">
                <a16:creationId xmlns:a16="http://schemas.microsoft.com/office/drawing/2014/main" id="{8A7C720A-796E-4327-8182-A9AD14D2E557}"/>
              </a:ext>
            </a:extLst>
          </p:cNvPr>
          <p:cNvSpPr>
            <a:spLocks/>
          </p:cNvSpPr>
          <p:nvPr/>
        </p:nvSpPr>
        <p:spPr>
          <a:xfrm>
            <a:off x="6496050" y="3571875"/>
            <a:ext cx="2524125" cy="381000"/>
          </a:xfrm>
          <a:prstGeom prst="rect">
            <a:avLst/>
          </a:prstGeom>
          <a:noFill/>
          <a:ln w="9525">
            <a:noFill/>
            <a:prstDash val="solid"/>
          </a:ln>
        </p:spPr>
        <p:txBody>
          <a:bodyPr wrap="square" lIns="0" tIns="0" rIns="0" bIns="0" anchor="ctr">
            <a:noAutofit/>
          </a:bodyPr>
          <a:lstStyle>
            <a:defPPr algn="l">
              <a:defRPr sz="1800" b="0">
                <a:solidFill>
                  <a:srgbClr val="637368"/>
                </a:solidFill>
                <a:latin typeface="Segoe UI"/>
                <a:ea typeface="Segoe UI"/>
                <a:cs typeface="Segoe UI"/>
              </a:defRPr>
            </a:defPPr>
          </a:lstStyle>
          <a:p>
            <a:pPr algn="l">
              <a:defRPr sz="1800" b="0">
                <a:solidFill>
                  <a:srgbClr val="637368"/>
                </a:solidFill>
                <a:latin typeface="Segoe UI"/>
                <a:ea typeface="Segoe UI"/>
                <a:cs typeface="Segoe UI"/>
              </a:defRPr>
            </a:pPr>
            <a:r>
              <a:rPr sz="1800" b="0">
                <a:solidFill>
                  <a:srgbClr val="637368"/>
                </a:solidFill>
                <a:latin typeface="Segoe UI"/>
                <a:ea typeface="Segoe UI"/>
                <a:cs typeface="Segoe UI"/>
              </a:rPr>
              <a:t>Valeur saisie</a:t>
            </a:r>
          </a:p>
        </p:txBody>
      </p:sp>
      <p:sp>
        <p:nvSpPr>
          <p:cNvPr id="17" name="input_field">
            <a:extLst>
              <a:ext uri="{FF2B5EF4-FFF2-40B4-BE49-F238E27FC236}">
                <a16:creationId xmlns:a16="http://schemas.microsoft.com/office/drawing/2014/main" id="{0BE5D43D-D81C-4F6D-BDD8-83DEF8E62668}"/>
              </a:ext>
            </a:extLst>
          </p:cNvPr>
          <p:cNvSpPr>
            <a:spLocks/>
          </p:cNvSpPr>
          <p:nvPr/>
        </p:nvSpPr>
        <p:spPr>
          <a:xfrm>
            <a:off x="6477000" y="4191000"/>
            <a:ext cx="2571750" cy="619125"/>
          </a:xfrm>
          <a:prstGeom prst="rect">
            <a:avLst/>
          </a:prstGeom>
          <a:solidFill>
            <a:srgbClr val="F4F1E9"/>
          </a:solidFill>
          <a:ln w="9525">
            <a:solidFill>
              <a:srgbClr val="BFCABE"/>
            </a:solidFill>
            <a:prstDash val="solid"/>
          </a:ln>
        </p:spPr>
      </p:sp>
      <p:sp>
        <p:nvSpPr>
          <p:cNvPr id="18" name="php_caption">
            <a:extLst>
              <a:ext uri="{FF2B5EF4-FFF2-40B4-BE49-F238E27FC236}">
                <a16:creationId xmlns:a16="http://schemas.microsoft.com/office/drawing/2014/main" id="{A277DC2F-5A4C-485C-A167-C43312DFCCE9}"/>
              </a:ext>
            </a:extLst>
          </p:cNvPr>
          <p:cNvSpPr>
            <a:spLocks/>
          </p:cNvSpPr>
          <p:nvPr/>
        </p:nvSpPr>
        <p:spPr>
          <a:xfrm>
            <a:off x="10620375" y="2133600"/>
            <a:ext cx="3238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APPLICATION PHP</a:t>
            </a:r>
          </a:p>
        </p:txBody>
      </p:sp>
      <p:sp>
        <p:nvSpPr>
          <p:cNvPr id="19" name="app_frame">
            <a:extLst>
              <a:ext uri="{FF2B5EF4-FFF2-40B4-BE49-F238E27FC236}">
                <a16:creationId xmlns:a16="http://schemas.microsoft.com/office/drawing/2014/main" id="{1E4017BE-41AD-41A5-92F6-726157F06B04}"/>
              </a:ext>
            </a:extLst>
          </p:cNvPr>
          <p:cNvSpPr>
            <a:spLocks/>
          </p:cNvSpPr>
          <p:nvPr/>
        </p:nvSpPr>
        <p:spPr>
          <a:xfrm>
            <a:off x="10620375" y="2952750"/>
            <a:ext cx="3143250" cy="2324100"/>
          </a:xfrm>
          <a:prstGeom prst="rect">
            <a:avLst/>
          </a:prstGeom>
          <a:solidFill>
            <a:srgbClr val="FBF9F3"/>
          </a:solidFill>
          <a:ln w="19050">
            <a:solidFill>
              <a:srgbClr val="285C4D"/>
            </a:solidFill>
            <a:prstDash val="solid"/>
          </a:ln>
        </p:spPr>
      </p:sp>
      <p:sp>
        <p:nvSpPr>
          <p:cNvPr id="20" name="db_caption">
            <a:extLst>
              <a:ext uri="{FF2B5EF4-FFF2-40B4-BE49-F238E27FC236}">
                <a16:creationId xmlns:a16="http://schemas.microsoft.com/office/drawing/2014/main" id="{345589B5-58C6-4BDB-BE52-31FB0F0EE1AE}"/>
              </a:ext>
            </a:extLst>
          </p:cNvPr>
          <p:cNvSpPr>
            <a:spLocks/>
          </p:cNvSpPr>
          <p:nvPr/>
        </p:nvSpPr>
        <p:spPr>
          <a:xfrm>
            <a:off x="15240000" y="2133600"/>
            <a:ext cx="2095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MARIADB</a:t>
            </a:r>
          </a:p>
        </p:txBody>
      </p:sp>
      <p:sp>
        <p:nvSpPr>
          <p:cNvPr id="21" name="db_body">
            <a:extLst>
              <a:ext uri="{FF2B5EF4-FFF2-40B4-BE49-F238E27FC236}">
                <a16:creationId xmlns:a16="http://schemas.microsoft.com/office/drawing/2014/main" id="{202AFE11-A37D-4200-BC5D-6EC41280748E}"/>
              </a:ext>
            </a:extLst>
          </p:cNvPr>
          <p:cNvSpPr>
            <a:spLocks/>
          </p:cNvSpPr>
          <p:nvPr/>
        </p:nvSpPr>
        <p:spPr>
          <a:xfrm>
            <a:off x="15287625" y="3152775"/>
            <a:ext cx="2095500" cy="1962150"/>
          </a:xfrm>
          <a:prstGeom prst="can">
            <a:avLst/>
          </a:prstGeom>
          <a:solidFill>
            <a:srgbClr val="FBF9F3"/>
          </a:solidFill>
          <a:ln w="19050">
            <a:solidFill>
              <a:srgbClr val="BFCABE"/>
            </a:solidFill>
            <a:prstDash val="solid"/>
          </a:ln>
        </p:spPr>
      </p:sp>
      <p:sp>
        <p:nvSpPr>
          <p:cNvPr id="22" name="db_label">
            <a:extLst>
              <a:ext uri="{FF2B5EF4-FFF2-40B4-BE49-F238E27FC236}">
                <a16:creationId xmlns:a16="http://schemas.microsoft.com/office/drawing/2014/main" id="{0EDEC893-0BDF-453E-B05F-2B22E7B47AD2}"/>
              </a:ext>
            </a:extLst>
          </p:cNvPr>
          <p:cNvSpPr>
            <a:spLocks/>
          </p:cNvSpPr>
          <p:nvPr/>
        </p:nvSpPr>
        <p:spPr>
          <a:xfrm>
            <a:off x="15430500" y="3667125"/>
            <a:ext cx="1809750" cy="904875"/>
          </a:xfrm>
          <a:prstGeom prst="rect">
            <a:avLst/>
          </a:prstGeom>
          <a:noFill/>
          <a:ln w="9525">
            <a:noFill/>
            <a:prstDash val="solid"/>
          </a:ln>
        </p:spPr>
        <p:txBody>
          <a:bodyPr wrap="square" lIns="0" tIns="0" rIns="0" bIns="0" anchor="ctr">
            <a:noAutofit/>
          </a:bodyPr>
          <a:lstStyle>
            <a:defPPr algn="ctr">
              <a:defRPr sz="2100" b="1">
                <a:solidFill>
                  <a:srgbClr val="637368"/>
                </a:solidFill>
                <a:latin typeface="Segoe UI"/>
                <a:ea typeface="Segoe UI"/>
                <a:cs typeface="Segoe UI"/>
              </a:defRPr>
            </a:defPPr>
          </a:lstStyle>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Base de</a:t>
            </a:r>
          </a:p>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données</a:t>
            </a:r>
          </a:p>
        </p:txBody>
      </p:sp>
      <p:sp>
        <p:nvSpPr>
          <p:cNvPr id="23" name="http_rail">
            <a:extLst>
              <a:ext uri="{FF2B5EF4-FFF2-40B4-BE49-F238E27FC236}">
                <a16:creationId xmlns:a16="http://schemas.microsoft.com/office/drawing/2014/main" id="{FD5CD489-AC5E-4D7D-AA4F-6F4001221742}"/>
              </a:ext>
            </a:extLst>
          </p:cNvPr>
          <p:cNvSpPr>
            <a:spLocks/>
          </p:cNvSpPr>
          <p:nvPr/>
        </p:nvSpPr>
        <p:spPr>
          <a:xfrm>
            <a:off x="9391650" y="4276725"/>
            <a:ext cx="1057275" cy="133350"/>
          </a:xfrm>
          <a:prstGeom prst="rightArrow">
            <a:avLst/>
          </a:prstGeom>
          <a:solidFill>
            <a:srgbClr val="BFCABE"/>
          </a:solidFill>
          <a:ln w="9525">
            <a:noFill/>
            <a:prstDash val="solid"/>
          </a:ln>
        </p:spPr>
      </p:sp>
      <p:sp>
        <p:nvSpPr>
          <p:cNvPr id="24" name="http_caption">
            <a:extLst>
              <a:ext uri="{FF2B5EF4-FFF2-40B4-BE49-F238E27FC236}">
                <a16:creationId xmlns:a16="http://schemas.microsoft.com/office/drawing/2014/main" id="{D13F9E30-B142-420F-8A95-9AAEE42F72C1}"/>
              </a:ext>
            </a:extLst>
          </p:cNvPr>
          <p:cNvSpPr>
            <a:spLocks/>
          </p:cNvSpPr>
          <p:nvPr/>
        </p:nvSpPr>
        <p:spPr>
          <a:xfrm>
            <a:off x="9315450" y="3800475"/>
            <a:ext cx="11906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HTTP</a:t>
            </a:r>
          </a:p>
        </p:txBody>
      </p:sp>
      <p:sp>
        <p:nvSpPr>
          <p:cNvPr id="25" name="app_title">
            <a:extLst>
              <a:ext uri="{FF2B5EF4-FFF2-40B4-BE49-F238E27FC236}">
                <a16:creationId xmlns:a16="http://schemas.microsoft.com/office/drawing/2014/main" id="{21080AE9-E87D-4223-93F6-FAA931E515AA}"/>
              </a:ext>
            </a:extLst>
          </p:cNvPr>
          <p:cNvSpPr>
            <a:spLocks/>
          </p:cNvSpPr>
          <p:nvPr/>
        </p:nvSpPr>
        <p:spPr>
          <a:xfrm>
            <a:off x="10820400" y="3143250"/>
            <a:ext cx="2743200" cy="476250"/>
          </a:xfrm>
          <a:prstGeom prst="rect">
            <a:avLst/>
          </a:prstGeom>
          <a:noFill/>
          <a:ln w="9525">
            <a:noFill/>
            <a:prstDash val="solid"/>
          </a:ln>
        </p:spPr>
        <p:txBody>
          <a:bodyPr wrap="square" lIns="0" tIns="0" rIns="0" bIns="0" anchor="ctr">
            <a:noAutofit/>
          </a:bodyPr>
          <a:lstStyle>
            <a:defPPr algn="ctr">
              <a:defRPr sz="2325" b="1">
                <a:solidFill>
                  <a:srgbClr val="285C4D"/>
                </a:solidFill>
                <a:latin typeface="Segoe UI"/>
                <a:ea typeface="Segoe UI"/>
                <a:cs typeface="Segoe UI"/>
              </a:defRPr>
            </a:defPPr>
          </a:lstStyle>
          <a:p>
            <a:pPr algn="ctr">
              <a:defRPr sz="2325" b="1">
                <a:solidFill>
                  <a:srgbClr val="285C4D"/>
                </a:solidFill>
                <a:latin typeface="Segoe UI"/>
                <a:ea typeface="Segoe UI"/>
                <a:cs typeface="Segoe UI"/>
              </a:defRPr>
            </a:pPr>
            <a:r>
              <a:rPr sz="2325" b="1">
                <a:solidFill>
                  <a:srgbClr val="285C4D"/>
                </a:solidFill>
                <a:latin typeface="Segoe UI"/>
                <a:ea typeface="Segoe UI"/>
                <a:cs typeface="Segoe UI"/>
              </a:rPr>
              <a:t>Concaténation SQL</a:t>
            </a:r>
          </a:p>
        </p:txBody>
      </p:sp>
      <p:sp>
        <p:nvSpPr>
          <p:cNvPr id="26" name="app_sub">
            <a:extLst>
              <a:ext uri="{FF2B5EF4-FFF2-40B4-BE49-F238E27FC236}">
                <a16:creationId xmlns:a16="http://schemas.microsoft.com/office/drawing/2014/main" id="{98D7DDB1-34A6-4E3D-A46D-59FFADDF0230}"/>
              </a:ext>
            </a:extLst>
          </p:cNvPr>
          <p:cNvSpPr>
            <a:spLocks/>
          </p:cNvSpPr>
          <p:nvPr/>
        </p:nvSpPr>
        <p:spPr>
          <a:xfrm>
            <a:off x="10839450" y="3790950"/>
            <a:ext cx="2705100" cy="685800"/>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La valeur rejoint</a:t>
            </a:r>
          </a:p>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le texte de la requête.</a:t>
            </a:r>
          </a:p>
        </p:txBody>
      </p:sp>
      <p:sp>
        <p:nvSpPr>
          <p:cNvPr id="27" name="sql_rail">
            <a:extLst>
              <a:ext uri="{FF2B5EF4-FFF2-40B4-BE49-F238E27FC236}">
                <a16:creationId xmlns:a16="http://schemas.microsoft.com/office/drawing/2014/main" id="{830E764C-5B89-49D3-84AB-17B0ABBBEB2B}"/>
              </a:ext>
            </a:extLst>
          </p:cNvPr>
          <p:cNvSpPr>
            <a:spLocks/>
          </p:cNvSpPr>
          <p:nvPr/>
        </p:nvSpPr>
        <p:spPr>
          <a:xfrm>
            <a:off x="13935075" y="4276725"/>
            <a:ext cx="1152525" cy="133350"/>
          </a:xfrm>
          <a:prstGeom prst="rightArrow">
            <a:avLst/>
          </a:prstGeom>
          <a:solidFill>
            <a:srgbClr val="BFCABE"/>
          </a:solidFill>
          <a:ln w="9525">
            <a:noFill/>
            <a:prstDash val="solid"/>
          </a:ln>
        </p:spPr>
      </p:sp>
      <p:sp>
        <p:nvSpPr>
          <p:cNvPr id="28" name="sql_caption">
            <a:extLst>
              <a:ext uri="{FF2B5EF4-FFF2-40B4-BE49-F238E27FC236}">
                <a16:creationId xmlns:a16="http://schemas.microsoft.com/office/drawing/2014/main" id="{7A2CD556-C6CD-4E8D-899E-CE958F959630}"/>
              </a:ext>
            </a:extLst>
          </p:cNvPr>
          <p:cNvSpPr>
            <a:spLocks/>
          </p:cNvSpPr>
          <p:nvPr/>
        </p:nvSpPr>
        <p:spPr>
          <a:xfrm>
            <a:off x="13935075" y="3800475"/>
            <a:ext cx="11525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SQL</a:t>
            </a:r>
          </a:p>
        </p:txBody>
      </p:sp>
      <p:sp>
        <p:nvSpPr>
          <p:cNvPr id="29" name="anim_payload">
            <a:extLst>
              <a:ext uri="{FF2B5EF4-FFF2-40B4-BE49-F238E27FC236}">
                <a16:creationId xmlns:a16="http://schemas.microsoft.com/office/drawing/2014/main" id="{738556D1-B8EA-47CA-87E9-BB3A5DF02CE7}"/>
              </a:ext>
            </a:extLst>
          </p:cNvPr>
          <p:cNvSpPr>
            <a:spLocks/>
          </p:cNvSpPr>
          <p:nvPr/>
        </p:nvSpPr>
        <p:spPr>
          <a:xfrm>
            <a:off x="6581775" y="4305300"/>
            <a:ext cx="2400300" cy="400050"/>
          </a:xfrm>
          <a:prstGeom prst="rect">
            <a:avLst/>
          </a:prstGeom>
          <a:noFill/>
          <a:ln w="9525">
            <a:noFill/>
            <a:prstDash val="solid"/>
          </a:ln>
        </p:spPr>
        <p:txBody>
          <a:bodyPr wrap="square" lIns="0" tIns="0" rIns="0" bIns="0" anchor="ctr">
            <a:noAutofit/>
          </a:bodyPr>
          <a:lstStyle>
            <a:defPPr algn="l">
              <a:defRPr sz="2175" b="1">
                <a:solidFill>
                  <a:srgbClr val="A64035"/>
                </a:solidFill>
                <a:latin typeface="Consolas"/>
                <a:ea typeface="Consolas"/>
                <a:cs typeface="Consolas"/>
              </a:defRPr>
            </a:defPPr>
          </a:lstStyle>
          <a:p>
            <a:pPr algn="l">
              <a:defRPr sz="2175" b="1">
                <a:solidFill>
                  <a:srgbClr val="A64035"/>
                </a:solidFill>
                <a:latin typeface="Consolas"/>
                <a:ea typeface="Consolas"/>
                <a:cs typeface="Consolas"/>
              </a:defRPr>
            </a:pPr>
            <a:r>
              <a:rPr sz="2175" b="1">
                <a:solidFill>
                  <a:srgbClr val="A64035"/>
                </a:solidFill>
                <a:latin typeface="Consolas"/>
                <a:ea typeface="Consolas"/>
                <a:cs typeface="Consolas"/>
              </a:rPr>
              <a:t>' OR 1=1 -- </a:t>
            </a:r>
          </a:p>
        </p:txBody>
      </p:sp>
      <p:sp>
        <p:nvSpPr>
          <p:cNvPr id="30" name="anim_http_packet">
            <a:extLst>
              <a:ext uri="{FF2B5EF4-FFF2-40B4-BE49-F238E27FC236}">
                <a16:creationId xmlns:a16="http://schemas.microsoft.com/office/drawing/2014/main" id="{F8F32A94-2486-4715-97E1-F069D7AD2584}"/>
              </a:ext>
            </a:extLst>
          </p:cNvPr>
          <p:cNvSpPr>
            <a:spLocks/>
          </p:cNvSpPr>
          <p:nvPr/>
        </p:nvSpPr>
        <p:spPr>
          <a:xfrm>
            <a:off x="9353550" y="4105275"/>
            <a:ext cx="105727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HTTP</a:t>
            </a:r>
          </a:p>
        </p:txBody>
      </p:sp>
      <p:grpSp>
        <p:nvGrpSpPr>
          <p:cNvPr id="48" name="anim_sql_build">
            <a:extLst>
              <a:ext uri="{FF2B5EF4-FFF2-40B4-BE49-F238E27FC236}">
                <a16:creationId xmlns:a16="http://schemas.microsoft.com/office/drawing/2014/main" id="{517C19BC-0031-CBB8-3FB7-B625BFC3D746}"/>
              </a:ext>
            </a:extLst>
          </p:cNvPr>
          <p:cNvGrpSpPr/>
          <p:nvPr/>
        </p:nvGrpSpPr>
        <p:grpSpPr>
          <a:xfrm>
            <a:off x="6477000" y="6067425"/>
            <a:ext cx="10810875" cy="1400175"/>
            <a:chOff x="6477000" y="6067425"/>
            <a:chExt cx="10810875" cy="1400175"/>
          </a:xfrm>
        </p:grpSpPr>
        <p:sp>
          <p:nvSpPr>
            <p:cNvPr id="31" name="sql_code">
              <a:extLst>
                <a:ext uri="{FF2B5EF4-FFF2-40B4-BE49-F238E27FC236}">
                  <a16:creationId xmlns:a16="http://schemas.microsoft.com/office/drawing/2014/main" id="{794D5E19-8534-49A6-94EF-88715C779414}"/>
                </a:ext>
              </a:extLst>
            </p:cNvPr>
            <p:cNvSpPr>
              <a:spLocks/>
            </p:cNvSpPr>
            <p:nvPr/>
          </p:nvSpPr>
          <p:spPr>
            <a:xfrm>
              <a:off x="6477000" y="6067425"/>
              <a:ext cx="10810875" cy="1171575"/>
            </a:xfrm>
            <a:prstGeom prst="rect">
              <a:avLst/>
            </a:prstGeom>
            <a:noFill/>
            <a:ln w="9525">
              <a:noFill/>
              <a:prstDash val="solid"/>
            </a:ln>
          </p:spPr>
          <p:txBody>
            <a:bodyPr wrap="square" lIns="0" tIns="0" rIns="0" bIns="0" anchor="ctr">
              <a:noAutofit/>
            </a:bodyPr>
            <a:lstStyle>
              <a:defPPr algn="l">
                <a:defRPr sz="2400" b="0">
                  <a:solidFill>
                    <a:srgbClr val="A64035"/>
                  </a:solidFill>
                  <a:latin typeface="Consolas"/>
                  <a:ea typeface="Consolas"/>
                  <a:cs typeface="Consolas"/>
                </a:defRPr>
              </a:defPPr>
            </a:lstStyle>
            <a:p>
              <a:pPr algn="l">
                <a:defRPr sz="2400" b="0">
                  <a:solidFill>
                    <a:srgbClr val="A64035"/>
                  </a:solidFill>
                  <a:latin typeface="Consolas"/>
                  <a:ea typeface="Consolas"/>
                  <a:cs typeface="Consolas"/>
                </a:defRPr>
              </a:pPr>
              <a:r>
                <a:rPr sz="2400" b="0">
                  <a:solidFill>
                    <a:srgbClr val="A64035"/>
                  </a:solidFill>
                  <a:latin typeface="Consolas"/>
                  <a:ea typeface="Consolas"/>
                  <a:cs typeface="Consolas"/>
                </a:rPr>
                <a:t>SELECT id, username FROM users</a:t>
              </a:r>
            </a:p>
            <a:p>
              <a:pPr algn="l">
                <a:defRPr sz="2400" b="0">
                  <a:solidFill>
                    <a:srgbClr val="A64035"/>
                  </a:solidFill>
                  <a:latin typeface="Consolas"/>
                  <a:ea typeface="Consolas"/>
                  <a:cs typeface="Consolas"/>
                </a:defRPr>
              </a:pPr>
              <a:r>
                <a:rPr sz="2400" b="0">
                  <a:solidFill>
                    <a:srgbClr val="A64035"/>
                  </a:solidFill>
                  <a:latin typeface="Consolas"/>
                  <a:ea typeface="Consolas"/>
                  <a:cs typeface="Consolas"/>
                </a:rPr>
                <a:t>WHERE username = '' OR 1=1 -- ';</a:t>
              </a:r>
            </a:p>
          </p:txBody>
        </p:sp>
        <p:sp>
          <p:nvSpPr>
            <p:cNvPr id="32" name="sql_code_underline">
              <a:extLst>
                <a:ext uri="{FF2B5EF4-FFF2-40B4-BE49-F238E27FC236}">
                  <a16:creationId xmlns:a16="http://schemas.microsoft.com/office/drawing/2014/main" id="{5D0FAE4B-6081-4C4C-B2D0-BD81064A41E8}"/>
                </a:ext>
              </a:extLst>
            </p:cNvPr>
            <p:cNvSpPr>
              <a:spLocks/>
            </p:cNvSpPr>
            <p:nvPr/>
          </p:nvSpPr>
          <p:spPr>
            <a:xfrm>
              <a:off x="6477000" y="7467600"/>
              <a:ext cx="10287000" cy="0"/>
            </a:xfrm>
            <a:prstGeom prst="line">
              <a:avLst/>
            </a:prstGeom>
            <a:noFill/>
            <a:ln w="19050">
              <a:solidFill>
                <a:srgbClr val="A64035"/>
              </a:solidFill>
              <a:prstDash val="solid"/>
            </a:ln>
          </p:spPr>
        </p:sp>
      </p:grpSp>
      <p:sp>
        <p:nvSpPr>
          <p:cNvPr id="33" name="anim_sql_packet">
            <a:extLst>
              <a:ext uri="{FF2B5EF4-FFF2-40B4-BE49-F238E27FC236}">
                <a16:creationId xmlns:a16="http://schemas.microsoft.com/office/drawing/2014/main" id="{2F628C3E-B01C-441C-A9A3-4284FF7DAB55}"/>
              </a:ext>
            </a:extLst>
          </p:cNvPr>
          <p:cNvSpPr>
            <a:spLocks/>
          </p:cNvSpPr>
          <p:nvPr/>
        </p:nvSpPr>
        <p:spPr>
          <a:xfrm>
            <a:off x="13906500" y="4105275"/>
            <a:ext cx="105727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SQL</a:t>
            </a:r>
          </a:p>
        </p:txBody>
      </p:sp>
      <p:sp>
        <p:nvSpPr>
          <p:cNvPr id="34" name="anim_db_result">
            <a:extLst>
              <a:ext uri="{FF2B5EF4-FFF2-40B4-BE49-F238E27FC236}">
                <a16:creationId xmlns:a16="http://schemas.microsoft.com/office/drawing/2014/main" id="{436924BF-F075-45A2-9494-B8E5D0A87FFB}"/>
              </a:ext>
            </a:extLst>
          </p:cNvPr>
          <p:cNvSpPr>
            <a:spLocks/>
          </p:cNvSpPr>
          <p:nvPr/>
        </p:nvSpPr>
        <p:spPr>
          <a:xfrm>
            <a:off x="14687550" y="5534025"/>
            <a:ext cx="2857500" cy="457200"/>
          </a:xfrm>
          <a:prstGeom prst="rect">
            <a:avLst/>
          </a:prstGeom>
          <a:noFill/>
          <a:ln w="9525">
            <a:noFill/>
            <a:prstDash val="solid"/>
          </a:ln>
        </p:spPr>
        <p:txBody>
          <a:bodyPr wrap="square" lIns="0" tIns="0" rIns="0" bIns="0" anchor="ctr">
            <a:noAutofit/>
          </a:bodyPr>
          <a:lstStyle>
            <a:defPPr algn="ctr">
              <a:defRPr sz="2025" b="1">
                <a:solidFill>
                  <a:srgbClr val="A64035"/>
                </a:solidFill>
                <a:latin typeface="Segoe UI"/>
                <a:ea typeface="Segoe UI"/>
                <a:cs typeface="Segoe UI"/>
              </a:defRPr>
            </a:defPPr>
          </a:lstStyle>
          <a:p>
            <a:pPr algn="ctr">
              <a:defRPr sz="2025" b="1">
                <a:solidFill>
                  <a:srgbClr val="A64035"/>
                </a:solidFill>
                <a:latin typeface="Segoe UI"/>
                <a:ea typeface="Segoe UI"/>
                <a:cs typeface="Segoe UI"/>
              </a:defRPr>
            </a:pPr>
            <a:r>
              <a:rPr sz="2025" b="1">
                <a:solidFill>
                  <a:srgbClr val="A64035"/>
                </a:solidFill>
                <a:latin typeface="Segoe UI"/>
                <a:ea typeface="Segoe UI"/>
                <a:cs typeface="Segoe UI"/>
              </a:rPr>
              <a:t>Condition altérée</a:t>
            </a:r>
          </a:p>
        </p:txBody>
      </p:sp>
      <p:sp>
        <p:nvSpPr>
          <p:cNvPr id="35" name="result_rail">
            <a:extLst>
              <a:ext uri="{FF2B5EF4-FFF2-40B4-BE49-F238E27FC236}">
                <a16:creationId xmlns:a16="http://schemas.microsoft.com/office/drawing/2014/main" id="{DE00B12F-4613-435C-BBE5-C8D5E56E94F9}"/>
              </a:ext>
            </a:extLst>
          </p:cNvPr>
          <p:cNvSpPr>
            <a:spLocks/>
          </p:cNvSpPr>
          <p:nvPr/>
        </p:nvSpPr>
        <p:spPr>
          <a:xfrm>
            <a:off x="7677150" y="8029575"/>
            <a:ext cx="8715375" cy="0"/>
          </a:xfrm>
          <a:prstGeom prst="line">
            <a:avLst/>
          </a:prstGeom>
          <a:noFill/>
          <a:ln w="14288">
            <a:solidFill>
              <a:srgbClr val="BFCABE"/>
            </a:solidFill>
            <a:prstDash val="solid"/>
          </a:ln>
        </p:spPr>
      </p:sp>
      <p:sp>
        <p:nvSpPr>
          <p:cNvPr id="36" name="anim_result_packet">
            <a:extLst>
              <a:ext uri="{FF2B5EF4-FFF2-40B4-BE49-F238E27FC236}">
                <a16:creationId xmlns:a16="http://schemas.microsoft.com/office/drawing/2014/main" id="{62907B4D-3AB1-48EA-B1A0-FEA1CC89E34F}"/>
              </a:ext>
            </a:extLst>
          </p:cNvPr>
          <p:cNvSpPr>
            <a:spLocks/>
          </p:cNvSpPr>
          <p:nvPr/>
        </p:nvSpPr>
        <p:spPr>
          <a:xfrm>
            <a:off x="14992350" y="7791450"/>
            <a:ext cx="138112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Résultats</a:t>
            </a:r>
          </a:p>
        </p:txBody>
      </p:sp>
      <p:sp>
        <p:nvSpPr>
          <p:cNvPr id="37" name="anim_result">
            <a:extLst>
              <a:ext uri="{FF2B5EF4-FFF2-40B4-BE49-F238E27FC236}">
                <a16:creationId xmlns:a16="http://schemas.microsoft.com/office/drawing/2014/main" id="{C8C50ED7-5EFD-4074-8C77-BE85369A08E0}"/>
              </a:ext>
            </a:extLst>
          </p:cNvPr>
          <p:cNvSpPr>
            <a:spLocks/>
          </p:cNvSpPr>
          <p:nvPr/>
        </p:nvSpPr>
        <p:spPr>
          <a:xfrm>
            <a:off x="6448425" y="8505825"/>
            <a:ext cx="10763250" cy="590550"/>
          </a:xfrm>
          <a:prstGeom prst="rect">
            <a:avLst/>
          </a:prstGeom>
          <a:noFill/>
          <a:ln w="9525">
            <a:noFill/>
            <a:prstDash val="solid"/>
          </a:ln>
        </p:spPr>
        <p:txBody>
          <a:bodyPr wrap="square" lIns="0" tIns="0" rIns="0" bIns="0" anchor="ctr">
            <a:noAutofit/>
          </a:bodyPr>
          <a:lstStyle>
            <a:defPPr algn="l">
              <a:defRPr sz="2700" b="1">
                <a:solidFill>
                  <a:srgbClr val="A64035"/>
                </a:solidFill>
                <a:latin typeface="Segoe UI"/>
                <a:ea typeface="Segoe UI"/>
                <a:cs typeface="Segoe UI"/>
              </a:defRPr>
            </a:defPPr>
          </a:lstStyle>
          <a:p>
            <a:pPr algn="l">
              <a:defRPr sz="2700" b="1">
                <a:solidFill>
                  <a:srgbClr val="A64035"/>
                </a:solidFill>
                <a:latin typeface="Segoe UI"/>
                <a:ea typeface="Segoe UI"/>
                <a:cs typeface="Segoe UI"/>
              </a:defRPr>
            </a:pPr>
            <a:r>
              <a:rPr sz="2700" b="1">
                <a:solidFill>
                  <a:srgbClr val="A64035"/>
                </a:solidFill>
                <a:latin typeface="Segoe UI"/>
                <a:ea typeface="Segoe UI"/>
                <a:cs typeface="Segoe UI"/>
              </a:rPr>
              <a:t>La base exécute le SQL modifié.</a:t>
            </a:r>
          </a:p>
        </p:txBody>
      </p:sp>
      <p:grpSp>
        <p:nvGrpSpPr>
          <p:cNvPr id="49" name="anim_step_1">
            <a:extLst>
              <a:ext uri="{FF2B5EF4-FFF2-40B4-BE49-F238E27FC236}">
                <a16:creationId xmlns:a16="http://schemas.microsoft.com/office/drawing/2014/main" id="{3F45B5D9-5B9E-C9A1-E031-AE73F6DA054F}"/>
              </a:ext>
            </a:extLst>
          </p:cNvPr>
          <p:cNvGrpSpPr/>
          <p:nvPr/>
        </p:nvGrpSpPr>
        <p:grpSpPr>
          <a:xfrm>
            <a:off x="1000125" y="6210300"/>
            <a:ext cx="4562475" cy="476250"/>
            <a:chOff x="1000125" y="6210300"/>
            <a:chExt cx="4562475" cy="476250"/>
          </a:xfrm>
        </p:grpSpPr>
        <p:sp>
          <p:nvSpPr>
            <p:cNvPr id="38" name="step_1_number">
              <a:extLst>
                <a:ext uri="{FF2B5EF4-FFF2-40B4-BE49-F238E27FC236}">
                  <a16:creationId xmlns:a16="http://schemas.microsoft.com/office/drawing/2014/main" id="{D095432F-B0B3-4322-8FB3-C5A938BB7611}"/>
                </a:ext>
              </a:extLst>
            </p:cNvPr>
            <p:cNvSpPr>
              <a:spLocks/>
            </p:cNvSpPr>
            <p:nvPr/>
          </p:nvSpPr>
          <p:spPr>
            <a:xfrm>
              <a:off x="1000125" y="62293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01</a:t>
              </a:r>
            </a:p>
          </p:txBody>
        </p:sp>
        <p:sp>
          <p:nvSpPr>
            <p:cNvPr id="39" name="step_1_text">
              <a:extLst>
                <a:ext uri="{FF2B5EF4-FFF2-40B4-BE49-F238E27FC236}">
                  <a16:creationId xmlns:a16="http://schemas.microsoft.com/office/drawing/2014/main" id="{B7D61A8E-DF34-49A4-A5A1-1385649153A1}"/>
                </a:ext>
              </a:extLst>
            </p:cNvPr>
            <p:cNvSpPr>
              <a:spLocks/>
            </p:cNvSpPr>
            <p:nvPr/>
          </p:nvSpPr>
          <p:spPr>
            <a:xfrm>
              <a:off x="1704975" y="62103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Saisie</a:t>
              </a:r>
            </a:p>
          </p:txBody>
        </p:sp>
      </p:grpSp>
      <p:grpSp>
        <p:nvGrpSpPr>
          <p:cNvPr id="50" name="anim_step_2">
            <a:extLst>
              <a:ext uri="{FF2B5EF4-FFF2-40B4-BE49-F238E27FC236}">
                <a16:creationId xmlns:a16="http://schemas.microsoft.com/office/drawing/2014/main" id="{3155D83C-A0D9-F644-1BFC-FE036320FFCF}"/>
              </a:ext>
            </a:extLst>
          </p:cNvPr>
          <p:cNvGrpSpPr/>
          <p:nvPr/>
        </p:nvGrpSpPr>
        <p:grpSpPr>
          <a:xfrm>
            <a:off x="1000125" y="6896100"/>
            <a:ext cx="4562475" cy="476250"/>
            <a:chOff x="1000125" y="6896100"/>
            <a:chExt cx="4562475" cy="476250"/>
          </a:xfrm>
        </p:grpSpPr>
        <p:sp>
          <p:nvSpPr>
            <p:cNvPr id="40" name="step_2_number">
              <a:extLst>
                <a:ext uri="{FF2B5EF4-FFF2-40B4-BE49-F238E27FC236}">
                  <a16:creationId xmlns:a16="http://schemas.microsoft.com/office/drawing/2014/main" id="{E65F887F-796F-400B-9E0A-9382A3F07723}"/>
                </a:ext>
              </a:extLst>
            </p:cNvPr>
            <p:cNvSpPr>
              <a:spLocks/>
            </p:cNvSpPr>
            <p:nvPr/>
          </p:nvSpPr>
          <p:spPr>
            <a:xfrm>
              <a:off x="1000125" y="69151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02</a:t>
              </a:r>
            </a:p>
          </p:txBody>
        </p:sp>
        <p:sp>
          <p:nvSpPr>
            <p:cNvPr id="41" name="step_2_text">
              <a:extLst>
                <a:ext uri="{FF2B5EF4-FFF2-40B4-BE49-F238E27FC236}">
                  <a16:creationId xmlns:a16="http://schemas.microsoft.com/office/drawing/2014/main" id="{D71A1689-18A5-4068-833F-0128771148C3}"/>
                </a:ext>
              </a:extLst>
            </p:cNvPr>
            <p:cNvSpPr>
              <a:spLocks/>
            </p:cNvSpPr>
            <p:nvPr/>
          </p:nvSpPr>
          <p:spPr>
            <a:xfrm>
              <a:off x="1704975" y="68961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Construction SQL</a:t>
              </a:r>
            </a:p>
          </p:txBody>
        </p:sp>
      </p:grpSp>
      <p:grpSp>
        <p:nvGrpSpPr>
          <p:cNvPr id="51" name="anim_step_3">
            <a:extLst>
              <a:ext uri="{FF2B5EF4-FFF2-40B4-BE49-F238E27FC236}">
                <a16:creationId xmlns:a16="http://schemas.microsoft.com/office/drawing/2014/main" id="{52E618A5-1805-5B6F-DB68-C78B81EC0AD5}"/>
              </a:ext>
            </a:extLst>
          </p:cNvPr>
          <p:cNvGrpSpPr/>
          <p:nvPr/>
        </p:nvGrpSpPr>
        <p:grpSpPr>
          <a:xfrm>
            <a:off x="1000125" y="7581900"/>
            <a:ext cx="4562475" cy="476250"/>
            <a:chOff x="1000125" y="7581900"/>
            <a:chExt cx="4562475" cy="476250"/>
          </a:xfrm>
        </p:grpSpPr>
        <p:sp>
          <p:nvSpPr>
            <p:cNvPr id="42" name="step_3_number">
              <a:extLst>
                <a:ext uri="{FF2B5EF4-FFF2-40B4-BE49-F238E27FC236}">
                  <a16:creationId xmlns:a16="http://schemas.microsoft.com/office/drawing/2014/main" id="{28F3B51D-5907-4C34-91C7-63131F27BB38}"/>
                </a:ext>
              </a:extLst>
            </p:cNvPr>
            <p:cNvSpPr>
              <a:spLocks/>
            </p:cNvSpPr>
            <p:nvPr/>
          </p:nvSpPr>
          <p:spPr>
            <a:xfrm>
              <a:off x="1000125" y="76009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03</a:t>
              </a:r>
            </a:p>
          </p:txBody>
        </p:sp>
        <p:sp>
          <p:nvSpPr>
            <p:cNvPr id="43" name="step_3_text">
              <a:extLst>
                <a:ext uri="{FF2B5EF4-FFF2-40B4-BE49-F238E27FC236}">
                  <a16:creationId xmlns:a16="http://schemas.microsoft.com/office/drawing/2014/main" id="{7FD9E4DD-9301-4655-87B7-9B7084D6BAFA}"/>
                </a:ext>
              </a:extLst>
            </p:cNvPr>
            <p:cNvSpPr>
              <a:spLocks/>
            </p:cNvSpPr>
            <p:nvPr/>
          </p:nvSpPr>
          <p:spPr>
            <a:xfrm>
              <a:off x="1704975" y="75819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Exécution</a:t>
              </a:r>
            </a:p>
          </p:txBody>
        </p:sp>
      </p:grpSp>
      <p:grpSp>
        <p:nvGrpSpPr>
          <p:cNvPr id="52" name="anim_step_4">
            <a:extLst>
              <a:ext uri="{FF2B5EF4-FFF2-40B4-BE49-F238E27FC236}">
                <a16:creationId xmlns:a16="http://schemas.microsoft.com/office/drawing/2014/main" id="{0A47B02C-4B88-2BE8-DE23-136320866C99}"/>
              </a:ext>
            </a:extLst>
          </p:cNvPr>
          <p:cNvGrpSpPr/>
          <p:nvPr/>
        </p:nvGrpSpPr>
        <p:grpSpPr>
          <a:xfrm>
            <a:off x="1000125" y="8267700"/>
            <a:ext cx="4562475" cy="476250"/>
            <a:chOff x="1000125" y="8267700"/>
            <a:chExt cx="4562475" cy="476250"/>
          </a:xfrm>
        </p:grpSpPr>
        <p:sp>
          <p:nvSpPr>
            <p:cNvPr id="44" name="step_4_number">
              <a:extLst>
                <a:ext uri="{FF2B5EF4-FFF2-40B4-BE49-F238E27FC236}">
                  <a16:creationId xmlns:a16="http://schemas.microsoft.com/office/drawing/2014/main" id="{D76230F8-291A-46CF-8D7F-D25FA40CEC5B}"/>
                </a:ext>
              </a:extLst>
            </p:cNvPr>
            <p:cNvSpPr>
              <a:spLocks/>
            </p:cNvSpPr>
            <p:nvPr/>
          </p:nvSpPr>
          <p:spPr>
            <a:xfrm>
              <a:off x="1000125" y="82867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04</a:t>
              </a:r>
            </a:p>
          </p:txBody>
        </p:sp>
        <p:sp>
          <p:nvSpPr>
            <p:cNvPr id="45" name="step_4_text">
              <a:extLst>
                <a:ext uri="{FF2B5EF4-FFF2-40B4-BE49-F238E27FC236}">
                  <a16:creationId xmlns:a16="http://schemas.microsoft.com/office/drawing/2014/main" id="{439B0F1B-FB5C-4718-8543-878D1EE280C3}"/>
                </a:ext>
              </a:extLst>
            </p:cNvPr>
            <p:cNvSpPr>
              <a:spLocks/>
            </p:cNvSpPr>
            <p:nvPr/>
          </p:nvSpPr>
          <p:spPr>
            <a:xfrm>
              <a:off x="1704975" y="82677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Résultats</a:t>
              </a:r>
            </a:p>
          </p:txBody>
        </p:sp>
      </p:grpSp>
      <p:sp>
        <p:nvSpPr>
          <p:cNvPr id="53" name="nav_architecture" descr="Revenir au schéma de l'architecture">
            <a:hlinkClick r:id="rId4" action="ppaction://hlinksldjump" tooltip="Revenir au schéma de l'architecture" highlightClick="1"/>
            <a:extLst>
              <a:ext uri="{FF2B5EF4-FFF2-40B4-BE49-F238E27FC236}">
                <a16:creationId xmlns:a16="http://schemas.microsoft.com/office/drawing/2014/main" id="{E48F1FD3-91BD-F515-6897-38D295039ECC}"/>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54" name="nav_demonstrations" descr="Ouvrir la comparaison des parcours">
            <a:hlinkClick r:id="rId5" action="ppaction://hlinksldjump" tooltip="Ouvrir la comparaison des parcours" highlightClick="1"/>
            <a:extLst>
              <a:ext uri="{FF2B5EF4-FFF2-40B4-BE49-F238E27FC236}">
                <a16:creationId xmlns:a16="http://schemas.microsoft.com/office/drawing/2014/main" id="{2324E7BF-AE43-ACB5-414B-CC35E7BB9109}"/>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55" name="nav_results" descr="Ouvrir les résultats et leurs limites">
            <a:hlinkClick r:id="rId6" action="ppaction://hlinksldjump" tooltip="Ouvrir les résultats et leurs limites" highlightClick="1"/>
            <a:extLst>
              <a:ext uri="{FF2B5EF4-FFF2-40B4-BE49-F238E27FC236}">
                <a16:creationId xmlns:a16="http://schemas.microsoft.com/office/drawing/2014/main" id="{C88C17A1-78A2-C6CE-EACA-217C8F646B2E}"/>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extLst>
      <p:ext uri="{BB962C8B-B14F-4D97-AF65-F5344CB8AC3E}">
        <p14:creationId xmlns:p14="http://schemas.microsoft.com/office/powerpoint/2010/main" val="34965307"/>
      </p:ext>
    </p:extLst>
  </p:cSld>
  <p:clrMapOvr>
    <a:masterClrMapping/>
  </p:clrMapOvr>
  <mc:AlternateContent xmlns:mc="http://schemas.openxmlformats.org/markup-compatibility/2006">
    <mc:Choice xmlns:p14="http://schemas.microsoft.com/office/powerpoint/2010/main" Requires="p14">
      <p:transition p14:dur="4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400"/>
                                        <p:tgtEl>
                                          <p:spTgt spid="47"/>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47"/>
                                        </p:tgtEl>
                                        <p:attrNameLst>
                                          <p:attrName>style.visibility</p:attrName>
                                        </p:attrNameLst>
                                      </p:cBhvr>
                                      <p:to>
                                        <p:strVal val="visible"/>
                                      </p:to>
                                    </p:set>
                                    <p:animMotion origin="layout" path="M 0 0.01296296 L 0 0 E" pathEditMode="relative">
                                      <p:cBhvr from="" to="">
                                        <p:cTn id="10" dur="500" fill="hold">
                                          <p:stCondLst>
                                            <p:cond delay="0"/>
                                          </p:stCondLst>
                                        </p:cTn>
                                        <p:tgtEl>
                                          <p:spTgt spid="47"/>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iterate type="lt">
                                    <p:tmPct val="10000"/>
                                  </p:iterate>
                                  <p:childTnLst>
                                    <p:set>
                                      <p:cBhvr>
                                        <p:cTn id="14" dur="1" fill="hold">
                                          <p:stCondLst>
                                            <p:cond delay="0"/>
                                          </p:stCondLst>
                                        </p:cTn>
                                        <p:tgtEl>
                                          <p:spTgt spid="29"/>
                                        </p:tgtEl>
                                        <p:attrNameLst>
                                          <p:attrName>style.visibility</p:attrName>
                                        </p:attrNameLst>
                                      </p:cBhvr>
                                      <p:to>
                                        <p:strVal val="visible"/>
                                      </p:to>
                                    </p:set>
                                    <p:animEffect transition="in" filter="fade">
                                      <p:cBhvr>
                                        <p:cTn id="15" dur="55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fade">
                                      <p:cBhvr>
                                        <p:cTn id="18" dur="350"/>
                                        <p:tgtEl>
                                          <p:spTgt spid="49"/>
                                        </p:tgtEl>
                                      </p:cBhvr>
                                    </p:animEffect>
                                  </p:childTnLst>
                                </p:cTn>
                              </p:par>
                              <p:par>
                                <p:cTn id="19" presetID="0" presetClass="entr" presetSubtype="0" accel="22000" decel="25000" fill="hold" nodeType="withEffect">
                                  <p:stCondLst>
                                    <p:cond delay="0"/>
                                  </p:stCondLst>
                                  <p:childTnLst>
                                    <p:set>
                                      <p:cBhvr>
                                        <p:cTn id="20" dur="1" fill="hold">
                                          <p:stCondLst>
                                            <p:cond delay="449"/>
                                          </p:stCondLst>
                                        </p:cTn>
                                        <p:tgtEl>
                                          <p:spTgt spid="49"/>
                                        </p:tgtEl>
                                        <p:attrNameLst>
                                          <p:attrName>style.visibility</p:attrName>
                                        </p:attrNameLst>
                                      </p:cBhvr>
                                      <p:to>
                                        <p:strVal val="visible"/>
                                      </p:to>
                                    </p:set>
                                    <p:animMotion origin="layout" path="M 0 0.01296296 L 0 0 E" pathEditMode="relative">
                                      <p:cBhvr from="" to="">
                                        <p:cTn id="21" dur="450" fill="hold">
                                          <p:stCondLst>
                                            <p:cond delay="0"/>
                                          </p:stCondLst>
                                        </p:cTn>
                                        <p:tgtEl>
                                          <p:spTgt spid="49"/>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300"/>
                                        <p:tgtEl>
                                          <p:spTgt spid="30"/>
                                        </p:tgtEl>
                                      </p:cBhvr>
                                    </p:animEffect>
                                  </p:childTnLst>
                                </p:cTn>
                              </p:par>
                            </p:childTnLst>
                          </p:cTn>
                        </p:par>
                        <p:par>
                          <p:cTn id="27" fill="hold">
                            <p:stCondLst>
                              <p:cond delay="300"/>
                            </p:stCondLst>
                            <p:childTnLst>
                              <p:par>
                                <p:cTn id="28" presetID="0" presetClass="entr" presetSubtype="0" accel="22000" decel="25000" fill="hold" grpId="1" nodeType="afterEffect">
                                  <p:stCondLst>
                                    <p:cond delay="0"/>
                                  </p:stCondLst>
                                  <p:childTnLst>
                                    <p:set>
                                      <p:cBhvr>
                                        <p:cTn id="29" dur="1" fill="hold">
                                          <p:stCondLst>
                                            <p:cond delay="719"/>
                                          </p:stCondLst>
                                        </p:cTn>
                                        <p:tgtEl>
                                          <p:spTgt spid="30"/>
                                        </p:tgtEl>
                                        <p:attrNameLst>
                                          <p:attrName>style.visibility</p:attrName>
                                        </p:attrNameLst>
                                      </p:cBhvr>
                                      <p:to>
                                        <p:strVal val="visible"/>
                                      </p:to>
                                    </p:set>
                                    <p:animMotion origin="layout" path="M 0 0 L 0.06041667 0 E" pathEditMode="relative">
                                      <p:cBhvr from="" to="">
                                        <p:cTn id="30" dur="720" fill="hold">
                                          <p:stCondLst>
                                            <p:cond delay="0"/>
                                          </p:stCondLst>
                                        </p:cTn>
                                        <p:tgtEl>
                                          <p:spTgt spid="30"/>
                                        </p:tgtEl>
                                        <p:attrNameLst>
                                          <p:attrName>ppt_x</p:attrName>
                                          <p:attrName>ppt_y</p:attrName>
                                        </p:attrNameLst>
                                      </p:cBhvr>
                                    </p:animMotion>
                                  </p:childTnLst>
                                </p:cTn>
                              </p:par>
                            </p:childTnLst>
                          </p:cTn>
                        </p:par>
                        <p:par>
                          <p:cTn id="31" fill="hold">
                            <p:stCondLst>
                              <p:cond delay="1020"/>
                            </p:stCondLst>
                            <p:childTnLst>
                              <p:par>
                                <p:cTn id="32" presetID="10" presetClass="exit" presetSubtype="0" fill="hold" grpId="2" nodeType="afterEffect">
                                  <p:stCondLst>
                                    <p:cond delay="0"/>
                                  </p:stCondLst>
                                  <p:childTnLst>
                                    <p:animEffect transition="out" filter="fade">
                                      <p:cBhvr>
                                        <p:cTn id="33" dur="500"/>
                                        <p:tgtEl>
                                          <p:spTgt spid="30"/>
                                        </p:tgtEl>
                                      </p:cBhvr>
                                    </p:animEffect>
                                    <p:set>
                                      <p:cBhvr>
                                        <p:cTn id="34" dur="1" fill="hold">
                                          <p:stCondLst>
                                            <p:cond delay="499"/>
                                          </p:stCondLst>
                                        </p:cTn>
                                        <p:tgtEl>
                                          <p:spTgt spid="30"/>
                                        </p:tgtEl>
                                        <p:attrNameLst>
                                          <p:attrName>style.visibility</p:attrName>
                                        </p:attrNameLst>
                                      </p:cBhvr>
                                      <p:to>
                                        <p:strVal val="hidden"/>
                                      </p:to>
                                    </p:set>
                                  </p:childTnLst>
                                </p:cTn>
                              </p:par>
                            </p:childTnLst>
                          </p:cTn>
                        </p:par>
                        <p:par>
                          <p:cTn id="35" fill="hold">
                            <p:stCondLst>
                              <p:cond delay="1520"/>
                            </p:stCondLst>
                            <p:childTnLst>
                              <p:par>
                                <p:cTn id="36" presetID="22" presetClass="entr" presetSubtype="8" fill="hold" nodeType="after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wipe(left)">
                                      <p:cBhvr>
                                        <p:cTn id="38" dur="500"/>
                                        <p:tgtEl>
                                          <p:spTgt spid="48"/>
                                        </p:tgtEl>
                                      </p:cBhvr>
                                    </p:animEffect>
                                  </p:childTnLst>
                                </p:cTn>
                              </p:par>
                              <p:par>
                                <p:cTn id="39" presetID="10" presetClass="entr" presetSubtype="0" fill="hold" nodeType="with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350"/>
                                        <p:tgtEl>
                                          <p:spTgt spid="50"/>
                                        </p:tgtEl>
                                      </p:cBhvr>
                                    </p:animEffect>
                                  </p:childTnLst>
                                </p:cTn>
                              </p:par>
                              <p:par>
                                <p:cTn id="42" presetID="0" presetClass="entr" presetSubtype="0" accel="22000" decel="25000" fill="hold" nodeType="withEffect">
                                  <p:stCondLst>
                                    <p:cond delay="0"/>
                                  </p:stCondLst>
                                  <p:childTnLst>
                                    <p:set>
                                      <p:cBhvr>
                                        <p:cTn id="43" dur="1" fill="hold">
                                          <p:stCondLst>
                                            <p:cond delay="449"/>
                                          </p:stCondLst>
                                        </p:cTn>
                                        <p:tgtEl>
                                          <p:spTgt spid="50"/>
                                        </p:tgtEl>
                                        <p:attrNameLst>
                                          <p:attrName>style.visibility</p:attrName>
                                        </p:attrNameLst>
                                      </p:cBhvr>
                                      <p:to>
                                        <p:strVal val="visible"/>
                                      </p:to>
                                    </p:set>
                                    <p:animMotion origin="layout" path="M 0 0.01296296 L 0 0 E" pathEditMode="relative">
                                      <p:cBhvr from="" to="">
                                        <p:cTn id="44" dur="450" fill="hold">
                                          <p:stCondLst>
                                            <p:cond delay="0"/>
                                          </p:stCondLst>
                                        </p:cTn>
                                        <p:tgtEl>
                                          <p:spTgt spid="50"/>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300"/>
                                        <p:tgtEl>
                                          <p:spTgt spid="33"/>
                                        </p:tgtEl>
                                      </p:cBhvr>
                                    </p:animEffect>
                                  </p:childTnLst>
                                </p:cTn>
                              </p:par>
                            </p:childTnLst>
                          </p:cTn>
                        </p:par>
                        <p:par>
                          <p:cTn id="50" fill="hold">
                            <p:stCondLst>
                              <p:cond delay="300"/>
                            </p:stCondLst>
                            <p:childTnLst>
                              <p:par>
                                <p:cTn id="51" presetID="0" presetClass="entr" presetSubtype="0" accel="22000" decel="25000" fill="hold" grpId="1" nodeType="afterEffect">
                                  <p:stCondLst>
                                    <p:cond delay="0"/>
                                  </p:stCondLst>
                                  <p:childTnLst>
                                    <p:set>
                                      <p:cBhvr>
                                        <p:cTn id="52" dur="1" fill="hold">
                                          <p:stCondLst>
                                            <p:cond delay="719"/>
                                          </p:stCondLst>
                                        </p:cTn>
                                        <p:tgtEl>
                                          <p:spTgt spid="33"/>
                                        </p:tgtEl>
                                        <p:attrNameLst>
                                          <p:attrName>style.visibility</p:attrName>
                                        </p:attrNameLst>
                                      </p:cBhvr>
                                      <p:to>
                                        <p:strVal val="visible"/>
                                      </p:to>
                                    </p:set>
                                    <p:animMotion origin="layout" path="M 0 0 L 0.06510417 0 E" pathEditMode="relative">
                                      <p:cBhvr from="" to="">
                                        <p:cTn id="53" dur="720" fill="hold">
                                          <p:stCondLst>
                                            <p:cond delay="0"/>
                                          </p:stCondLst>
                                        </p:cTn>
                                        <p:tgtEl>
                                          <p:spTgt spid="33"/>
                                        </p:tgtEl>
                                        <p:attrNameLst>
                                          <p:attrName>ppt_x</p:attrName>
                                          <p:attrName>ppt_y</p:attrName>
                                        </p:attrNameLst>
                                      </p:cBhvr>
                                    </p:animMotion>
                                  </p:childTnLst>
                                </p:cTn>
                              </p:par>
                            </p:childTnLst>
                          </p:cTn>
                        </p:par>
                        <p:par>
                          <p:cTn id="54" fill="hold">
                            <p:stCondLst>
                              <p:cond delay="1020"/>
                            </p:stCondLst>
                            <p:childTnLst>
                              <p:par>
                                <p:cTn id="55" presetID="10" presetClass="exit" presetSubtype="0" fill="hold" grpId="2" nodeType="afterEffect">
                                  <p:stCondLst>
                                    <p:cond delay="0"/>
                                  </p:stCondLst>
                                  <p:childTnLst>
                                    <p:animEffect transition="out" filter="fade">
                                      <p:cBhvr>
                                        <p:cTn id="56" dur="500"/>
                                        <p:tgtEl>
                                          <p:spTgt spid="33"/>
                                        </p:tgtEl>
                                      </p:cBhvr>
                                    </p:animEffect>
                                    <p:set>
                                      <p:cBhvr>
                                        <p:cTn id="57" dur="1" fill="hold">
                                          <p:stCondLst>
                                            <p:cond delay="499"/>
                                          </p:stCondLst>
                                        </p:cTn>
                                        <p:tgtEl>
                                          <p:spTgt spid="33"/>
                                        </p:tgtEl>
                                        <p:attrNameLst>
                                          <p:attrName>style.visibility</p:attrName>
                                        </p:attrNameLst>
                                      </p:cBhvr>
                                      <p:to>
                                        <p:strVal val="hidden"/>
                                      </p:to>
                                    </p:set>
                                  </p:childTnLst>
                                </p:cTn>
                              </p:par>
                            </p:childTnLst>
                          </p:cTn>
                        </p:par>
                        <p:par>
                          <p:cTn id="58" fill="hold">
                            <p:stCondLst>
                              <p:cond delay="1520"/>
                            </p:stCondLst>
                            <p:childTnLst>
                              <p:par>
                                <p:cTn id="59" presetID="10" presetClass="entr" presetSubtype="0" fill="hold" grpId="0" nodeType="after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350"/>
                                        <p:tgtEl>
                                          <p:spTgt spid="34"/>
                                        </p:tgtEl>
                                      </p:cBhvr>
                                    </p:animEffect>
                                  </p:childTnLst>
                                </p:cTn>
                              </p:par>
                              <p:par>
                                <p:cTn id="62" presetID="0" presetClass="entr" presetSubtype="0" accel="22000" decel="25000" fill="hold" grpId="1" nodeType="withEffect">
                                  <p:stCondLst>
                                    <p:cond delay="0"/>
                                  </p:stCondLst>
                                  <p:childTnLst>
                                    <p:set>
                                      <p:cBhvr>
                                        <p:cTn id="63" dur="1" fill="hold">
                                          <p:stCondLst>
                                            <p:cond delay="449"/>
                                          </p:stCondLst>
                                        </p:cTn>
                                        <p:tgtEl>
                                          <p:spTgt spid="34"/>
                                        </p:tgtEl>
                                        <p:attrNameLst>
                                          <p:attrName>style.visibility</p:attrName>
                                        </p:attrNameLst>
                                      </p:cBhvr>
                                      <p:to>
                                        <p:strVal val="visible"/>
                                      </p:to>
                                    </p:set>
                                    <p:animMotion origin="layout" path="M 0 0.01296296 L 0 0 E" pathEditMode="relative">
                                      <p:cBhvr from="" to="">
                                        <p:cTn id="64" dur="450" fill="hold">
                                          <p:stCondLst>
                                            <p:cond delay="0"/>
                                          </p:stCondLst>
                                        </p:cTn>
                                        <p:tgtEl>
                                          <p:spTgt spid="34"/>
                                        </p:tgtEl>
                                        <p:attrNameLst>
                                          <p:attrName>ppt_x</p:attrName>
                                          <p:attrName>ppt_y</p:attrName>
                                        </p:attrNameLst>
                                      </p:cBhvr>
                                    </p:animMotion>
                                  </p:childTnLst>
                                </p:cTn>
                              </p:par>
                              <p:par>
                                <p:cTn id="65" presetID="10" presetClass="entr" presetSubtype="0" fill="hold"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fade">
                                      <p:cBhvr>
                                        <p:cTn id="67" dur="350"/>
                                        <p:tgtEl>
                                          <p:spTgt spid="51"/>
                                        </p:tgtEl>
                                      </p:cBhvr>
                                    </p:animEffect>
                                  </p:childTnLst>
                                </p:cTn>
                              </p:par>
                              <p:par>
                                <p:cTn id="68" presetID="0" presetClass="entr" presetSubtype="0" accel="22000" decel="25000" fill="hold" nodeType="withEffect">
                                  <p:stCondLst>
                                    <p:cond delay="0"/>
                                  </p:stCondLst>
                                  <p:childTnLst>
                                    <p:set>
                                      <p:cBhvr>
                                        <p:cTn id="69" dur="1" fill="hold">
                                          <p:stCondLst>
                                            <p:cond delay="449"/>
                                          </p:stCondLst>
                                        </p:cTn>
                                        <p:tgtEl>
                                          <p:spTgt spid="51"/>
                                        </p:tgtEl>
                                        <p:attrNameLst>
                                          <p:attrName>style.visibility</p:attrName>
                                        </p:attrNameLst>
                                      </p:cBhvr>
                                      <p:to>
                                        <p:strVal val="visible"/>
                                      </p:to>
                                    </p:set>
                                    <p:animMotion origin="layout" path="M 0 0.01296296 L 0 0 E" pathEditMode="relative">
                                      <p:cBhvr from="" to="">
                                        <p:cTn id="70" dur="450" fill="hold">
                                          <p:stCondLst>
                                            <p:cond delay="0"/>
                                          </p:stCondLst>
                                        </p:cTn>
                                        <p:tgtEl>
                                          <p:spTgt spid="51"/>
                                        </p:tgtEl>
                                        <p:attrNameLst>
                                          <p:attrName>ppt_x</p:attrName>
                                          <p:attrName>ppt_y</p:attrName>
                                        </p:attrNameLst>
                                      </p:cBhvr>
                                    </p:animMotion>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300"/>
                                        <p:tgtEl>
                                          <p:spTgt spid="36"/>
                                        </p:tgtEl>
                                      </p:cBhvr>
                                    </p:animEffect>
                                  </p:childTnLst>
                                </p:cTn>
                              </p:par>
                            </p:childTnLst>
                          </p:cTn>
                        </p:par>
                        <p:par>
                          <p:cTn id="76" fill="hold">
                            <p:stCondLst>
                              <p:cond delay="300"/>
                            </p:stCondLst>
                            <p:childTnLst>
                              <p:par>
                                <p:cTn id="77" presetID="0" presetClass="entr" presetSubtype="0" accel="22000" decel="25000" fill="hold" grpId="1" nodeType="afterEffect">
                                  <p:stCondLst>
                                    <p:cond delay="0"/>
                                  </p:stCondLst>
                                  <p:childTnLst>
                                    <p:set>
                                      <p:cBhvr>
                                        <p:cTn id="78" dur="1" fill="hold">
                                          <p:stCondLst>
                                            <p:cond delay="999"/>
                                          </p:stCondLst>
                                        </p:cTn>
                                        <p:tgtEl>
                                          <p:spTgt spid="36"/>
                                        </p:tgtEl>
                                        <p:attrNameLst>
                                          <p:attrName>style.visibility</p:attrName>
                                        </p:attrNameLst>
                                      </p:cBhvr>
                                      <p:to>
                                        <p:strVal val="visible"/>
                                      </p:to>
                                    </p:set>
                                    <p:animMotion origin="layout" path="M 0 0 L -0.39583333 0 E" pathEditMode="relative">
                                      <p:cBhvr from="" to="">
                                        <p:cTn id="79" dur="1000" fill="hold">
                                          <p:stCondLst>
                                            <p:cond delay="0"/>
                                          </p:stCondLst>
                                        </p:cTn>
                                        <p:tgtEl>
                                          <p:spTgt spid="36"/>
                                        </p:tgtEl>
                                        <p:attrNameLst>
                                          <p:attrName>ppt_x</p:attrName>
                                          <p:attrName>ppt_y</p:attrName>
                                        </p:attrNameLst>
                                      </p:cBhvr>
                                    </p:animMotion>
                                  </p:childTnLst>
                                </p:cTn>
                              </p:par>
                            </p:childTnLst>
                          </p:cTn>
                        </p:par>
                        <p:par>
                          <p:cTn id="80" fill="hold">
                            <p:stCondLst>
                              <p:cond delay="1300"/>
                            </p:stCondLst>
                            <p:childTnLst>
                              <p:par>
                                <p:cTn id="81" presetID="10" presetClass="exit" presetSubtype="0" fill="hold" grpId="2" nodeType="afterEffect">
                                  <p:stCondLst>
                                    <p:cond delay="0"/>
                                  </p:stCondLst>
                                  <p:childTnLst>
                                    <p:animEffect transition="out" filter="fade">
                                      <p:cBhvr>
                                        <p:cTn id="82" dur="500"/>
                                        <p:tgtEl>
                                          <p:spTgt spid="36"/>
                                        </p:tgtEl>
                                      </p:cBhvr>
                                    </p:animEffect>
                                    <p:set>
                                      <p:cBhvr>
                                        <p:cTn id="83" dur="1" fill="hold">
                                          <p:stCondLst>
                                            <p:cond delay="499"/>
                                          </p:stCondLst>
                                        </p:cTn>
                                        <p:tgtEl>
                                          <p:spTgt spid="36"/>
                                        </p:tgtEl>
                                        <p:attrNameLst>
                                          <p:attrName>style.visibility</p:attrName>
                                        </p:attrNameLst>
                                      </p:cBhvr>
                                      <p:to>
                                        <p:strVal val="hidden"/>
                                      </p:to>
                                    </p:set>
                                  </p:childTnLst>
                                </p:cTn>
                              </p:par>
                            </p:childTnLst>
                          </p:cTn>
                        </p:par>
                        <p:par>
                          <p:cTn id="84" fill="hold">
                            <p:stCondLst>
                              <p:cond delay="1800"/>
                            </p:stCondLst>
                            <p:childTnLst>
                              <p:par>
                                <p:cTn id="85" presetID="10" presetClass="entr" presetSubtype="0" fill="hold" grpId="0" nodeType="after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350"/>
                                        <p:tgtEl>
                                          <p:spTgt spid="37"/>
                                        </p:tgtEl>
                                      </p:cBhvr>
                                    </p:animEffect>
                                  </p:childTnLst>
                                </p:cTn>
                              </p:par>
                              <p:par>
                                <p:cTn id="88" presetID="0" presetClass="entr" presetSubtype="0" accel="22000" decel="25000" fill="hold" grpId="1" nodeType="withEffect">
                                  <p:stCondLst>
                                    <p:cond delay="0"/>
                                  </p:stCondLst>
                                  <p:childTnLst>
                                    <p:set>
                                      <p:cBhvr>
                                        <p:cTn id="89" dur="1" fill="hold">
                                          <p:stCondLst>
                                            <p:cond delay="449"/>
                                          </p:stCondLst>
                                        </p:cTn>
                                        <p:tgtEl>
                                          <p:spTgt spid="37"/>
                                        </p:tgtEl>
                                        <p:attrNameLst>
                                          <p:attrName>style.visibility</p:attrName>
                                        </p:attrNameLst>
                                      </p:cBhvr>
                                      <p:to>
                                        <p:strVal val="visible"/>
                                      </p:to>
                                    </p:set>
                                    <p:animMotion origin="layout" path="M 0 0.01296296 L 0 0 E" pathEditMode="relative">
                                      <p:cBhvr from="" to="">
                                        <p:cTn id="90" dur="450" fill="hold">
                                          <p:stCondLst>
                                            <p:cond delay="0"/>
                                          </p:stCondLst>
                                        </p:cTn>
                                        <p:tgtEl>
                                          <p:spTgt spid="37"/>
                                        </p:tgtEl>
                                        <p:attrNameLst>
                                          <p:attrName>ppt_x</p:attrName>
                                          <p:attrName>ppt_y</p:attrName>
                                        </p:attrNameLst>
                                      </p:cBhvr>
                                    </p:animMotion>
                                  </p:childTnLst>
                                </p:cTn>
                              </p:par>
                              <p:par>
                                <p:cTn id="91" presetID="10" presetClass="entr" presetSubtype="0" fill="hold" nodeType="withEffect">
                                  <p:stCondLst>
                                    <p:cond delay="0"/>
                                  </p:stCondLst>
                                  <p:childTnLst>
                                    <p:set>
                                      <p:cBhvr>
                                        <p:cTn id="92" dur="1" fill="hold">
                                          <p:stCondLst>
                                            <p:cond delay="0"/>
                                          </p:stCondLst>
                                        </p:cTn>
                                        <p:tgtEl>
                                          <p:spTgt spid="52"/>
                                        </p:tgtEl>
                                        <p:attrNameLst>
                                          <p:attrName>style.visibility</p:attrName>
                                        </p:attrNameLst>
                                      </p:cBhvr>
                                      <p:to>
                                        <p:strVal val="visible"/>
                                      </p:to>
                                    </p:set>
                                    <p:animEffect transition="in" filter="fade">
                                      <p:cBhvr>
                                        <p:cTn id="93" dur="350"/>
                                        <p:tgtEl>
                                          <p:spTgt spid="52"/>
                                        </p:tgtEl>
                                      </p:cBhvr>
                                    </p:animEffect>
                                  </p:childTnLst>
                                </p:cTn>
                              </p:par>
                              <p:par>
                                <p:cTn id="94" presetID="0" presetClass="entr" presetSubtype="0" accel="22000" decel="25000" fill="hold" nodeType="withEffect">
                                  <p:stCondLst>
                                    <p:cond delay="0"/>
                                  </p:stCondLst>
                                  <p:childTnLst>
                                    <p:set>
                                      <p:cBhvr>
                                        <p:cTn id="95" dur="1" fill="hold">
                                          <p:stCondLst>
                                            <p:cond delay="449"/>
                                          </p:stCondLst>
                                        </p:cTn>
                                        <p:tgtEl>
                                          <p:spTgt spid="52"/>
                                        </p:tgtEl>
                                        <p:attrNameLst>
                                          <p:attrName>style.visibility</p:attrName>
                                        </p:attrNameLst>
                                      </p:cBhvr>
                                      <p:to>
                                        <p:strVal val="visible"/>
                                      </p:to>
                                    </p:set>
                                    <p:animMotion origin="layout" path="M 0 0.01296296 L 0 0 E" pathEditMode="relative">
                                      <p:cBhvr from="" to="">
                                        <p:cTn id="96" dur="450" fill="hold">
                                          <p:stCondLst>
                                            <p:cond delay="0"/>
                                          </p:stCondLst>
                                        </p:cTn>
                                        <p:tgtEl>
                                          <p:spTgt spid="5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P spid="30" grpId="1" animBg="1"/>
      <p:bldP spid="30" grpId="2" animBg="1"/>
      <p:bldP spid="33" grpId="0" animBg="1"/>
      <p:bldP spid="33" grpId="1" animBg="1"/>
      <p:bldP spid="33" grpId="2" animBg="1"/>
      <p:bldP spid="34" grpId="0"/>
      <p:bldP spid="34" grpId="1"/>
      <p:bldP spid="36" grpId="0" animBg="1"/>
      <p:bldP spid="36" grpId="1" animBg="1"/>
      <p:bldP spid="36" grpId="2" animBg="1"/>
      <p:bldP spid="37" grpId="0"/>
      <p:bldP spid="37"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52" name="top_band">
            <a:extLst>
              <a:ext uri="{FF2B5EF4-FFF2-40B4-BE49-F238E27FC236}">
                <a16:creationId xmlns:a16="http://schemas.microsoft.com/office/drawing/2014/main" id="{6A61B5FE-DF0E-4C4E-8874-6B16DA2556EA}"/>
              </a:ext>
            </a:extLst>
          </p:cNvPr>
          <p:cNvSpPr>
            <a:spLocks/>
          </p:cNvSpPr>
          <p:nvPr/>
        </p:nvSpPr>
        <p:spPr>
          <a:xfrm>
            <a:off x="0" y="0"/>
            <a:ext cx="18288000" cy="114300"/>
          </a:xfrm>
          <a:prstGeom prst="rect">
            <a:avLst/>
          </a:prstGeom>
          <a:solidFill>
            <a:srgbClr val="285C4D"/>
          </a:solidFill>
          <a:ln w="9525">
            <a:noFill/>
            <a:prstDash val="solid"/>
          </a:ln>
        </p:spPr>
      </p:sp>
      <p:sp>
        <p:nvSpPr>
          <p:cNvPr id="2" name="brand">
            <a:hlinkClick r:id="rId3" action="ppaction://hlinksldjump" tooltip="Retour à l'accueil JNC" highlightClick="1"/>
            <a:extLst>
              <a:ext uri="{FF2B5EF4-FFF2-40B4-BE49-F238E27FC236}">
                <a16:creationId xmlns:a16="http://schemas.microsoft.com/office/drawing/2014/main" id="{833B1B20-4680-41CC-9269-6A9DBB5AC48F}"/>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BA668E09-781A-44E3-97E4-185F7ABB4C0E}"/>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DÉMONSTRATION 2 / 3</a:t>
            </a:r>
          </a:p>
        </p:txBody>
      </p:sp>
      <p:sp>
        <p:nvSpPr>
          <p:cNvPr id="4" name="folio">
            <a:extLst>
              <a:ext uri="{FF2B5EF4-FFF2-40B4-BE49-F238E27FC236}">
                <a16:creationId xmlns:a16="http://schemas.microsoft.com/office/drawing/2014/main" id="{DFE775EF-0C29-458D-B3A4-453F7F924B8F}"/>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6 / 9</a:t>
            </a:r>
          </a:p>
        </p:txBody>
      </p:sp>
      <p:grpSp>
        <p:nvGrpSpPr>
          <p:cNvPr id="53" name="anim_heading">
            <a:extLst>
              <a:ext uri="{FF2B5EF4-FFF2-40B4-BE49-F238E27FC236}">
                <a16:creationId xmlns:a16="http://schemas.microsoft.com/office/drawing/2014/main" id="{10748FD9-8929-34DE-5EC1-49E41492BF9E}"/>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6B3ED004-48C2-4C2F-BD8C-1132C32616C0}"/>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Blocage par</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les règles</a:t>
              </a:r>
            </a:p>
          </p:txBody>
        </p:sp>
        <p:sp>
          <p:nvSpPr>
            <p:cNvPr id="6" name="summary">
              <a:extLst>
                <a:ext uri="{FF2B5EF4-FFF2-40B4-BE49-F238E27FC236}">
                  <a16:creationId xmlns:a16="http://schemas.microsoft.com/office/drawing/2014/main" id="{ECF6A983-EC04-4806-8000-057D39A85963}"/>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La même entrée est arrêtée par une signature forte, avant tout accès SQL.</a:t>
              </a:r>
            </a:p>
          </p:txBody>
        </p:sp>
      </p:grpSp>
      <p:sp>
        <p:nvSpPr>
          <p:cNvPr id="7" name="footer_rule">
            <a:extLst>
              <a:ext uri="{FF2B5EF4-FFF2-40B4-BE49-F238E27FC236}">
                <a16:creationId xmlns:a16="http://schemas.microsoft.com/office/drawing/2014/main" id="{A12D4647-EDAB-4D57-B4E7-443117566F2E}"/>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2AD4AFDB-1B38-4C34-A37D-46DF450ED3A7}"/>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Scénario en mode blocage. En observation, le signal SQLi est consigné sans cette interruption.</a:t>
            </a:r>
          </a:p>
        </p:txBody>
      </p:sp>
      <p:sp>
        <p:nvSpPr>
          <p:cNvPr id="9" name="browser_caption">
            <a:extLst>
              <a:ext uri="{FF2B5EF4-FFF2-40B4-BE49-F238E27FC236}">
                <a16:creationId xmlns:a16="http://schemas.microsoft.com/office/drawing/2014/main" id="{BF8C259B-BAEB-41A7-A320-AF73034115FA}"/>
              </a:ext>
            </a:extLst>
          </p:cNvPr>
          <p:cNvSpPr>
            <a:spLocks/>
          </p:cNvSpPr>
          <p:nvPr/>
        </p:nvSpPr>
        <p:spPr>
          <a:xfrm>
            <a:off x="6286500" y="2133600"/>
            <a:ext cx="2905125"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NAVIGATEUR</a:t>
            </a:r>
          </a:p>
        </p:txBody>
      </p:sp>
      <p:sp>
        <p:nvSpPr>
          <p:cNvPr id="10" name="browser_frame">
            <a:extLst>
              <a:ext uri="{FF2B5EF4-FFF2-40B4-BE49-F238E27FC236}">
                <a16:creationId xmlns:a16="http://schemas.microsoft.com/office/drawing/2014/main" id="{F54737DB-47F1-426F-9FC0-24EFA5DB31A8}"/>
              </a:ext>
            </a:extLst>
          </p:cNvPr>
          <p:cNvSpPr>
            <a:spLocks/>
          </p:cNvSpPr>
          <p:nvPr/>
        </p:nvSpPr>
        <p:spPr>
          <a:xfrm>
            <a:off x="6286500" y="2952750"/>
            <a:ext cx="2952750" cy="2324100"/>
          </a:xfrm>
          <a:prstGeom prst="rect">
            <a:avLst/>
          </a:prstGeom>
          <a:solidFill>
            <a:srgbClr val="FBF9F3"/>
          </a:solidFill>
          <a:ln w="19050">
            <a:solidFill>
              <a:srgbClr val="BFCABE"/>
            </a:solidFill>
            <a:prstDash val="solid"/>
          </a:ln>
        </p:spPr>
      </p:sp>
      <p:sp>
        <p:nvSpPr>
          <p:cNvPr id="11" name="browser_bar">
            <a:extLst>
              <a:ext uri="{FF2B5EF4-FFF2-40B4-BE49-F238E27FC236}">
                <a16:creationId xmlns:a16="http://schemas.microsoft.com/office/drawing/2014/main" id="{B835DB60-7AC9-4D8F-8D2A-5F085825F53C}"/>
              </a:ext>
            </a:extLst>
          </p:cNvPr>
          <p:cNvSpPr>
            <a:spLocks/>
          </p:cNvSpPr>
          <p:nvPr/>
        </p:nvSpPr>
        <p:spPr>
          <a:xfrm>
            <a:off x="6286500" y="3343275"/>
            <a:ext cx="2952750" cy="0"/>
          </a:xfrm>
          <a:prstGeom prst="line">
            <a:avLst/>
          </a:prstGeom>
          <a:noFill/>
          <a:ln w="14288">
            <a:solidFill>
              <a:srgbClr val="BFCABE"/>
            </a:solidFill>
            <a:prstDash val="solid"/>
          </a:ln>
        </p:spPr>
      </p:sp>
      <p:sp>
        <p:nvSpPr>
          <p:cNvPr id="12" name="browser_dot_0">
            <a:extLst>
              <a:ext uri="{FF2B5EF4-FFF2-40B4-BE49-F238E27FC236}">
                <a16:creationId xmlns:a16="http://schemas.microsoft.com/office/drawing/2014/main" id="{37BAF80A-91A5-4B91-BA35-63B5B7B2C1B6}"/>
              </a:ext>
            </a:extLst>
          </p:cNvPr>
          <p:cNvSpPr>
            <a:spLocks/>
          </p:cNvSpPr>
          <p:nvPr/>
        </p:nvSpPr>
        <p:spPr>
          <a:xfrm>
            <a:off x="6467475" y="3114675"/>
            <a:ext cx="57150" cy="57150"/>
          </a:xfrm>
          <a:prstGeom prst="ellipse">
            <a:avLst/>
          </a:prstGeom>
          <a:solidFill>
            <a:srgbClr val="BFCABE"/>
          </a:solidFill>
          <a:ln w="9525">
            <a:noFill/>
            <a:prstDash val="solid"/>
          </a:ln>
        </p:spPr>
      </p:sp>
      <p:sp>
        <p:nvSpPr>
          <p:cNvPr id="13" name="browser_dot_1">
            <a:extLst>
              <a:ext uri="{FF2B5EF4-FFF2-40B4-BE49-F238E27FC236}">
                <a16:creationId xmlns:a16="http://schemas.microsoft.com/office/drawing/2014/main" id="{A27210D8-44A0-4249-8692-1E3A2B4974BE}"/>
              </a:ext>
            </a:extLst>
          </p:cNvPr>
          <p:cNvSpPr>
            <a:spLocks/>
          </p:cNvSpPr>
          <p:nvPr/>
        </p:nvSpPr>
        <p:spPr>
          <a:xfrm>
            <a:off x="6629400" y="3114675"/>
            <a:ext cx="57150" cy="57150"/>
          </a:xfrm>
          <a:prstGeom prst="ellipse">
            <a:avLst/>
          </a:prstGeom>
          <a:solidFill>
            <a:srgbClr val="BFCABE"/>
          </a:solidFill>
          <a:ln w="9525">
            <a:noFill/>
            <a:prstDash val="solid"/>
          </a:ln>
        </p:spPr>
      </p:sp>
      <p:sp>
        <p:nvSpPr>
          <p:cNvPr id="14" name="browser_dot_2">
            <a:extLst>
              <a:ext uri="{FF2B5EF4-FFF2-40B4-BE49-F238E27FC236}">
                <a16:creationId xmlns:a16="http://schemas.microsoft.com/office/drawing/2014/main" id="{515E7F60-0799-415B-8DB2-F574815E2596}"/>
              </a:ext>
            </a:extLst>
          </p:cNvPr>
          <p:cNvSpPr>
            <a:spLocks/>
          </p:cNvSpPr>
          <p:nvPr/>
        </p:nvSpPr>
        <p:spPr>
          <a:xfrm>
            <a:off x="6791325" y="3114675"/>
            <a:ext cx="57150" cy="57150"/>
          </a:xfrm>
          <a:prstGeom prst="ellipse">
            <a:avLst/>
          </a:prstGeom>
          <a:solidFill>
            <a:srgbClr val="BFCABE"/>
          </a:solidFill>
          <a:ln w="9525">
            <a:noFill/>
            <a:prstDash val="solid"/>
          </a:ln>
        </p:spPr>
      </p:sp>
      <p:sp>
        <p:nvSpPr>
          <p:cNvPr id="15" name="browser_tab">
            <a:extLst>
              <a:ext uri="{FF2B5EF4-FFF2-40B4-BE49-F238E27FC236}">
                <a16:creationId xmlns:a16="http://schemas.microsoft.com/office/drawing/2014/main" id="{DAB849EF-1EA5-46FB-96FF-0C3A0BF9236C}"/>
              </a:ext>
            </a:extLst>
          </p:cNvPr>
          <p:cNvSpPr>
            <a:spLocks/>
          </p:cNvSpPr>
          <p:nvPr/>
        </p:nvSpPr>
        <p:spPr>
          <a:xfrm>
            <a:off x="7086600" y="3009900"/>
            <a:ext cx="2000250" cy="266700"/>
          </a:xfrm>
          <a:prstGeom prst="rect">
            <a:avLst/>
          </a:prstGeom>
          <a:noFill/>
          <a:ln w="9525">
            <a:noFill/>
            <a:prstDash val="solid"/>
          </a:ln>
        </p:spPr>
        <p:txBody>
          <a:bodyPr wrap="square" lIns="0" tIns="0" rIns="0" bIns="0" anchor="ctr">
            <a:noAutofit/>
          </a:bodyPr>
          <a:lstStyle>
            <a:defPPr algn="l">
              <a:defRPr sz="1425" b="0">
                <a:solidFill>
                  <a:srgbClr val="637368"/>
                </a:solidFill>
                <a:latin typeface="Segoe UI"/>
                <a:ea typeface="Segoe UI"/>
                <a:cs typeface="Segoe UI"/>
              </a:defRPr>
            </a:defPPr>
          </a:lstStyle>
          <a:p>
            <a:pPr algn="l">
              <a:defRPr sz="1425" b="0">
                <a:solidFill>
                  <a:srgbClr val="637368"/>
                </a:solidFill>
                <a:latin typeface="Segoe UI"/>
                <a:ea typeface="Segoe UI"/>
                <a:cs typeface="Segoe UI"/>
              </a:defRPr>
            </a:pPr>
            <a:r>
              <a:rPr sz="1425" b="0">
                <a:solidFill>
                  <a:srgbClr val="637368"/>
                </a:solidFill>
                <a:latin typeface="Segoe UI"/>
                <a:ea typeface="Segoe UI"/>
                <a:cs typeface="Segoe UI"/>
              </a:rPr>
              <a:t>Formulaire</a:t>
            </a:r>
          </a:p>
        </p:txBody>
      </p:sp>
      <p:sp>
        <p:nvSpPr>
          <p:cNvPr id="16" name="input_label">
            <a:extLst>
              <a:ext uri="{FF2B5EF4-FFF2-40B4-BE49-F238E27FC236}">
                <a16:creationId xmlns:a16="http://schemas.microsoft.com/office/drawing/2014/main" id="{A6CB618D-8F17-46C5-926C-6A8CE575FF59}"/>
              </a:ext>
            </a:extLst>
          </p:cNvPr>
          <p:cNvSpPr>
            <a:spLocks/>
          </p:cNvSpPr>
          <p:nvPr/>
        </p:nvSpPr>
        <p:spPr>
          <a:xfrm>
            <a:off x="6496050" y="3571875"/>
            <a:ext cx="2524125" cy="381000"/>
          </a:xfrm>
          <a:prstGeom prst="rect">
            <a:avLst/>
          </a:prstGeom>
          <a:noFill/>
          <a:ln w="9525">
            <a:noFill/>
            <a:prstDash val="solid"/>
          </a:ln>
        </p:spPr>
        <p:txBody>
          <a:bodyPr wrap="square" lIns="0" tIns="0" rIns="0" bIns="0" anchor="ctr">
            <a:noAutofit/>
          </a:bodyPr>
          <a:lstStyle>
            <a:defPPr algn="l">
              <a:defRPr sz="1800" b="0">
                <a:solidFill>
                  <a:srgbClr val="637368"/>
                </a:solidFill>
                <a:latin typeface="Segoe UI"/>
                <a:ea typeface="Segoe UI"/>
                <a:cs typeface="Segoe UI"/>
              </a:defRPr>
            </a:defPPr>
          </a:lstStyle>
          <a:p>
            <a:pPr algn="l">
              <a:defRPr sz="1800" b="0">
                <a:solidFill>
                  <a:srgbClr val="637368"/>
                </a:solidFill>
                <a:latin typeface="Segoe UI"/>
                <a:ea typeface="Segoe UI"/>
                <a:cs typeface="Segoe UI"/>
              </a:defRPr>
            </a:pPr>
            <a:r>
              <a:rPr sz="1800" b="0">
                <a:solidFill>
                  <a:srgbClr val="637368"/>
                </a:solidFill>
                <a:latin typeface="Segoe UI"/>
                <a:ea typeface="Segoe UI"/>
                <a:cs typeface="Segoe UI"/>
              </a:rPr>
              <a:t>Valeur saisie</a:t>
            </a:r>
          </a:p>
        </p:txBody>
      </p:sp>
      <p:sp>
        <p:nvSpPr>
          <p:cNvPr id="17" name="input_field">
            <a:extLst>
              <a:ext uri="{FF2B5EF4-FFF2-40B4-BE49-F238E27FC236}">
                <a16:creationId xmlns:a16="http://schemas.microsoft.com/office/drawing/2014/main" id="{5F28FD22-27E3-498C-85C8-BE1AB72428A9}"/>
              </a:ext>
            </a:extLst>
          </p:cNvPr>
          <p:cNvSpPr>
            <a:spLocks/>
          </p:cNvSpPr>
          <p:nvPr/>
        </p:nvSpPr>
        <p:spPr>
          <a:xfrm>
            <a:off x="6477000" y="4191000"/>
            <a:ext cx="2571750" cy="619125"/>
          </a:xfrm>
          <a:prstGeom prst="rect">
            <a:avLst/>
          </a:prstGeom>
          <a:solidFill>
            <a:srgbClr val="F4F1E9"/>
          </a:solidFill>
          <a:ln w="9525">
            <a:solidFill>
              <a:srgbClr val="BFCABE"/>
            </a:solidFill>
            <a:prstDash val="solid"/>
          </a:ln>
        </p:spPr>
      </p:sp>
      <p:sp>
        <p:nvSpPr>
          <p:cNvPr id="18" name="php_caption">
            <a:extLst>
              <a:ext uri="{FF2B5EF4-FFF2-40B4-BE49-F238E27FC236}">
                <a16:creationId xmlns:a16="http://schemas.microsoft.com/office/drawing/2014/main" id="{A1C766AB-5141-4EB9-A48E-50B70B5B0329}"/>
              </a:ext>
            </a:extLst>
          </p:cNvPr>
          <p:cNvSpPr>
            <a:spLocks/>
          </p:cNvSpPr>
          <p:nvPr/>
        </p:nvSpPr>
        <p:spPr>
          <a:xfrm>
            <a:off x="10620375" y="2133600"/>
            <a:ext cx="3238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APPLICATION PHP</a:t>
            </a:r>
          </a:p>
        </p:txBody>
      </p:sp>
      <p:sp>
        <p:nvSpPr>
          <p:cNvPr id="19" name="app_frame">
            <a:extLst>
              <a:ext uri="{FF2B5EF4-FFF2-40B4-BE49-F238E27FC236}">
                <a16:creationId xmlns:a16="http://schemas.microsoft.com/office/drawing/2014/main" id="{C5093E23-0F1A-4497-95E9-E877365380DE}"/>
              </a:ext>
            </a:extLst>
          </p:cNvPr>
          <p:cNvSpPr>
            <a:spLocks/>
          </p:cNvSpPr>
          <p:nvPr/>
        </p:nvSpPr>
        <p:spPr>
          <a:xfrm>
            <a:off x="10620375" y="2952750"/>
            <a:ext cx="3143250" cy="2324100"/>
          </a:xfrm>
          <a:prstGeom prst="rect">
            <a:avLst/>
          </a:prstGeom>
          <a:solidFill>
            <a:srgbClr val="FBF9F3"/>
          </a:solidFill>
          <a:ln w="19050">
            <a:solidFill>
              <a:srgbClr val="285C4D"/>
            </a:solidFill>
            <a:prstDash val="solid"/>
          </a:ln>
        </p:spPr>
      </p:sp>
      <p:sp>
        <p:nvSpPr>
          <p:cNvPr id="20" name="db_caption">
            <a:extLst>
              <a:ext uri="{FF2B5EF4-FFF2-40B4-BE49-F238E27FC236}">
                <a16:creationId xmlns:a16="http://schemas.microsoft.com/office/drawing/2014/main" id="{17CE0BBF-B65D-4EC5-AB2E-8B146231D745}"/>
              </a:ext>
            </a:extLst>
          </p:cNvPr>
          <p:cNvSpPr>
            <a:spLocks/>
          </p:cNvSpPr>
          <p:nvPr/>
        </p:nvSpPr>
        <p:spPr>
          <a:xfrm>
            <a:off x="15240000" y="2133600"/>
            <a:ext cx="2095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MARIADB</a:t>
            </a:r>
          </a:p>
        </p:txBody>
      </p:sp>
      <p:sp>
        <p:nvSpPr>
          <p:cNvPr id="21" name="db_body">
            <a:extLst>
              <a:ext uri="{FF2B5EF4-FFF2-40B4-BE49-F238E27FC236}">
                <a16:creationId xmlns:a16="http://schemas.microsoft.com/office/drawing/2014/main" id="{9C2BA4CD-8A68-4C7F-BC61-6CFC20F357AA}"/>
              </a:ext>
            </a:extLst>
          </p:cNvPr>
          <p:cNvSpPr>
            <a:spLocks/>
          </p:cNvSpPr>
          <p:nvPr/>
        </p:nvSpPr>
        <p:spPr>
          <a:xfrm>
            <a:off x="15287625" y="3152775"/>
            <a:ext cx="2095500" cy="1962150"/>
          </a:xfrm>
          <a:prstGeom prst="can">
            <a:avLst/>
          </a:prstGeom>
          <a:solidFill>
            <a:srgbClr val="FBF9F3"/>
          </a:solidFill>
          <a:ln w="19050">
            <a:solidFill>
              <a:srgbClr val="BFCABE"/>
            </a:solidFill>
            <a:prstDash val="solid"/>
          </a:ln>
        </p:spPr>
      </p:sp>
      <p:sp>
        <p:nvSpPr>
          <p:cNvPr id="22" name="db_label">
            <a:extLst>
              <a:ext uri="{FF2B5EF4-FFF2-40B4-BE49-F238E27FC236}">
                <a16:creationId xmlns:a16="http://schemas.microsoft.com/office/drawing/2014/main" id="{91CD46AB-A581-477A-9B47-C22C37435FDB}"/>
              </a:ext>
            </a:extLst>
          </p:cNvPr>
          <p:cNvSpPr>
            <a:spLocks/>
          </p:cNvSpPr>
          <p:nvPr/>
        </p:nvSpPr>
        <p:spPr>
          <a:xfrm>
            <a:off x="15430500" y="3667125"/>
            <a:ext cx="1809750" cy="904875"/>
          </a:xfrm>
          <a:prstGeom prst="rect">
            <a:avLst/>
          </a:prstGeom>
          <a:noFill/>
          <a:ln w="9525">
            <a:noFill/>
            <a:prstDash val="solid"/>
          </a:ln>
        </p:spPr>
        <p:txBody>
          <a:bodyPr wrap="square" lIns="0" tIns="0" rIns="0" bIns="0" anchor="ctr">
            <a:noAutofit/>
          </a:bodyPr>
          <a:lstStyle>
            <a:defPPr algn="ctr">
              <a:defRPr sz="2100" b="1">
                <a:solidFill>
                  <a:srgbClr val="637368"/>
                </a:solidFill>
                <a:latin typeface="Segoe UI"/>
                <a:ea typeface="Segoe UI"/>
                <a:cs typeface="Segoe UI"/>
              </a:defRPr>
            </a:defPPr>
          </a:lstStyle>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Base de</a:t>
            </a:r>
          </a:p>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données</a:t>
            </a:r>
          </a:p>
        </p:txBody>
      </p:sp>
      <p:sp>
        <p:nvSpPr>
          <p:cNvPr id="23" name="http_rail">
            <a:extLst>
              <a:ext uri="{FF2B5EF4-FFF2-40B4-BE49-F238E27FC236}">
                <a16:creationId xmlns:a16="http://schemas.microsoft.com/office/drawing/2014/main" id="{A4575A92-346E-4639-932B-D7642DF7EEDD}"/>
              </a:ext>
            </a:extLst>
          </p:cNvPr>
          <p:cNvSpPr>
            <a:spLocks/>
          </p:cNvSpPr>
          <p:nvPr/>
        </p:nvSpPr>
        <p:spPr>
          <a:xfrm>
            <a:off x="9391650" y="4276725"/>
            <a:ext cx="1057275" cy="133350"/>
          </a:xfrm>
          <a:prstGeom prst="rightArrow">
            <a:avLst/>
          </a:prstGeom>
          <a:solidFill>
            <a:srgbClr val="BFCABE"/>
          </a:solidFill>
          <a:ln w="9525">
            <a:noFill/>
            <a:prstDash val="solid"/>
          </a:ln>
        </p:spPr>
      </p:sp>
      <p:sp>
        <p:nvSpPr>
          <p:cNvPr id="24" name="http_caption">
            <a:extLst>
              <a:ext uri="{FF2B5EF4-FFF2-40B4-BE49-F238E27FC236}">
                <a16:creationId xmlns:a16="http://schemas.microsoft.com/office/drawing/2014/main" id="{C20F817B-2729-4E30-87B8-56025A6549AC}"/>
              </a:ext>
            </a:extLst>
          </p:cNvPr>
          <p:cNvSpPr>
            <a:spLocks/>
          </p:cNvSpPr>
          <p:nvPr/>
        </p:nvSpPr>
        <p:spPr>
          <a:xfrm>
            <a:off x="9315450" y="3800475"/>
            <a:ext cx="11906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HTTP</a:t>
            </a:r>
          </a:p>
        </p:txBody>
      </p:sp>
      <p:sp>
        <p:nvSpPr>
          <p:cNvPr id="25" name="app_title">
            <a:extLst>
              <a:ext uri="{FF2B5EF4-FFF2-40B4-BE49-F238E27FC236}">
                <a16:creationId xmlns:a16="http://schemas.microsoft.com/office/drawing/2014/main" id="{1A9A0D4B-CD50-4053-A1FD-A471C7213124}"/>
              </a:ext>
            </a:extLst>
          </p:cNvPr>
          <p:cNvSpPr>
            <a:spLocks/>
          </p:cNvSpPr>
          <p:nvPr/>
        </p:nvSpPr>
        <p:spPr>
          <a:xfrm>
            <a:off x="10820400" y="3143250"/>
            <a:ext cx="2743200" cy="476250"/>
          </a:xfrm>
          <a:prstGeom prst="rect">
            <a:avLst/>
          </a:prstGeom>
          <a:noFill/>
          <a:ln w="9525">
            <a:noFill/>
            <a:prstDash val="solid"/>
          </a:ln>
        </p:spPr>
        <p:txBody>
          <a:bodyPr wrap="square" lIns="0" tIns="0" rIns="0" bIns="0" anchor="ctr">
            <a:noAutofit/>
          </a:bodyPr>
          <a:lstStyle>
            <a:defPPr algn="ctr">
              <a:defRPr sz="2325" b="1">
                <a:solidFill>
                  <a:srgbClr val="285C4D"/>
                </a:solidFill>
                <a:latin typeface="Segoe UI"/>
                <a:ea typeface="Segoe UI"/>
                <a:cs typeface="Segoe UI"/>
              </a:defRPr>
            </a:defPPr>
          </a:lstStyle>
          <a:p>
            <a:pPr algn="ctr">
              <a:defRPr sz="2325" b="1">
                <a:solidFill>
                  <a:srgbClr val="285C4D"/>
                </a:solidFill>
                <a:latin typeface="Segoe UI"/>
                <a:ea typeface="Segoe UI"/>
                <a:cs typeface="Segoe UI"/>
              </a:defRPr>
            </a:pPr>
            <a:r>
              <a:rPr sz="2325" b="1">
                <a:solidFill>
                  <a:srgbClr val="285C4D"/>
                </a:solidFill>
                <a:latin typeface="Segoe UI"/>
                <a:ea typeface="Segoe UI"/>
                <a:cs typeface="Segoe UI"/>
              </a:rPr>
              <a:t>CyberShield</a:t>
            </a:r>
          </a:p>
        </p:txBody>
      </p:sp>
      <p:sp>
        <p:nvSpPr>
          <p:cNvPr id="26" name="app_sub">
            <a:extLst>
              <a:ext uri="{FF2B5EF4-FFF2-40B4-BE49-F238E27FC236}">
                <a16:creationId xmlns:a16="http://schemas.microsoft.com/office/drawing/2014/main" id="{110BB4B4-4144-4262-A9D1-6DD5576A1E80}"/>
              </a:ext>
            </a:extLst>
          </p:cNvPr>
          <p:cNvSpPr>
            <a:spLocks/>
          </p:cNvSpPr>
          <p:nvPr/>
        </p:nvSpPr>
        <p:spPr>
          <a:xfrm>
            <a:off x="10839450" y="3790950"/>
            <a:ext cx="2705100" cy="685800"/>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Analyse des signatures</a:t>
            </a:r>
          </a:p>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avant l’accès SQL.</a:t>
            </a:r>
          </a:p>
        </p:txBody>
      </p:sp>
      <p:sp>
        <p:nvSpPr>
          <p:cNvPr id="27" name="sql_rail">
            <a:extLst>
              <a:ext uri="{FF2B5EF4-FFF2-40B4-BE49-F238E27FC236}">
                <a16:creationId xmlns:a16="http://schemas.microsoft.com/office/drawing/2014/main" id="{1C95C4F6-888E-4F7E-983C-F0AC73D3B6DE}"/>
              </a:ext>
            </a:extLst>
          </p:cNvPr>
          <p:cNvSpPr>
            <a:spLocks/>
          </p:cNvSpPr>
          <p:nvPr/>
        </p:nvSpPr>
        <p:spPr>
          <a:xfrm>
            <a:off x="13935075" y="4276725"/>
            <a:ext cx="1152525" cy="133350"/>
          </a:xfrm>
          <a:prstGeom prst="rightArrow">
            <a:avLst/>
          </a:prstGeom>
          <a:solidFill>
            <a:srgbClr val="BFCABE"/>
          </a:solidFill>
          <a:ln w="9525">
            <a:noFill/>
            <a:prstDash val="solid"/>
          </a:ln>
        </p:spPr>
      </p:sp>
      <p:sp>
        <p:nvSpPr>
          <p:cNvPr id="28" name="sql_caption">
            <a:extLst>
              <a:ext uri="{FF2B5EF4-FFF2-40B4-BE49-F238E27FC236}">
                <a16:creationId xmlns:a16="http://schemas.microsoft.com/office/drawing/2014/main" id="{2EE8CFEC-E158-4A7A-996C-EF54558F944C}"/>
              </a:ext>
            </a:extLst>
          </p:cNvPr>
          <p:cNvSpPr>
            <a:spLocks/>
          </p:cNvSpPr>
          <p:nvPr/>
        </p:nvSpPr>
        <p:spPr>
          <a:xfrm>
            <a:off x="13935075" y="3800475"/>
            <a:ext cx="11525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SQL</a:t>
            </a:r>
          </a:p>
        </p:txBody>
      </p:sp>
      <p:sp>
        <p:nvSpPr>
          <p:cNvPr id="29" name="anim_payload">
            <a:extLst>
              <a:ext uri="{FF2B5EF4-FFF2-40B4-BE49-F238E27FC236}">
                <a16:creationId xmlns:a16="http://schemas.microsoft.com/office/drawing/2014/main" id="{42E27579-BED7-4A47-8A80-7A34F04EAF2F}"/>
              </a:ext>
            </a:extLst>
          </p:cNvPr>
          <p:cNvSpPr>
            <a:spLocks/>
          </p:cNvSpPr>
          <p:nvPr/>
        </p:nvSpPr>
        <p:spPr>
          <a:xfrm>
            <a:off x="6581775" y="4305300"/>
            <a:ext cx="2400300" cy="400050"/>
          </a:xfrm>
          <a:prstGeom prst="rect">
            <a:avLst/>
          </a:prstGeom>
          <a:noFill/>
          <a:ln w="9525">
            <a:noFill/>
            <a:prstDash val="solid"/>
          </a:ln>
        </p:spPr>
        <p:txBody>
          <a:bodyPr wrap="square" lIns="0" tIns="0" rIns="0" bIns="0" anchor="ctr">
            <a:noAutofit/>
          </a:bodyPr>
          <a:lstStyle>
            <a:defPPr algn="l">
              <a:defRPr sz="2175" b="1">
                <a:solidFill>
                  <a:srgbClr val="A64035"/>
                </a:solidFill>
                <a:latin typeface="Consolas"/>
                <a:ea typeface="Consolas"/>
                <a:cs typeface="Consolas"/>
              </a:defRPr>
            </a:defPPr>
          </a:lstStyle>
          <a:p>
            <a:pPr algn="l">
              <a:defRPr sz="2175" b="1">
                <a:solidFill>
                  <a:srgbClr val="A64035"/>
                </a:solidFill>
                <a:latin typeface="Consolas"/>
                <a:ea typeface="Consolas"/>
                <a:cs typeface="Consolas"/>
              </a:defRPr>
            </a:pPr>
            <a:r>
              <a:rPr sz="2175" b="1">
                <a:solidFill>
                  <a:srgbClr val="A64035"/>
                </a:solidFill>
                <a:latin typeface="Consolas"/>
                <a:ea typeface="Consolas"/>
                <a:cs typeface="Consolas"/>
              </a:rPr>
              <a:t>' OR 1=1 -- </a:t>
            </a:r>
          </a:p>
        </p:txBody>
      </p:sp>
      <p:sp>
        <p:nvSpPr>
          <p:cNvPr id="30" name="anim_http_packet">
            <a:extLst>
              <a:ext uri="{FF2B5EF4-FFF2-40B4-BE49-F238E27FC236}">
                <a16:creationId xmlns:a16="http://schemas.microsoft.com/office/drawing/2014/main" id="{74B25859-63BB-40CD-A8D2-8F746B4F7517}"/>
              </a:ext>
            </a:extLst>
          </p:cNvPr>
          <p:cNvSpPr>
            <a:spLocks/>
          </p:cNvSpPr>
          <p:nvPr/>
        </p:nvSpPr>
        <p:spPr>
          <a:xfrm>
            <a:off x="9353550" y="4105275"/>
            <a:ext cx="105727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HTTP</a:t>
            </a:r>
          </a:p>
        </p:txBody>
      </p:sp>
      <p:grpSp>
        <p:nvGrpSpPr>
          <p:cNvPr id="54" name="anim_signature">
            <a:extLst>
              <a:ext uri="{FF2B5EF4-FFF2-40B4-BE49-F238E27FC236}">
                <a16:creationId xmlns:a16="http://schemas.microsoft.com/office/drawing/2014/main" id="{9E206872-4353-3432-D7FB-3DBC4EB9F701}"/>
              </a:ext>
            </a:extLst>
          </p:cNvPr>
          <p:cNvGrpSpPr/>
          <p:nvPr/>
        </p:nvGrpSpPr>
        <p:grpSpPr>
          <a:xfrm>
            <a:off x="10506075" y="4724400"/>
            <a:ext cx="4352925" cy="2600325"/>
            <a:chOff x="10506075" y="4724400"/>
            <a:chExt cx="4352925" cy="2600325"/>
          </a:xfrm>
        </p:grpSpPr>
        <p:sp>
          <p:nvSpPr>
            <p:cNvPr id="31" name="signature">
              <a:extLst>
                <a:ext uri="{FF2B5EF4-FFF2-40B4-BE49-F238E27FC236}">
                  <a16:creationId xmlns:a16="http://schemas.microsoft.com/office/drawing/2014/main" id="{63C694D3-956F-4E65-AD43-8AC3C23592B6}"/>
                </a:ext>
              </a:extLst>
            </p:cNvPr>
            <p:cNvSpPr>
              <a:spLocks/>
            </p:cNvSpPr>
            <p:nvPr/>
          </p:nvSpPr>
          <p:spPr>
            <a:xfrm>
              <a:off x="10734675" y="4724400"/>
              <a:ext cx="2905125" cy="419100"/>
            </a:xfrm>
            <a:prstGeom prst="rect">
              <a:avLst/>
            </a:prstGeom>
            <a:noFill/>
            <a:ln w="9525">
              <a:noFill/>
              <a:prstDash val="solid"/>
            </a:ln>
          </p:spPr>
          <p:txBody>
            <a:bodyPr wrap="square" lIns="0" tIns="0" rIns="0" bIns="0" anchor="ctr">
              <a:noAutofit/>
            </a:bodyPr>
            <a:lstStyle>
              <a:defPPr algn="ctr">
                <a:defRPr sz="1875" b="1">
                  <a:solidFill>
                    <a:srgbClr val="285C4D"/>
                  </a:solidFill>
                  <a:latin typeface="Segoe UI"/>
                  <a:ea typeface="Segoe UI"/>
                  <a:cs typeface="Segoe UI"/>
                </a:defRPr>
              </a:defPPr>
            </a:lstStyle>
            <a:p>
              <a:pPr algn="ctr">
                <a:defRPr sz="1875" b="1">
                  <a:solidFill>
                    <a:srgbClr val="285C4D"/>
                  </a:solidFill>
                  <a:latin typeface="Segoe UI"/>
                  <a:ea typeface="Segoe UI"/>
                  <a:cs typeface="Segoe UI"/>
                </a:defRPr>
              </a:pPr>
              <a:r>
                <a:rPr sz="1875" b="1">
                  <a:solidFill>
                    <a:srgbClr val="285C4D"/>
                  </a:solidFill>
                  <a:latin typeface="Segoe UI"/>
                  <a:ea typeface="Segoe UI"/>
                  <a:cs typeface="Segoe UI"/>
                </a:rPr>
                <a:t>Signature reconnue</a:t>
              </a:r>
            </a:p>
          </p:txBody>
        </p:sp>
        <p:sp>
          <p:nvSpPr>
            <p:cNvPr id="32" name="rules_score">
              <a:extLst>
                <a:ext uri="{FF2B5EF4-FFF2-40B4-BE49-F238E27FC236}">
                  <a16:creationId xmlns:a16="http://schemas.microsoft.com/office/drawing/2014/main" id="{ABF8D718-7B8D-48D7-92CD-A226303CF622}"/>
                </a:ext>
              </a:extLst>
            </p:cNvPr>
            <p:cNvSpPr>
              <a:spLocks/>
            </p:cNvSpPr>
            <p:nvPr/>
          </p:nvSpPr>
          <p:spPr>
            <a:xfrm>
              <a:off x="10677525" y="5857875"/>
              <a:ext cx="1619250" cy="1047750"/>
            </a:xfrm>
            <a:prstGeom prst="rect">
              <a:avLst/>
            </a:prstGeom>
            <a:noFill/>
            <a:ln w="9525">
              <a:noFill/>
              <a:prstDash val="solid"/>
            </a:ln>
          </p:spPr>
          <p:txBody>
            <a:bodyPr wrap="square" lIns="0" tIns="0" rIns="0" bIns="0" anchor="ctr">
              <a:noAutofit/>
            </a:bodyPr>
            <a:lstStyle>
              <a:defPPr algn="ctr">
                <a:defRPr sz="6600" b="1">
                  <a:solidFill>
                    <a:srgbClr val="285C4D"/>
                  </a:solidFill>
                  <a:latin typeface="Century Gothic"/>
                  <a:ea typeface="Century Gothic"/>
                  <a:cs typeface="Century Gothic"/>
                </a:defRPr>
              </a:defPPr>
            </a:lstStyle>
            <a:p>
              <a:pPr algn="ctr">
                <a:defRPr sz="6600" b="1">
                  <a:solidFill>
                    <a:srgbClr val="285C4D"/>
                  </a:solidFill>
                  <a:latin typeface="Century Gothic"/>
                  <a:ea typeface="Century Gothic"/>
                  <a:cs typeface="Century Gothic"/>
                </a:defRPr>
              </a:pPr>
              <a:r>
                <a:rPr sz="6600" b="1">
                  <a:solidFill>
                    <a:srgbClr val="285C4D"/>
                  </a:solidFill>
                  <a:latin typeface="Century Gothic"/>
                  <a:ea typeface="Century Gothic"/>
                  <a:cs typeface="Century Gothic"/>
                </a:rPr>
                <a:t>90</a:t>
              </a:r>
            </a:p>
          </p:txBody>
        </p:sp>
        <p:sp>
          <p:nvSpPr>
            <p:cNvPr id="33" name="rules_score_label">
              <a:extLst>
                <a:ext uri="{FF2B5EF4-FFF2-40B4-BE49-F238E27FC236}">
                  <a16:creationId xmlns:a16="http://schemas.microsoft.com/office/drawing/2014/main" id="{8DB8554B-1CF3-4168-8BBD-77D2E49E27F5}"/>
                </a:ext>
              </a:extLst>
            </p:cNvPr>
            <p:cNvSpPr>
              <a:spLocks/>
            </p:cNvSpPr>
            <p:nvPr/>
          </p:nvSpPr>
          <p:spPr>
            <a:xfrm>
              <a:off x="10506075" y="6953250"/>
              <a:ext cx="2000250" cy="371475"/>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Score de règles</a:t>
              </a:r>
            </a:p>
          </p:txBody>
        </p:sp>
        <p:sp>
          <p:nvSpPr>
            <p:cNvPr id="34" name="rules_threshold">
              <a:extLst>
                <a:ext uri="{FF2B5EF4-FFF2-40B4-BE49-F238E27FC236}">
                  <a16:creationId xmlns:a16="http://schemas.microsoft.com/office/drawing/2014/main" id="{4D449754-5116-491E-89DA-62EB4A3B33B8}"/>
                </a:ext>
              </a:extLst>
            </p:cNvPr>
            <p:cNvSpPr>
              <a:spLocks/>
            </p:cNvSpPr>
            <p:nvPr/>
          </p:nvSpPr>
          <p:spPr>
            <a:xfrm>
              <a:off x="12868275" y="5857875"/>
              <a:ext cx="1619250" cy="1047750"/>
            </a:xfrm>
            <a:prstGeom prst="rect">
              <a:avLst/>
            </a:prstGeom>
            <a:noFill/>
            <a:ln w="9525">
              <a:noFill/>
              <a:prstDash val="solid"/>
            </a:ln>
          </p:spPr>
          <p:txBody>
            <a:bodyPr wrap="square" lIns="0" tIns="0" rIns="0" bIns="0" anchor="ctr">
              <a:noAutofit/>
            </a:bodyPr>
            <a:lstStyle>
              <a:defPPr algn="ctr">
                <a:defRPr sz="6600" b="1">
                  <a:solidFill>
                    <a:srgbClr val="637368"/>
                  </a:solidFill>
                  <a:latin typeface="Century Gothic"/>
                  <a:ea typeface="Century Gothic"/>
                  <a:cs typeface="Century Gothic"/>
                </a:defRPr>
              </a:defPPr>
            </a:lstStyle>
            <a:p>
              <a:pPr algn="ctr">
                <a:defRPr sz="6600" b="1">
                  <a:solidFill>
                    <a:srgbClr val="637368"/>
                  </a:solidFill>
                  <a:latin typeface="Century Gothic"/>
                  <a:ea typeface="Century Gothic"/>
                  <a:cs typeface="Century Gothic"/>
                </a:defRPr>
              </a:pPr>
              <a:r>
                <a:rPr sz="6600" b="1">
                  <a:solidFill>
                    <a:srgbClr val="637368"/>
                  </a:solidFill>
                  <a:latin typeface="Century Gothic"/>
                  <a:ea typeface="Century Gothic"/>
                  <a:cs typeface="Century Gothic"/>
                </a:rPr>
                <a:t>80</a:t>
              </a:r>
            </a:p>
          </p:txBody>
        </p:sp>
        <p:sp>
          <p:nvSpPr>
            <p:cNvPr id="35" name="rules_threshold_label">
              <a:extLst>
                <a:ext uri="{FF2B5EF4-FFF2-40B4-BE49-F238E27FC236}">
                  <a16:creationId xmlns:a16="http://schemas.microsoft.com/office/drawing/2014/main" id="{C7EFEA90-8EFD-400A-B1AA-6EE0D02F707D}"/>
                </a:ext>
              </a:extLst>
            </p:cNvPr>
            <p:cNvSpPr>
              <a:spLocks/>
            </p:cNvSpPr>
            <p:nvPr/>
          </p:nvSpPr>
          <p:spPr>
            <a:xfrm>
              <a:off x="12573000" y="6953250"/>
              <a:ext cx="2286000" cy="371475"/>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Seuil de blocage</a:t>
              </a:r>
            </a:p>
          </p:txBody>
        </p:sp>
      </p:grpSp>
      <p:grpSp>
        <p:nvGrpSpPr>
          <p:cNvPr id="55" name="anim_blocked">
            <a:extLst>
              <a:ext uri="{FF2B5EF4-FFF2-40B4-BE49-F238E27FC236}">
                <a16:creationId xmlns:a16="http://schemas.microsoft.com/office/drawing/2014/main" id="{31CDBCC4-A1C9-A9E1-F2B1-D3DC964FA6FF}"/>
              </a:ext>
            </a:extLst>
          </p:cNvPr>
          <p:cNvGrpSpPr/>
          <p:nvPr/>
        </p:nvGrpSpPr>
        <p:grpSpPr>
          <a:xfrm>
            <a:off x="13811250" y="3943350"/>
            <a:ext cx="3819525" cy="2162175"/>
            <a:chOff x="13811250" y="3943350"/>
            <a:chExt cx="3819525" cy="2162175"/>
          </a:xfrm>
        </p:grpSpPr>
        <p:sp>
          <p:nvSpPr>
            <p:cNvPr id="36" name="barrier">
              <a:extLst>
                <a:ext uri="{FF2B5EF4-FFF2-40B4-BE49-F238E27FC236}">
                  <a16:creationId xmlns:a16="http://schemas.microsoft.com/office/drawing/2014/main" id="{D90D54FD-9C3E-4CBB-90B5-747D0504886F}"/>
                </a:ext>
              </a:extLst>
            </p:cNvPr>
            <p:cNvSpPr>
              <a:spLocks/>
            </p:cNvSpPr>
            <p:nvPr/>
          </p:nvSpPr>
          <p:spPr>
            <a:xfrm>
              <a:off x="14373225" y="3943350"/>
              <a:ext cx="104775" cy="847725"/>
            </a:xfrm>
            <a:prstGeom prst="rect">
              <a:avLst/>
            </a:prstGeom>
            <a:solidFill>
              <a:srgbClr val="A64035"/>
            </a:solidFill>
            <a:ln w="9525">
              <a:noFill/>
              <a:prstDash val="solid"/>
            </a:ln>
          </p:spPr>
        </p:sp>
        <p:sp>
          <p:nvSpPr>
            <p:cNvPr id="37" name="blocked_word">
              <a:extLst>
                <a:ext uri="{FF2B5EF4-FFF2-40B4-BE49-F238E27FC236}">
                  <a16:creationId xmlns:a16="http://schemas.microsoft.com/office/drawing/2014/main" id="{2E7A20C7-00BD-4259-9D07-6AC2FCC40135}"/>
                </a:ext>
              </a:extLst>
            </p:cNvPr>
            <p:cNvSpPr>
              <a:spLocks/>
            </p:cNvSpPr>
            <p:nvPr/>
          </p:nvSpPr>
          <p:spPr>
            <a:xfrm>
              <a:off x="13811250" y="5219700"/>
              <a:ext cx="1571625" cy="447675"/>
            </a:xfrm>
            <a:prstGeom prst="rect">
              <a:avLst/>
            </a:prstGeom>
            <a:noFill/>
            <a:ln w="9525">
              <a:noFill/>
              <a:prstDash val="solid"/>
            </a:ln>
          </p:spPr>
          <p:txBody>
            <a:bodyPr wrap="square" lIns="0" tIns="0" rIns="0" bIns="0" anchor="ctr">
              <a:noAutofit/>
            </a:bodyPr>
            <a:lstStyle>
              <a:defPPr algn="ctr">
                <a:defRPr sz="1800" b="1">
                  <a:solidFill>
                    <a:srgbClr val="A64035"/>
                  </a:solidFill>
                  <a:latin typeface="Segoe UI"/>
                  <a:ea typeface="Segoe UI"/>
                  <a:cs typeface="Segoe UI"/>
                </a:defRPr>
              </a:defPPr>
            </a:lstStyle>
            <a:p>
              <a:pPr algn="ctr">
                <a:defRPr sz="1800" b="1">
                  <a:solidFill>
                    <a:srgbClr val="A64035"/>
                  </a:solidFill>
                  <a:latin typeface="Segoe UI"/>
                  <a:ea typeface="Segoe UI"/>
                  <a:cs typeface="Segoe UI"/>
                </a:defRPr>
              </a:pPr>
              <a:r>
                <a:rPr sz="1800" b="1">
                  <a:solidFill>
                    <a:srgbClr val="A64035"/>
                  </a:solidFill>
                  <a:latin typeface="Segoe UI"/>
                  <a:ea typeface="Segoe UI"/>
                  <a:cs typeface="Segoe UI"/>
                </a:rPr>
                <a:t>BLOQUÉE</a:t>
              </a:r>
            </a:p>
          </p:txBody>
        </p:sp>
        <p:sp>
          <p:nvSpPr>
            <p:cNvPr id="38" name="db_not_called">
              <a:extLst>
                <a:ext uri="{FF2B5EF4-FFF2-40B4-BE49-F238E27FC236}">
                  <a16:creationId xmlns:a16="http://schemas.microsoft.com/office/drawing/2014/main" id="{EC551836-B4CD-4CBC-9D9E-5FBF2E159CC7}"/>
                </a:ext>
              </a:extLst>
            </p:cNvPr>
            <p:cNvSpPr>
              <a:spLocks/>
            </p:cNvSpPr>
            <p:nvPr/>
          </p:nvSpPr>
          <p:spPr>
            <a:xfrm>
              <a:off x="14820900" y="5657850"/>
              <a:ext cx="2809875" cy="447675"/>
            </a:xfrm>
            <a:prstGeom prst="rect">
              <a:avLst/>
            </a:prstGeom>
            <a:noFill/>
            <a:ln w="9525">
              <a:noFill/>
              <a:prstDash val="solid"/>
            </a:ln>
          </p:spPr>
          <p:txBody>
            <a:bodyPr wrap="square" lIns="0" tIns="0" rIns="0" bIns="0" anchor="ctr">
              <a:noAutofit/>
            </a:bodyPr>
            <a:lstStyle>
              <a:defPPr algn="ctr">
                <a:defRPr sz="1950" b="1">
                  <a:solidFill>
                    <a:srgbClr val="A64035"/>
                  </a:solidFill>
                  <a:latin typeface="Segoe UI"/>
                  <a:ea typeface="Segoe UI"/>
                  <a:cs typeface="Segoe UI"/>
                </a:defRPr>
              </a:defPPr>
            </a:lstStyle>
            <a:p>
              <a:pPr algn="ctr">
                <a:defRPr sz="1950" b="1">
                  <a:solidFill>
                    <a:srgbClr val="A64035"/>
                  </a:solidFill>
                  <a:latin typeface="Segoe UI"/>
                  <a:ea typeface="Segoe UI"/>
                  <a:cs typeface="Segoe UI"/>
                </a:defRPr>
              </a:pPr>
              <a:r>
                <a:rPr sz="1950" b="1">
                  <a:solidFill>
                    <a:srgbClr val="A64035"/>
                  </a:solidFill>
                  <a:latin typeface="Segoe UI"/>
                  <a:ea typeface="Segoe UI"/>
                  <a:cs typeface="Segoe UI"/>
                </a:rPr>
                <a:t>Base non appelée</a:t>
              </a:r>
            </a:p>
          </p:txBody>
        </p:sp>
      </p:grpSp>
      <p:sp>
        <p:nvSpPr>
          <p:cNvPr id="39" name="response_rail">
            <a:extLst>
              <a:ext uri="{FF2B5EF4-FFF2-40B4-BE49-F238E27FC236}">
                <a16:creationId xmlns:a16="http://schemas.microsoft.com/office/drawing/2014/main" id="{82CD7037-87B3-423F-8D4F-E5D6877FC79D}"/>
              </a:ext>
            </a:extLst>
          </p:cNvPr>
          <p:cNvSpPr>
            <a:spLocks/>
          </p:cNvSpPr>
          <p:nvPr/>
        </p:nvSpPr>
        <p:spPr>
          <a:xfrm>
            <a:off x="7667625" y="8020050"/>
            <a:ext cx="4762500" cy="0"/>
          </a:xfrm>
          <a:prstGeom prst="line">
            <a:avLst/>
          </a:prstGeom>
          <a:noFill/>
          <a:ln w="14288">
            <a:solidFill>
              <a:srgbClr val="BFCABE"/>
            </a:solidFill>
            <a:prstDash val="solid"/>
          </a:ln>
        </p:spPr>
      </p:sp>
      <p:sp>
        <p:nvSpPr>
          <p:cNvPr id="40" name="anim_response">
            <a:extLst>
              <a:ext uri="{FF2B5EF4-FFF2-40B4-BE49-F238E27FC236}">
                <a16:creationId xmlns:a16="http://schemas.microsoft.com/office/drawing/2014/main" id="{41AAABCF-7E19-45CA-8EF4-5623BF665862}"/>
              </a:ext>
            </a:extLst>
          </p:cNvPr>
          <p:cNvSpPr>
            <a:spLocks/>
          </p:cNvSpPr>
          <p:nvPr/>
        </p:nvSpPr>
        <p:spPr>
          <a:xfrm>
            <a:off x="10810875" y="7781925"/>
            <a:ext cx="1619250"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HTTP 403</a:t>
            </a:r>
          </a:p>
        </p:txBody>
      </p:sp>
      <p:grpSp>
        <p:nvGrpSpPr>
          <p:cNvPr id="56" name="anim_journal">
            <a:extLst>
              <a:ext uri="{FF2B5EF4-FFF2-40B4-BE49-F238E27FC236}">
                <a16:creationId xmlns:a16="http://schemas.microsoft.com/office/drawing/2014/main" id="{0DDBE019-4F4A-3179-6D6C-7500E8989E3F}"/>
              </a:ext>
            </a:extLst>
          </p:cNvPr>
          <p:cNvGrpSpPr/>
          <p:nvPr/>
        </p:nvGrpSpPr>
        <p:grpSpPr>
          <a:xfrm>
            <a:off x="13668375" y="7724775"/>
            <a:ext cx="3810000" cy="866775"/>
            <a:chOff x="13668375" y="7724775"/>
            <a:chExt cx="3810000" cy="866775"/>
          </a:xfrm>
        </p:grpSpPr>
        <p:sp>
          <p:nvSpPr>
            <p:cNvPr id="41" name="journal">
              <a:extLst>
                <a:ext uri="{FF2B5EF4-FFF2-40B4-BE49-F238E27FC236}">
                  <a16:creationId xmlns:a16="http://schemas.microsoft.com/office/drawing/2014/main" id="{D7166987-154D-4890-BB6C-7021C646F1D8}"/>
                </a:ext>
              </a:extLst>
            </p:cNvPr>
            <p:cNvSpPr>
              <a:spLocks/>
            </p:cNvSpPr>
            <p:nvPr/>
          </p:nvSpPr>
          <p:spPr>
            <a:xfrm>
              <a:off x="13668375" y="7724775"/>
              <a:ext cx="3810000" cy="447675"/>
            </a:xfrm>
            <a:prstGeom prst="rect">
              <a:avLst/>
            </a:prstGeom>
            <a:noFill/>
            <a:ln w="9525">
              <a:noFill/>
              <a:prstDash val="solid"/>
            </a:ln>
          </p:spPr>
          <p:txBody>
            <a:bodyPr wrap="square" lIns="0" tIns="0" rIns="0" bIns="0" anchor="ctr">
              <a:noAutofit/>
            </a:bodyPr>
            <a:lstStyle>
              <a:defPPr algn="l">
                <a:defRPr sz="2175" b="1">
                  <a:solidFill>
                    <a:srgbClr val="285C4D"/>
                  </a:solidFill>
                  <a:latin typeface="Segoe UI"/>
                  <a:ea typeface="Segoe UI"/>
                  <a:cs typeface="Segoe UI"/>
                </a:defRPr>
              </a:defPPr>
            </a:lstStyle>
            <a:p>
              <a:pPr algn="l">
                <a:defRPr sz="2175" b="1">
                  <a:solidFill>
                    <a:srgbClr val="285C4D"/>
                  </a:solidFill>
                  <a:latin typeface="Segoe UI"/>
                  <a:ea typeface="Segoe UI"/>
                  <a:cs typeface="Segoe UI"/>
                </a:defRPr>
              </a:pPr>
              <a:r>
                <a:rPr sz="2175" b="1">
                  <a:solidFill>
                    <a:srgbClr val="285C4D"/>
                  </a:solidFill>
                  <a:latin typeface="Segoe UI"/>
                  <a:ea typeface="Segoe UI"/>
                  <a:cs typeface="Segoe UI"/>
                </a:rPr>
                <a:t>Événement consigné</a:t>
              </a:r>
            </a:p>
          </p:txBody>
        </p:sp>
        <p:sp>
          <p:nvSpPr>
            <p:cNvPr id="42" name="journal_detail">
              <a:extLst>
                <a:ext uri="{FF2B5EF4-FFF2-40B4-BE49-F238E27FC236}">
                  <a16:creationId xmlns:a16="http://schemas.microsoft.com/office/drawing/2014/main" id="{511C764D-94AF-4D8F-AE9B-FC0465C16096}"/>
                </a:ext>
              </a:extLst>
            </p:cNvPr>
            <p:cNvSpPr>
              <a:spLocks/>
            </p:cNvSpPr>
            <p:nvPr/>
          </p:nvSpPr>
          <p:spPr>
            <a:xfrm>
              <a:off x="13668375" y="8229600"/>
              <a:ext cx="3810000" cy="361950"/>
            </a:xfrm>
            <a:prstGeom prst="rect">
              <a:avLst/>
            </a:prstGeom>
            <a:noFill/>
            <a:ln w="9525">
              <a:noFill/>
              <a:prstDash val="solid"/>
            </a:ln>
          </p:spPr>
          <p:txBody>
            <a:bodyPr wrap="square" lIns="0" tIns="0" rIns="0" bIns="0" anchor="ctr">
              <a:noAutofit/>
            </a:bodyPr>
            <a:lstStyle>
              <a:defPPr algn="l">
                <a:defRPr sz="1725" b="0">
                  <a:solidFill>
                    <a:srgbClr val="637368"/>
                  </a:solidFill>
                  <a:latin typeface="Segoe UI"/>
                  <a:ea typeface="Segoe UI"/>
                  <a:cs typeface="Segoe UI"/>
                </a:defRPr>
              </a:defPPr>
            </a:lstStyle>
            <a:p>
              <a:pPr algn="l">
                <a:defRPr sz="1725" b="0">
                  <a:solidFill>
                    <a:srgbClr val="637368"/>
                  </a:solidFill>
                  <a:latin typeface="Segoe UI"/>
                  <a:ea typeface="Segoe UI"/>
                  <a:cs typeface="Segoe UI"/>
                </a:defRPr>
              </a:pPr>
              <a:r>
                <a:rPr sz="1725" b="0">
                  <a:solidFill>
                    <a:srgbClr val="637368"/>
                  </a:solidFill>
                  <a:latin typeface="Segoe UI"/>
                  <a:ea typeface="Segoe UI"/>
                  <a:cs typeface="Segoe UI"/>
                </a:rPr>
                <a:t>Métadonnées minimisées</a:t>
              </a:r>
            </a:p>
          </p:txBody>
        </p:sp>
      </p:grpSp>
      <p:sp>
        <p:nvSpPr>
          <p:cNvPr id="43" name="anim_result">
            <a:extLst>
              <a:ext uri="{FF2B5EF4-FFF2-40B4-BE49-F238E27FC236}">
                <a16:creationId xmlns:a16="http://schemas.microsoft.com/office/drawing/2014/main" id="{E6C5D0A5-57C1-4B6C-8E46-6479961C5FAD}"/>
              </a:ext>
            </a:extLst>
          </p:cNvPr>
          <p:cNvSpPr>
            <a:spLocks/>
          </p:cNvSpPr>
          <p:nvPr/>
        </p:nvSpPr>
        <p:spPr>
          <a:xfrm>
            <a:off x="6448425" y="8724900"/>
            <a:ext cx="11049000" cy="466725"/>
          </a:xfrm>
          <a:prstGeom prst="rect">
            <a:avLst/>
          </a:prstGeom>
          <a:noFill/>
          <a:ln w="9525">
            <a:noFill/>
            <a:prstDash val="solid"/>
          </a:ln>
        </p:spPr>
        <p:txBody>
          <a:bodyPr wrap="square" lIns="0" tIns="0" rIns="0" bIns="0" anchor="ctr">
            <a:noAutofit/>
          </a:bodyPr>
          <a:lstStyle>
            <a:defPPr algn="l">
              <a:defRPr sz="2475" b="1">
                <a:solidFill>
                  <a:srgbClr val="285C4D"/>
                </a:solidFill>
                <a:latin typeface="Segoe UI"/>
                <a:ea typeface="Segoe UI"/>
                <a:cs typeface="Segoe UI"/>
              </a:defRPr>
            </a:defPPr>
          </a:lstStyle>
          <a:p>
            <a:pPr algn="l">
              <a:defRPr sz="2475" b="1">
                <a:solidFill>
                  <a:srgbClr val="285C4D"/>
                </a:solidFill>
                <a:latin typeface="Segoe UI"/>
                <a:ea typeface="Segoe UI"/>
                <a:cs typeface="Segoe UI"/>
              </a:defRPr>
            </a:pPr>
            <a:r>
              <a:rPr sz="2475" b="1">
                <a:solidFill>
                  <a:srgbClr val="285C4D"/>
                </a:solidFill>
                <a:latin typeface="Segoe UI"/>
                <a:ea typeface="Segoe UI"/>
                <a:cs typeface="Segoe UI"/>
              </a:rPr>
              <a:t>Aucun accès SQL pour cette requête.</a:t>
            </a:r>
          </a:p>
        </p:txBody>
      </p:sp>
      <p:grpSp>
        <p:nvGrpSpPr>
          <p:cNvPr id="57" name="anim_step_1">
            <a:extLst>
              <a:ext uri="{FF2B5EF4-FFF2-40B4-BE49-F238E27FC236}">
                <a16:creationId xmlns:a16="http://schemas.microsoft.com/office/drawing/2014/main" id="{2933CE7A-1175-A906-2A6E-A7C1E1C0F96E}"/>
              </a:ext>
            </a:extLst>
          </p:cNvPr>
          <p:cNvGrpSpPr/>
          <p:nvPr/>
        </p:nvGrpSpPr>
        <p:grpSpPr>
          <a:xfrm>
            <a:off x="1000125" y="6210300"/>
            <a:ext cx="4562475" cy="476250"/>
            <a:chOff x="1000125" y="6210300"/>
            <a:chExt cx="4562475" cy="476250"/>
          </a:xfrm>
        </p:grpSpPr>
        <p:sp>
          <p:nvSpPr>
            <p:cNvPr id="44" name="step_1_number">
              <a:extLst>
                <a:ext uri="{FF2B5EF4-FFF2-40B4-BE49-F238E27FC236}">
                  <a16:creationId xmlns:a16="http://schemas.microsoft.com/office/drawing/2014/main" id="{C510582B-BE2C-4BFE-8BB1-A1034895EE02}"/>
                </a:ext>
              </a:extLst>
            </p:cNvPr>
            <p:cNvSpPr>
              <a:spLocks/>
            </p:cNvSpPr>
            <p:nvPr/>
          </p:nvSpPr>
          <p:spPr>
            <a:xfrm>
              <a:off x="1000125" y="62293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01</a:t>
              </a:r>
            </a:p>
          </p:txBody>
        </p:sp>
        <p:sp>
          <p:nvSpPr>
            <p:cNvPr id="45" name="step_1_text">
              <a:extLst>
                <a:ext uri="{FF2B5EF4-FFF2-40B4-BE49-F238E27FC236}">
                  <a16:creationId xmlns:a16="http://schemas.microsoft.com/office/drawing/2014/main" id="{CD98D358-061B-4717-BD93-945010C1D8A9}"/>
                </a:ext>
              </a:extLst>
            </p:cNvPr>
            <p:cNvSpPr>
              <a:spLocks/>
            </p:cNvSpPr>
            <p:nvPr/>
          </p:nvSpPr>
          <p:spPr>
            <a:xfrm>
              <a:off x="1704975" y="62103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Saisie</a:t>
              </a:r>
            </a:p>
          </p:txBody>
        </p:sp>
      </p:grpSp>
      <p:grpSp>
        <p:nvGrpSpPr>
          <p:cNvPr id="58" name="anim_step_2">
            <a:extLst>
              <a:ext uri="{FF2B5EF4-FFF2-40B4-BE49-F238E27FC236}">
                <a16:creationId xmlns:a16="http://schemas.microsoft.com/office/drawing/2014/main" id="{CAD81A5C-F7BF-CE33-3510-675352F31BAB}"/>
              </a:ext>
            </a:extLst>
          </p:cNvPr>
          <p:cNvGrpSpPr/>
          <p:nvPr/>
        </p:nvGrpSpPr>
        <p:grpSpPr>
          <a:xfrm>
            <a:off x="1000125" y="6896100"/>
            <a:ext cx="4562475" cy="476250"/>
            <a:chOff x="1000125" y="6896100"/>
            <a:chExt cx="4562475" cy="476250"/>
          </a:xfrm>
        </p:grpSpPr>
        <p:sp>
          <p:nvSpPr>
            <p:cNvPr id="46" name="step_2_number">
              <a:extLst>
                <a:ext uri="{FF2B5EF4-FFF2-40B4-BE49-F238E27FC236}">
                  <a16:creationId xmlns:a16="http://schemas.microsoft.com/office/drawing/2014/main" id="{95DCAEF6-B049-47D6-A510-83D09F971FAB}"/>
                </a:ext>
              </a:extLst>
            </p:cNvPr>
            <p:cNvSpPr>
              <a:spLocks/>
            </p:cNvSpPr>
            <p:nvPr/>
          </p:nvSpPr>
          <p:spPr>
            <a:xfrm>
              <a:off x="1000125" y="69151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02</a:t>
              </a:r>
            </a:p>
          </p:txBody>
        </p:sp>
        <p:sp>
          <p:nvSpPr>
            <p:cNvPr id="47" name="step_2_text">
              <a:extLst>
                <a:ext uri="{FF2B5EF4-FFF2-40B4-BE49-F238E27FC236}">
                  <a16:creationId xmlns:a16="http://schemas.microsoft.com/office/drawing/2014/main" id="{C340F5BB-3E74-489B-9CBC-6D02596A9D3D}"/>
                </a:ext>
              </a:extLst>
            </p:cNvPr>
            <p:cNvSpPr>
              <a:spLocks/>
            </p:cNvSpPr>
            <p:nvPr/>
          </p:nvSpPr>
          <p:spPr>
            <a:xfrm>
              <a:off x="1704975" y="68961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Signature</a:t>
              </a:r>
            </a:p>
          </p:txBody>
        </p:sp>
      </p:grpSp>
      <p:grpSp>
        <p:nvGrpSpPr>
          <p:cNvPr id="59" name="anim_step_3">
            <a:extLst>
              <a:ext uri="{FF2B5EF4-FFF2-40B4-BE49-F238E27FC236}">
                <a16:creationId xmlns:a16="http://schemas.microsoft.com/office/drawing/2014/main" id="{350B1C8E-6BFB-E048-DFDA-BFE657D9A541}"/>
              </a:ext>
            </a:extLst>
          </p:cNvPr>
          <p:cNvGrpSpPr/>
          <p:nvPr/>
        </p:nvGrpSpPr>
        <p:grpSpPr>
          <a:xfrm>
            <a:off x="1000125" y="7581900"/>
            <a:ext cx="4562475" cy="476250"/>
            <a:chOff x="1000125" y="7581900"/>
            <a:chExt cx="4562475" cy="476250"/>
          </a:xfrm>
        </p:grpSpPr>
        <p:sp>
          <p:nvSpPr>
            <p:cNvPr id="48" name="step_3_number">
              <a:extLst>
                <a:ext uri="{FF2B5EF4-FFF2-40B4-BE49-F238E27FC236}">
                  <a16:creationId xmlns:a16="http://schemas.microsoft.com/office/drawing/2014/main" id="{F577FB15-209F-4ABC-A491-FD389444DA0D}"/>
                </a:ext>
              </a:extLst>
            </p:cNvPr>
            <p:cNvSpPr>
              <a:spLocks/>
            </p:cNvSpPr>
            <p:nvPr/>
          </p:nvSpPr>
          <p:spPr>
            <a:xfrm>
              <a:off x="1000125" y="76009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03</a:t>
              </a:r>
            </a:p>
          </p:txBody>
        </p:sp>
        <p:sp>
          <p:nvSpPr>
            <p:cNvPr id="49" name="step_3_text">
              <a:extLst>
                <a:ext uri="{FF2B5EF4-FFF2-40B4-BE49-F238E27FC236}">
                  <a16:creationId xmlns:a16="http://schemas.microsoft.com/office/drawing/2014/main" id="{8345D332-C8B3-4BEE-9CF9-09A2ACBAC7B6}"/>
                </a:ext>
              </a:extLst>
            </p:cNvPr>
            <p:cNvSpPr>
              <a:spLocks/>
            </p:cNvSpPr>
            <p:nvPr/>
          </p:nvSpPr>
          <p:spPr>
            <a:xfrm>
              <a:off x="1704975" y="75819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Blocage</a:t>
              </a:r>
            </a:p>
          </p:txBody>
        </p:sp>
      </p:grpSp>
      <p:grpSp>
        <p:nvGrpSpPr>
          <p:cNvPr id="60" name="anim_step_4">
            <a:extLst>
              <a:ext uri="{FF2B5EF4-FFF2-40B4-BE49-F238E27FC236}">
                <a16:creationId xmlns:a16="http://schemas.microsoft.com/office/drawing/2014/main" id="{DF6B6F04-025E-BBDA-2FE4-DD12D9EFF21D}"/>
              </a:ext>
            </a:extLst>
          </p:cNvPr>
          <p:cNvGrpSpPr/>
          <p:nvPr/>
        </p:nvGrpSpPr>
        <p:grpSpPr>
          <a:xfrm>
            <a:off x="1000125" y="8267700"/>
            <a:ext cx="4562475" cy="476250"/>
            <a:chOff x="1000125" y="8267700"/>
            <a:chExt cx="4562475" cy="476250"/>
          </a:xfrm>
        </p:grpSpPr>
        <p:sp>
          <p:nvSpPr>
            <p:cNvPr id="50" name="step_4_number">
              <a:extLst>
                <a:ext uri="{FF2B5EF4-FFF2-40B4-BE49-F238E27FC236}">
                  <a16:creationId xmlns:a16="http://schemas.microsoft.com/office/drawing/2014/main" id="{3C1370D1-2111-4303-B872-9A89E57E1AE2}"/>
                </a:ext>
              </a:extLst>
            </p:cNvPr>
            <p:cNvSpPr>
              <a:spLocks/>
            </p:cNvSpPr>
            <p:nvPr/>
          </p:nvSpPr>
          <p:spPr>
            <a:xfrm>
              <a:off x="1000125" y="82867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04</a:t>
              </a:r>
            </a:p>
          </p:txBody>
        </p:sp>
        <p:sp>
          <p:nvSpPr>
            <p:cNvPr id="51" name="step_4_text">
              <a:extLst>
                <a:ext uri="{FF2B5EF4-FFF2-40B4-BE49-F238E27FC236}">
                  <a16:creationId xmlns:a16="http://schemas.microsoft.com/office/drawing/2014/main" id="{FD47850E-3E7A-4CD8-B572-4C33C938AC5F}"/>
                </a:ext>
              </a:extLst>
            </p:cNvPr>
            <p:cNvSpPr>
              <a:spLocks/>
            </p:cNvSpPr>
            <p:nvPr/>
          </p:nvSpPr>
          <p:spPr>
            <a:xfrm>
              <a:off x="1704975" y="82677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Réponse et trace</a:t>
              </a:r>
            </a:p>
          </p:txBody>
        </p:sp>
      </p:grpSp>
      <p:sp>
        <p:nvSpPr>
          <p:cNvPr id="61" name="nav_architecture" descr="Revenir au schéma de l'architecture">
            <a:hlinkClick r:id="rId4" action="ppaction://hlinksldjump" tooltip="Revenir au schéma de l'architecture" highlightClick="1"/>
            <a:extLst>
              <a:ext uri="{FF2B5EF4-FFF2-40B4-BE49-F238E27FC236}">
                <a16:creationId xmlns:a16="http://schemas.microsoft.com/office/drawing/2014/main" id="{3911157D-9AB6-053D-09A9-93C73CFDCC7C}"/>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62" name="nav_demonstrations" descr="Ouvrir la comparaison des parcours">
            <a:hlinkClick r:id="rId5" action="ppaction://hlinksldjump" tooltip="Ouvrir la comparaison des parcours" highlightClick="1"/>
            <a:extLst>
              <a:ext uri="{FF2B5EF4-FFF2-40B4-BE49-F238E27FC236}">
                <a16:creationId xmlns:a16="http://schemas.microsoft.com/office/drawing/2014/main" id="{DA4C8E84-9450-F4D1-36C6-980EEEA266DD}"/>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63" name="nav_results" descr="Ouvrir les résultats et leurs limites">
            <a:hlinkClick r:id="rId6" action="ppaction://hlinksldjump" tooltip="Ouvrir les résultats et leurs limites" highlightClick="1"/>
            <a:extLst>
              <a:ext uri="{FF2B5EF4-FFF2-40B4-BE49-F238E27FC236}">
                <a16:creationId xmlns:a16="http://schemas.microsoft.com/office/drawing/2014/main" id="{3E00254D-7248-63FF-9324-733721FB9D8F}"/>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extLst>
      <p:ext uri="{BB962C8B-B14F-4D97-AF65-F5344CB8AC3E}">
        <p14:creationId xmlns:p14="http://schemas.microsoft.com/office/powerpoint/2010/main" val="1802714591"/>
      </p:ext>
    </p:extLst>
  </p:cSld>
  <p:clrMapOvr>
    <a:masterClrMapping/>
  </p:clrMapOvr>
  <mc:AlternateContent xmlns:mc="http://schemas.openxmlformats.org/markup-compatibility/2006">
    <mc:Choice xmlns:p14="http://schemas.microsoft.com/office/powerpoint/2010/main" Requires="p14">
      <p:transition p14:dur="4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400"/>
                                        <p:tgtEl>
                                          <p:spTgt spid="53"/>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53"/>
                                        </p:tgtEl>
                                        <p:attrNameLst>
                                          <p:attrName>style.visibility</p:attrName>
                                        </p:attrNameLst>
                                      </p:cBhvr>
                                      <p:to>
                                        <p:strVal val="visible"/>
                                      </p:to>
                                    </p:set>
                                    <p:animMotion origin="layout" path="M 0 0.01296296 L 0 0 E" pathEditMode="relative">
                                      <p:cBhvr from="" to="">
                                        <p:cTn id="10" dur="500" fill="hold">
                                          <p:stCondLst>
                                            <p:cond delay="0"/>
                                          </p:stCondLst>
                                        </p:cTn>
                                        <p:tgtEl>
                                          <p:spTgt spid="53"/>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iterate type="lt">
                                    <p:tmPct val="10000"/>
                                  </p:iterate>
                                  <p:childTnLst>
                                    <p:set>
                                      <p:cBhvr>
                                        <p:cTn id="14" dur="1" fill="hold">
                                          <p:stCondLst>
                                            <p:cond delay="0"/>
                                          </p:stCondLst>
                                        </p:cTn>
                                        <p:tgtEl>
                                          <p:spTgt spid="29"/>
                                        </p:tgtEl>
                                        <p:attrNameLst>
                                          <p:attrName>style.visibility</p:attrName>
                                        </p:attrNameLst>
                                      </p:cBhvr>
                                      <p:to>
                                        <p:strVal val="visible"/>
                                      </p:to>
                                    </p:set>
                                    <p:animEffect transition="in" filter="fade">
                                      <p:cBhvr>
                                        <p:cTn id="15" dur="55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350"/>
                                        <p:tgtEl>
                                          <p:spTgt spid="57"/>
                                        </p:tgtEl>
                                      </p:cBhvr>
                                    </p:animEffect>
                                  </p:childTnLst>
                                </p:cTn>
                              </p:par>
                              <p:par>
                                <p:cTn id="19" presetID="0" presetClass="entr" presetSubtype="0" accel="22000" decel="25000" fill="hold" nodeType="withEffect">
                                  <p:stCondLst>
                                    <p:cond delay="0"/>
                                  </p:stCondLst>
                                  <p:childTnLst>
                                    <p:set>
                                      <p:cBhvr>
                                        <p:cTn id="20" dur="1" fill="hold">
                                          <p:stCondLst>
                                            <p:cond delay="449"/>
                                          </p:stCondLst>
                                        </p:cTn>
                                        <p:tgtEl>
                                          <p:spTgt spid="57"/>
                                        </p:tgtEl>
                                        <p:attrNameLst>
                                          <p:attrName>style.visibility</p:attrName>
                                        </p:attrNameLst>
                                      </p:cBhvr>
                                      <p:to>
                                        <p:strVal val="visible"/>
                                      </p:to>
                                    </p:set>
                                    <p:animMotion origin="layout" path="M 0 0.01296296 L 0 0 E" pathEditMode="relative">
                                      <p:cBhvr from="" to="">
                                        <p:cTn id="21" dur="450" fill="hold">
                                          <p:stCondLst>
                                            <p:cond delay="0"/>
                                          </p:stCondLst>
                                        </p:cTn>
                                        <p:tgtEl>
                                          <p:spTgt spid="57"/>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300"/>
                                        <p:tgtEl>
                                          <p:spTgt spid="30"/>
                                        </p:tgtEl>
                                      </p:cBhvr>
                                    </p:animEffect>
                                  </p:childTnLst>
                                </p:cTn>
                              </p:par>
                            </p:childTnLst>
                          </p:cTn>
                        </p:par>
                        <p:par>
                          <p:cTn id="27" fill="hold">
                            <p:stCondLst>
                              <p:cond delay="300"/>
                            </p:stCondLst>
                            <p:childTnLst>
                              <p:par>
                                <p:cTn id="28" presetID="0" presetClass="entr" presetSubtype="0" accel="22000" decel="25000" fill="hold" grpId="1" nodeType="afterEffect">
                                  <p:stCondLst>
                                    <p:cond delay="0"/>
                                  </p:stCondLst>
                                  <p:childTnLst>
                                    <p:set>
                                      <p:cBhvr>
                                        <p:cTn id="29" dur="1" fill="hold">
                                          <p:stCondLst>
                                            <p:cond delay="719"/>
                                          </p:stCondLst>
                                        </p:cTn>
                                        <p:tgtEl>
                                          <p:spTgt spid="30"/>
                                        </p:tgtEl>
                                        <p:attrNameLst>
                                          <p:attrName>style.visibility</p:attrName>
                                        </p:attrNameLst>
                                      </p:cBhvr>
                                      <p:to>
                                        <p:strVal val="visible"/>
                                      </p:to>
                                    </p:set>
                                    <p:animMotion origin="layout" path="M 0 0 L 0.06041667 0 E" pathEditMode="relative">
                                      <p:cBhvr from="" to="">
                                        <p:cTn id="30" dur="720" fill="hold">
                                          <p:stCondLst>
                                            <p:cond delay="0"/>
                                          </p:stCondLst>
                                        </p:cTn>
                                        <p:tgtEl>
                                          <p:spTgt spid="30"/>
                                        </p:tgtEl>
                                        <p:attrNameLst>
                                          <p:attrName>ppt_x</p:attrName>
                                          <p:attrName>ppt_y</p:attrName>
                                        </p:attrNameLst>
                                      </p:cBhvr>
                                    </p:animMotion>
                                  </p:childTnLst>
                                </p:cTn>
                              </p:par>
                            </p:childTnLst>
                          </p:cTn>
                        </p:par>
                        <p:par>
                          <p:cTn id="31" fill="hold">
                            <p:stCondLst>
                              <p:cond delay="1020"/>
                            </p:stCondLst>
                            <p:childTnLst>
                              <p:par>
                                <p:cTn id="32" presetID="10" presetClass="exit" presetSubtype="0" fill="hold" grpId="2" nodeType="afterEffect">
                                  <p:stCondLst>
                                    <p:cond delay="0"/>
                                  </p:stCondLst>
                                  <p:childTnLst>
                                    <p:animEffect transition="out" filter="fade">
                                      <p:cBhvr>
                                        <p:cTn id="33" dur="500"/>
                                        <p:tgtEl>
                                          <p:spTgt spid="30"/>
                                        </p:tgtEl>
                                      </p:cBhvr>
                                    </p:animEffect>
                                    <p:set>
                                      <p:cBhvr>
                                        <p:cTn id="34" dur="1" fill="hold">
                                          <p:stCondLst>
                                            <p:cond delay="499"/>
                                          </p:stCondLst>
                                        </p:cTn>
                                        <p:tgtEl>
                                          <p:spTgt spid="30"/>
                                        </p:tgtEl>
                                        <p:attrNameLst>
                                          <p:attrName>style.visibility</p:attrName>
                                        </p:attrNameLst>
                                      </p:cBhvr>
                                      <p:to>
                                        <p:strVal val="hidden"/>
                                      </p:to>
                                    </p:set>
                                  </p:childTnLst>
                                </p:cTn>
                              </p:par>
                            </p:childTnLst>
                          </p:cTn>
                        </p:par>
                        <p:par>
                          <p:cTn id="35" fill="hold">
                            <p:stCondLst>
                              <p:cond delay="1520"/>
                            </p:stCondLst>
                            <p:childTnLst>
                              <p:par>
                                <p:cTn id="36" presetID="10" presetClass="entr" presetSubtype="0" fill="hold" nodeType="after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fade">
                                      <p:cBhvr>
                                        <p:cTn id="38" dur="350"/>
                                        <p:tgtEl>
                                          <p:spTgt spid="54"/>
                                        </p:tgtEl>
                                      </p:cBhvr>
                                    </p:animEffect>
                                  </p:childTnLst>
                                </p:cTn>
                              </p:par>
                              <p:par>
                                <p:cTn id="39" presetID="0" presetClass="entr" presetSubtype="0" accel="22000" decel="25000" fill="hold" nodeType="withEffect">
                                  <p:stCondLst>
                                    <p:cond delay="0"/>
                                  </p:stCondLst>
                                  <p:childTnLst>
                                    <p:set>
                                      <p:cBhvr>
                                        <p:cTn id="40" dur="1" fill="hold">
                                          <p:stCondLst>
                                            <p:cond delay="449"/>
                                          </p:stCondLst>
                                        </p:cTn>
                                        <p:tgtEl>
                                          <p:spTgt spid="54"/>
                                        </p:tgtEl>
                                        <p:attrNameLst>
                                          <p:attrName>style.visibility</p:attrName>
                                        </p:attrNameLst>
                                      </p:cBhvr>
                                      <p:to>
                                        <p:strVal val="visible"/>
                                      </p:to>
                                    </p:set>
                                    <p:animMotion origin="layout" path="M 0 0.01296296 L 0 0 E" pathEditMode="relative">
                                      <p:cBhvr from="" to="">
                                        <p:cTn id="41" dur="450" fill="hold">
                                          <p:stCondLst>
                                            <p:cond delay="0"/>
                                          </p:stCondLst>
                                        </p:cTn>
                                        <p:tgtEl>
                                          <p:spTgt spid="54"/>
                                        </p:tgtEl>
                                        <p:attrNameLst>
                                          <p:attrName>ppt_x</p:attrName>
                                          <p:attrName>ppt_y</p:attrName>
                                        </p:attrNameLst>
                                      </p:cBhvr>
                                    </p:animMotion>
                                  </p:childTnLst>
                                </p:cTn>
                              </p:par>
                              <p:par>
                                <p:cTn id="42" presetID="10" presetClass="entr" presetSubtype="0" fill="hold" nodeType="with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fade">
                                      <p:cBhvr>
                                        <p:cTn id="44" dur="350"/>
                                        <p:tgtEl>
                                          <p:spTgt spid="58"/>
                                        </p:tgtEl>
                                      </p:cBhvr>
                                    </p:animEffect>
                                  </p:childTnLst>
                                </p:cTn>
                              </p:par>
                              <p:par>
                                <p:cTn id="45" presetID="0" presetClass="entr" presetSubtype="0" accel="22000" decel="25000" fill="hold" nodeType="withEffect">
                                  <p:stCondLst>
                                    <p:cond delay="0"/>
                                  </p:stCondLst>
                                  <p:childTnLst>
                                    <p:set>
                                      <p:cBhvr>
                                        <p:cTn id="46" dur="1" fill="hold">
                                          <p:stCondLst>
                                            <p:cond delay="449"/>
                                          </p:stCondLst>
                                        </p:cTn>
                                        <p:tgtEl>
                                          <p:spTgt spid="58"/>
                                        </p:tgtEl>
                                        <p:attrNameLst>
                                          <p:attrName>style.visibility</p:attrName>
                                        </p:attrNameLst>
                                      </p:cBhvr>
                                      <p:to>
                                        <p:strVal val="visible"/>
                                      </p:to>
                                    </p:set>
                                    <p:animMotion origin="layout" path="M 0 0.01296296 L 0 0 E" pathEditMode="relative">
                                      <p:cBhvr from="" to="">
                                        <p:cTn id="47" dur="450" fill="hold">
                                          <p:stCondLst>
                                            <p:cond delay="0"/>
                                          </p:stCondLst>
                                        </p:cTn>
                                        <p:tgtEl>
                                          <p:spTgt spid="58"/>
                                        </p:tgtEl>
                                        <p:attrNameLst>
                                          <p:attrName>ppt_x</p:attrName>
                                          <p:attrName>ppt_y</p:attrName>
                                        </p:attrNameLst>
                                      </p:cBhvr>
                                    </p:animMotion>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55"/>
                                        </p:tgtEl>
                                        <p:attrNameLst>
                                          <p:attrName>style.visibility</p:attrName>
                                        </p:attrNameLst>
                                      </p:cBhvr>
                                      <p:to>
                                        <p:strVal val="visible"/>
                                      </p:to>
                                    </p:set>
                                    <p:animEffect transition="in" filter="wipe(down)">
                                      <p:cBhvr>
                                        <p:cTn id="52" dur="500"/>
                                        <p:tgtEl>
                                          <p:spTgt spid="55"/>
                                        </p:tgtEl>
                                      </p:cBhvr>
                                    </p:animEffect>
                                  </p:childTnLst>
                                </p:cTn>
                              </p:par>
                              <p:par>
                                <p:cTn id="53" presetID="10"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350"/>
                                        <p:tgtEl>
                                          <p:spTgt spid="59"/>
                                        </p:tgtEl>
                                      </p:cBhvr>
                                    </p:animEffect>
                                  </p:childTnLst>
                                </p:cTn>
                              </p:par>
                              <p:par>
                                <p:cTn id="56" presetID="0" presetClass="entr" presetSubtype="0" accel="22000" decel="25000" fill="hold" nodeType="withEffect">
                                  <p:stCondLst>
                                    <p:cond delay="0"/>
                                  </p:stCondLst>
                                  <p:childTnLst>
                                    <p:set>
                                      <p:cBhvr>
                                        <p:cTn id="57" dur="1" fill="hold">
                                          <p:stCondLst>
                                            <p:cond delay="449"/>
                                          </p:stCondLst>
                                        </p:cTn>
                                        <p:tgtEl>
                                          <p:spTgt spid="59"/>
                                        </p:tgtEl>
                                        <p:attrNameLst>
                                          <p:attrName>style.visibility</p:attrName>
                                        </p:attrNameLst>
                                      </p:cBhvr>
                                      <p:to>
                                        <p:strVal val="visible"/>
                                      </p:to>
                                    </p:set>
                                    <p:animMotion origin="layout" path="M 0 0.01296296 L 0 0 E" pathEditMode="relative">
                                      <p:cBhvr from="" to="">
                                        <p:cTn id="58" dur="450" fill="hold">
                                          <p:stCondLst>
                                            <p:cond delay="0"/>
                                          </p:stCondLst>
                                        </p:cTn>
                                        <p:tgtEl>
                                          <p:spTgt spid="59"/>
                                        </p:tgtEl>
                                        <p:attrNameLst>
                                          <p:attrName>ppt_x</p:attrName>
                                          <p:attrName>ppt_y</p:attrName>
                                        </p:attrNameLst>
                                      </p:cBhvr>
                                    </p:animMotion>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300"/>
                                        <p:tgtEl>
                                          <p:spTgt spid="40"/>
                                        </p:tgtEl>
                                      </p:cBhvr>
                                    </p:animEffect>
                                  </p:childTnLst>
                                </p:cTn>
                              </p:par>
                            </p:childTnLst>
                          </p:cTn>
                        </p:par>
                        <p:par>
                          <p:cTn id="64" fill="hold">
                            <p:stCondLst>
                              <p:cond delay="300"/>
                            </p:stCondLst>
                            <p:childTnLst>
                              <p:par>
                                <p:cTn id="65" presetID="0" presetClass="entr" presetSubtype="0" accel="22000" decel="25000" fill="hold" grpId="1" nodeType="afterEffect">
                                  <p:stCondLst>
                                    <p:cond delay="0"/>
                                  </p:stCondLst>
                                  <p:childTnLst>
                                    <p:set>
                                      <p:cBhvr>
                                        <p:cTn id="66" dur="1" fill="hold">
                                          <p:stCondLst>
                                            <p:cond delay="849"/>
                                          </p:stCondLst>
                                        </p:cTn>
                                        <p:tgtEl>
                                          <p:spTgt spid="40"/>
                                        </p:tgtEl>
                                        <p:attrNameLst>
                                          <p:attrName>style.visibility</p:attrName>
                                        </p:attrNameLst>
                                      </p:cBhvr>
                                      <p:to>
                                        <p:strVal val="visible"/>
                                      </p:to>
                                    </p:set>
                                    <p:animMotion origin="layout" path="M 0 0 L -0.1703125 0 E" pathEditMode="relative">
                                      <p:cBhvr from="" to="">
                                        <p:cTn id="67" dur="850" fill="hold">
                                          <p:stCondLst>
                                            <p:cond delay="0"/>
                                          </p:stCondLst>
                                        </p:cTn>
                                        <p:tgtEl>
                                          <p:spTgt spid="40"/>
                                        </p:tgtEl>
                                        <p:attrNameLst>
                                          <p:attrName>ppt_x</p:attrName>
                                          <p:attrName>ppt_y</p:attrName>
                                        </p:attrNameLst>
                                      </p:cBhvr>
                                    </p:animMotion>
                                  </p:childTnLst>
                                </p:cTn>
                              </p:par>
                            </p:childTnLst>
                          </p:cTn>
                        </p:par>
                        <p:par>
                          <p:cTn id="68" fill="hold">
                            <p:stCondLst>
                              <p:cond delay="1150"/>
                            </p:stCondLst>
                            <p:childTnLst>
                              <p:par>
                                <p:cTn id="69" presetID="10" presetClass="exit" presetSubtype="0" fill="hold" grpId="2" nodeType="afterEffect">
                                  <p:stCondLst>
                                    <p:cond delay="0"/>
                                  </p:stCondLst>
                                  <p:childTnLst>
                                    <p:animEffect transition="out" filter="fade">
                                      <p:cBhvr>
                                        <p:cTn id="70" dur="500"/>
                                        <p:tgtEl>
                                          <p:spTgt spid="40"/>
                                        </p:tgtEl>
                                      </p:cBhvr>
                                    </p:animEffect>
                                    <p:set>
                                      <p:cBhvr>
                                        <p:cTn id="71" dur="1" fill="hold">
                                          <p:stCondLst>
                                            <p:cond delay="499"/>
                                          </p:stCondLst>
                                        </p:cTn>
                                        <p:tgtEl>
                                          <p:spTgt spid="40"/>
                                        </p:tgtEl>
                                        <p:attrNameLst>
                                          <p:attrName>style.visibility</p:attrName>
                                        </p:attrNameLst>
                                      </p:cBhvr>
                                      <p:to>
                                        <p:strVal val="hidden"/>
                                      </p:to>
                                    </p:set>
                                  </p:childTnLst>
                                </p:cTn>
                              </p:par>
                              <p:par>
                                <p:cTn id="72" presetID="10" presetClass="entr" presetSubtype="0" fill="hold" nodeType="withEffect">
                                  <p:stCondLst>
                                    <p:cond delay="0"/>
                                  </p:stCondLst>
                                  <p:childTnLst>
                                    <p:set>
                                      <p:cBhvr>
                                        <p:cTn id="73" dur="1" fill="hold">
                                          <p:stCondLst>
                                            <p:cond delay="0"/>
                                          </p:stCondLst>
                                        </p:cTn>
                                        <p:tgtEl>
                                          <p:spTgt spid="56"/>
                                        </p:tgtEl>
                                        <p:attrNameLst>
                                          <p:attrName>style.visibility</p:attrName>
                                        </p:attrNameLst>
                                      </p:cBhvr>
                                      <p:to>
                                        <p:strVal val="visible"/>
                                      </p:to>
                                    </p:set>
                                    <p:animEffect transition="in" filter="fade">
                                      <p:cBhvr>
                                        <p:cTn id="74" dur="350"/>
                                        <p:tgtEl>
                                          <p:spTgt spid="56"/>
                                        </p:tgtEl>
                                      </p:cBhvr>
                                    </p:animEffect>
                                  </p:childTnLst>
                                </p:cTn>
                              </p:par>
                              <p:par>
                                <p:cTn id="75" presetID="0" presetClass="entr" presetSubtype="0" accel="22000" decel="25000" fill="hold" nodeType="withEffect">
                                  <p:stCondLst>
                                    <p:cond delay="0"/>
                                  </p:stCondLst>
                                  <p:childTnLst>
                                    <p:set>
                                      <p:cBhvr>
                                        <p:cTn id="76" dur="1" fill="hold">
                                          <p:stCondLst>
                                            <p:cond delay="449"/>
                                          </p:stCondLst>
                                        </p:cTn>
                                        <p:tgtEl>
                                          <p:spTgt spid="56"/>
                                        </p:tgtEl>
                                        <p:attrNameLst>
                                          <p:attrName>style.visibility</p:attrName>
                                        </p:attrNameLst>
                                      </p:cBhvr>
                                      <p:to>
                                        <p:strVal val="visible"/>
                                      </p:to>
                                    </p:set>
                                    <p:animMotion origin="layout" path="M 0 0.01296296 L 0 0 E" pathEditMode="relative">
                                      <p:cBhvr from="" to="">
                                        <p:cTn id="77" dur="450" fill="hold">
                                          <p:stCondLst>
                                            <p:cond delay="0"/>
                                          </p:stCondLst>
                                        </p:cTn>
                                        <p:tgtEl>
                                          <p:spTgt spid="56"/>
                                        </p:tgtEl>
                                        <p:attrNameLst>
                                          <p:attrName>ppt_x</p:attrName>
                                          <p:attrName>ppt_y</p:attrName>
                                        </p:attrNameLst>
                                      </p:cBhvr>
                                    </p:animMotion>
                                  </p:childTnLst>
                                </p:cTn>
                              </p:par>
                            </p:childTnLst>
                          </p:cTn>
                        </p:par>
                        <p:par>
                          <p:cTn id="78" fill="hold">
                            <p:stCondLst>
                              <p:cond delay="1650"/>
                            </p:stCondLst>
                            <p:childTnLst>
                              <p:par>
                                <p:cTn id="79" presetID="10" presetClass="entr" presetSubtype="0" fill="hold" grpId="0" nodeType="after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350"/>
                                        <p:tgtEl>
                                          <p:spTgt spid="43"/>
                                        </p:tgtEl>
                                      </p:cBhvr>
                                    </p:animEffect>
                                  </p:childTnLst>
                                </p:cTn>
                              </p:par>
                              <p:par>
                                <p:cTn id="82" presetID="0" presetClass="entr" presetSubtype="0" accel="22000" decel="25000" fill="hold" grpId="1" nodeType="withEffect">
                                  <p:stCondLst>
                                    <p:cond delay="0"/>
                                  </p:stCondLst>
                                  <p:childTnLst>
                                    <p:set>
                                      <p:cBhvr>
                                        <p:cTn id="83" dur="1" fill="hold">
                                          <p:stCondLst>
                                            <p:cond delay="449"/>
                                          </p:stCondLst>
                                        </p:cTn>
                                        <p:tgtEl>
                                          <p:spTgt spid="43"/>
                                        </p:tgtEl>
                                        <p:attrNameLst>
                                          <p:attrName>style.visibility</p:attrName>
                                        </p:attrNameLst>
                                      </p:cBhvr>
                                      <p:to>
                                        <p:strVal val="visible"/>
                                      </p:to>
                                    </p:set>
                                    <p:animMotion origin="layout" path="M 0 0.01296296 L 0 0 E" pathEditMode="relative">
                                      <p:cBhvr from="" to="">
                                        <p:cTn id="84" dur="450" fill="hold">
                                          <p:stCondLst>
                                            <p:cond delay="0"/>
                                          </p:stCondLst>
                                        </p:cTn>
                                        <p:tgtEl>
                                          <p:spTgt spid="43"/>
                                        </p:tgtEl>
                                        <p:attrNameLst>
                                          <p:attrName>ppt_x</p:attrName>
                                          <p:attrName>ppt_y</p:attrName>
                                        </p:attrNameLst>
                                      </p:cBhvr>
                                    </p:animMotion>
                                  </p:childTnLst>
                                </p:cTn>
                              </p:par>
                              <p:par>
                                <p:cTn id="85" presetID="10" presetClass="entr" presetSubtype="0" fill="hold" nodeType="withEffect">
                                  <p:stCondLst>
                                    <p:cond delay="0"/>
                                  </p:stCondLst>
                                  <p:childTnLst>
                                    <p:set>
                                      <p:cBhvr>
                                        <p:cTn id="86" dur="1" fill="hold">
                                          <p:stCondLst>
                                            <p:cond delay="0"/>
                                          </p:stCondLst>
                                        </p:cTn>
                                        <p:tgtEl>
                                          <p:spTgt spid="60"/>
                                        </p:tgtEl>
                                        <p:attrNameLst>
                                          <p:attrName>style.visibility</p:attrName>
                                        </p:attrNameLst>
                                      </p:cBhvr>
                                      <p:to>
                                        <p:strVal val="visible"/>
                                      </p:to>
                                    </p:set>
                                    <p:animEffect transition="in" filter="fade">
                                      <p:cBhvr>
                                        <p:cTn id="87" dur="350"/>
                                        <p:tgtEl>
                                          <p:spTgt spid="60"/>
                                        </p:tgtEl>
                                      </p:cBhvr>
                                    </p:animEffect>
                                  </p:childTnLst>
                                </p:cTn>
                              </p:par>
                              <p:par>
                                <p:cTn id="88" presetID="0" presetClass="entr" presetSubtype="0" accel="22000" decel="25000" fill="hold" nodeType="withEffect">
                                  <p:stCondLst>
                                    <p:cond delay="0"/>
                                  </p:stCondLst>
                                  <p:childTnLst>
                                    <p:set>
                                      <p:cBhvr>
                                        <p:cTn id="89" dur="1" fill="hold">
                                          <p:stCondLst>
                                            <p:cond delay="449"/>
                                          </p:stCondLst>
                                        </p:cTn>
                                        <p:tgtEl>
                                          <p:spTgt spid="60"/>
                                        </p:tgtEl>
                                        <p:attrNameLst>
                                          <p:attrName>style.visibility</p:attrName>
                                        </p:attrNameLst>
                                      </p:cBhvr>
                                      <p:to>
                                        <p:strVal val="visible"/>
                                      </p:to>
                                    </p:set>
                                    <p:animMotion origin="layout" path="M 0 0.01296296 L 0 0 E" pathEditMode="relative">
                                      <p:cBhvr from="" to="">
                                        <p:cTn id="90" dur="450" fill="hold">
                                          <p:stCondLst>
                                            <p:cond delay="0"/>
                                          </p:stCondLst>
                                        </p:cTn>
                                        <p:tgtEl>
                                          <p:spTgt spid="6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P spid="30" grpId="1" animBg="1"/>
      <p:bldP spid="30" grpId="2" animBg="1"/>
      <p:bldP spid="40" grpId="0" animBg="1"/>
      <p:bldP spid="40" grpId="1" animBg="1"/>
      <p:bldP spid="40" grpId="2" animBg="1"/>
      <p:bldP spid="43" grpId="0"/>
      <p:bldP spid="43"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52" name="top_band">
            <a:extLst>
              <a:ext uri="{FF2B5EF4-FFF2-40B4-BE49-F238E27FC236}">
                <a16:creationId xmlns:a16="http://schemas.microsoft.com/office/drawing/2014/main" id="{453F5671-5AA0-4537-A0DE-E306FD6525BA}"/>
              </a:ext>
            </a:extLst>
          </p:cNvPr>
          <p:cNvSpPr>
            <a:spLocks/>
          </p:cNvSpPr>
          <p:nvPr/>
        </p:nvSpPr>
        <p:spPr>
          <a:xfrm>
            <a:off x="0" y="0"/>
            <a:ext cx="18288000" cy="114300"/>
          </a:xfrm>
          <a:prstGeom prst="rect">
            <a:avLst/>
          </a:prstGeom>
          <a:solidFill>
            <a:srgbClr val="285C4D"/>
          </a:solidFill>
          <a:ln w="9525">
            <a:noFill/>
            <a:prstDash val="solid"/>
          </a:ln>
        </p:spPr>
      </p:sp>
      <p:sp>
        <p:nvSpPr>
          <p:cNvPr id="2" name="brand">
            <a:hlinkClick r:id="rId3" action="ppaction://hlinksldjump" tooltip="Retour à l'accueil JNC" highlightClick="1"/>
            <a:extLst>
              <a:ext uri="{FF2B5EF4-FFF2-40B4-BE49-F238E27FC236}">
                <a16:creationId xmlns:a16="http://schemas.microsoft.com/office/drawing/2014/main" id="{AC693807-CC74-403F-B35F-39E47E3778E8}"/>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664C5F1E-B60E-41EB-8335-2DF6E6FA11EA}"/>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DÉMONSTRATION 3 / 3</a:t>
            </a:r>
          </a:p>
        </p:txBody>
      </p:sp>
      <p:sp>
        <p:nvSpPr>
          <p:cNvPr id="4" name="folio">
            <a:extLst>
              <a:ext uri="{FF2B5EF4-FFF2-40B4-BE49-F238E27FC236}">
                <a16:creationId xmlns:a16="http://schemas.microsoft.com/office/drawing/2014/main" id="{E9A27486-1300-4A58-A4F7-208E31E4B86F}"/>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7 / 9</a:t>
            </a:r>
          </a:p>
        </p:txBody>
      </p:sp>
      <p:grpSp>
        <p:nvGrpSpPr>
          <p:cNvPr id="53" name="anim_heading">
            <a:extLst>
              <a:ext uri="{FF2B5EF4-FFF2-40B4-BE49-F238E27FC236}">
                <a16:creationId xmlns:a16="http://schemas.microsoft.com/office/drawing/2014/main" id="{9DE3924C-0EC6-6DAA-E4A2-CCBC219E71F0}"/>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A5E217F8-4401-4897-9565-FE6FDA2FF9B6}"/>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Cas ambigu</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et MLP</a:t>
              </a:r>
            </a:p>
          </p:txBody>
        </p:sp>
        <p:sp>
          <p:nvSpPr>
            <p:cNvPr id="6" name="summary">
              <a:extLst>
                <a:ext uri="{FF2B5EF4-FFF2-40B4-BE49-F238E27FC236}">
                  <a16:creationId xmlns:a16="http://schemas.microsoft.com/office/drawing/2014/main" id="{D0C76AB9-CD18-448C-82C0-0459F8EAA7F1}"/>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Un score local complète les règles. Le filtre conserve la décision et les limites de traitement.</a:t>
              </a:r>
            </a:p>
          </p:txBody>
        </p:sp>
      </p:grpSp>
      <p:sp>
        <p:nvSpPr>
          <p:cNvPr id="7" name="footer_rule">
            <a:extLst>
              <a:ext uri="{FF2B5EF4-FFF2-40B4-BE49-F238E27FC236}">
                <a16:creationId xmlns:a16="http://schemas.microsoft.com/office/drawing/2014/main" id="{862C2935-7A68-42DF-8FCD-F5AE40219C59}"/>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3869C481-D578-4937-888A-284DE1429A01}"/>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Parcours conditionnel en mode blocage. Score non mesuré pour cet exemple. Le LLM ne participe pas au verdict.</a:t>
            </a:r>
          </a:p>
        </p:txBody>
      </p:sp>
      <p:sp>
        <p:nvSpPr>
          <p:cNvPr id="9" name="browser_caption">
            <a:extLst>
              <a:ext uri="{FF2B5EF4-FFF2-40B4-BE49-F238E27FC236}">
                <a16:creationId xmlns:a16="http://schemas.microsoft.com/office/drawing/2014/main" id="{07D2FC5E-9ACC-416C-97D3-18C46A4077F3}"/>
              </a:ext>
            </a:extLst>
          </p:cNvPr>
          <p:cNvSpPr>
            <a:spLocks/>
          </p:cNvSpPr>
          <p:nvPr/>
        </p:nvSpPr>
        <p:spPr>
          <a:xfrm>
            <a:off x="6286500" y="2133600"/>
            <a:ext cx="2905125"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NAVIGATEUR</a:t>
            </a:r>
          </a:p>
        </p:txBody>
      </p:sp>
      <p:sp>
        <p:nvSpPr>
          <p:cNvPr id="10" name="browser_frame">
            <a:extLst>
              <a:ext uri="{FF2B5EF4-FFF2-40B4-BE49-F238E27FC236}">
                <a16:creationId xmlns:a16="http://schemas.microsoft.com/office/drawing/2014/main" id="{E0CC3C8E-AEB2-4CEE-BA58-8DB89EE20656}"/>
              </a:ext>
            </a:extLst>
          </p:cNvPr>
          <p:cNvSpPr>
            <a:spLocks/>
          </p:cNvSpPr>
          <p:nvPr/>
        </p:nvSpPr>
        <p:spPr>
          <a:xfrm>
            <a:off x="6286500" y="2952750"/>
            <a:ext cx="2952750" cy="2324100"/>
          </a:xfrm>
          <a:prstGeom prst="rect">
            <a:avLst/>
          </a:prstGeom>
          <a:solidFill>
            <a:srgbClr val="FBF9F3"/>
          </a:solidFill>
          <a:ln w="19050">
            <a:solidFill>
              <a:srgbClr val="BFCABE"/>
            </a:solidFill>
            <a:prstDash val="solid"/>
          </a:ln>
        </p:spPr>
      </p:sp>
      <p:sp>
        <p:nvSpPr>
          <p:cNvPr id="11" name="browser_bar">
            <a:extLst>
              <a:ext uri="{FF2B5EF4-FFF2-40B4-BE49-F238E27FC236}">
                <a16:creationId xmlns:a16="http://schemas.microsoft.com/office/drawing/2014/main" id="{47710E34-27FD-4E2B-8081-B75E38A0A206}"/>
              </a:ext>
            </a:extLst>
          </p:cNvPr>
          <p:cNvSpPr>
            <a:spLocks/>
          </p:cNvSpPr>
          <p:nvPr/>
        </p:nvSpPr>
        <p:spPr>
          <a:xfrm>
            <a:off x="6286500" y="3343275"/>
            <a:ext cx="2952750" cy="0"/>
          </a:xfrm>
          <a:prstGeom prst="line">
            <a:avLst/>
          </a:prstGeom>
          <a:noFill/>
          <a:ln w="14288">
            <a:solidFill>
              <a:srgbClr val="BFCABE"/>
            </a:solidFill>
            <a:prstDash val="solid"/>
          </a:ln>
        </p:spPr>
      </p:sp>
      <p:sp>
        <p:nvSpPr>
          <p:cNvPr id="12" name="browser_dot_0">
            <a:extLst>
              <a:ext uri="{FF2B5EF4-FFF2-40B4-BE49-F238E27FC236}">
                <a16:creationId xmlns:a16="http://schemas.microsoft.com/office/drawing/2014/main" id="{11DBCD2C-D04D-4B2F-BAAA-1EB1F26467D7}"/>
              </a:ext>
            </a:extLst>
          </p:cNvPr>
          <p:cNvSpPr>
            <a:spLocks/>
          </p:cNvSpPr>
          <p:nvPr/>
        </p:nvSpPr>
        <p:spPr>
          <a:xfrm>
            <a:off x="6467475" y="3114675"/>
            <a:ext cx="57150" cy="57150"/>
          </a:xfrm>
          <a:prstGeom prst="ellipse">
            <a:avLst/>
          </a:prstGeom>
          <a:solidFill>
            <a:srgbClr val="BFCABE"/>
          </a:solidFill>
          <a:ln w="9525">
            <a:noFill/>
            <a:prstDash val="solid"/>
          </a:ln>
        </p:spPr>
      </p:sp>
      <p:sp>
        <p:nvSpPr>
          <p:cNvPr id="13" name="browser_dot_1">
            <a:extLst>
              <a:ext uri="{FF2B5EF4-FFF2-40B4-BE49-F238E27FC236}">
                <a16:creationId xmlns:a16="http://schemas.microsoft.com/office/drawing/2014/main" id="{DE27EC79-284D-4978-A2F3-8D9F7EF4F247}"/>
              </a:ext>
            </a:extLst>
          </p:cNvPr>
          <p:cNvSpPr>
            <a:spLocks/>
          </p:cNvSpPr>
          <p:nvPr/>
        </p:nvSpPr>
        <p:spPr>
          <a:xfrm>
            <a:off x="6629400" y="3114675"/>
            <a:ext cx="57150" cy="57150"/>
          </a:xfrm>
          <a:prstGeom prst="ellipse">
            <a:avLst/>
          </a:prstGeom>
          <a:solidFill>
            <a:srgbClr val="BFCABE"/>
          </a:solidFill>
          <a:ln w="9525">
            <a:noFill/>
            <a:prstDash val="solid"/>
          </a:ln>
        </p:spPr>
      </p:sp>
      <p:sp>
        <p:nvSpPr>
          <p:cNvPr id="14" name="browser_dot_2">
            <a:extLst>
              <a:ext uri="{FF2B5EF4-FFF2-40B4-BE49-F238E27FC236}">
                <a16:creationId xmlns:a16="http://schemas.microsoft.com/office/drawing/2014/main" id="{7B40EFF6-4C66-4840-9D3F-A31FDE707A6F}"/>
              </a:ext>
            </a:extLst>
          </p:cNvPr>
          <p:cNvSpPr>
            <a:spLocks/>
          </p:cNvSpPr>
          <p:nvPr/>
        </p:nvSpPr>
        <p:spPr>
          <a:xfrm>
            <a:off x="6791325" y="3114675"/>
            <a:ext cx="57150" cy="57150"/>
          </a:xfrm>
          <a:prstGeom prst="ellipse">
            <a:avLst/>
          </a:prstGeom>
          <a:solidFill>
            <a:srgbClr val="BFCABE"/>
          </a:solidFill>
          <a:ln w="9525">
            <a:noFill/>
            <a:prstDash val="solid"/>
          </a:ln>
        </p:spPr>
      </p:sp>
      <p:sp>
        <p:nvSpPr>
          <p:cNvPr id="15" name="browser_tab">
            <a:extLst>
              <a:ext uri="{FF2B5EF4-FFF2-40B4-BE49-F238E27FC236}">
                <a16:creationId xmlns:a16="http://schemas.microsoft.com/office/drawing/2014/main" id="{D51DFCE0-C11C-4296-B2CD-CFBB99098DDD}"/>
              </a:ext>
            </a:extLst>
          </p:cNvPr>
          <p:cNvSpPr>
            <a:spLocks/>
          </p:cNvSpPr>
          <p:nvPr/>
        </p:nvSpPr>
        <p:spPr>
          <a:xfrm>
            <a:off x="7086600" y="3009900"/>
            <a:ext cx="2000250" cy="266700"/>
          </a:xfrm>
          <a:prstGeom prst="rect">
            <a:avLst/>
          </a:prstGeom>
          <a:noFill/>
          <a:ln w="9525">
            <a:noFill/>
            <a:prstDash val="solid"/>
          </a:ln>
        </p:spPr>
        <p:txBody>
          <a:bodyPr wrap="square" lIns="0" tIns="0" rIns="0" bIns="0" anchor="ctr">
            <a:noAutofit/>
          </a:bodyPr>
          <a:lstStyle>
            <a:defPPr algn="l">
              <a:defRPr sz="1425" b="0">
                <a:solidFill>
                  <a:srgbClr val="637368"/>
                </a:solidFill>
                <a:latin typeface="Segoe UI"/>
                <a:ea typeface="Segoe UI"/>
                <a:cs typeface="Segoe UI"/>
              </a:defRPr>
            </a:defPPr>
          </a:lstStyle>
          <a:p>
            <a:pPr algn="l">
              <a:defRPr sz="1425" b="0">
                <a:solidFill>
                  <a:srgbClr val="637368"/>
                </a:solidFill>
                <a:latin typeface="Segoe UI"/>
                <a:ea typeface="Segoe UI"/>
                <a:cs typeface="Segoe UI"/>
              </a:defRPr>
            </a:pPr>
            <a:r>
              <a:rPr sz="1425" b="0">
                <a:solidFill>
                  <a:srgbClr val="637368"/>
                </a:solidFill>
                <a:latin typeface="Segoe UI"/>
                <a:ea typeface="Segoe UI"/>
                <a:cs typeface="Segoe UI"/>
              </a:rPr>
              <a:t>Formulaire</a:t>
            </a:r>
          </a:p>
        </p:txBody>
      </p:sp>
      <p:sp>
        <p:nvSpPr>
          <p:cNvPr id="16" name="input_label">
            <a:extLst>
              <a:ext uri="{FF2B5EF4-FFF2-40B4-BE49-F238E27FC236}">
                <a16:creationId xmlns:a16="http://schemas.microsoft.com/office/drawing/2014/main" id="{916A345B-DD8F-4A2B-A3CB-2A346DEB4AE2}"/>
              </a:ext>
            </a:extLst>
          </p:cNvPr>
          <p:cNvSpPr>
            <a:spLocks/>
          </p:cNvSpPr>
          <p:nvPr/>
        </p:nvSpPr>
        <p:spPr>
          <a:xfrm>
            <a:off x="6496050" y="3571875"/>
            <a:ext cx="2524125" cy="381000"/>
          </a:xfrm>
          <a:prstGeom prst="rect">
            <a:avLst/>
          </a:prstGeom>
          <a:noFill/>
          <a:ln w="9525">
            <a:noFill/>
            <a:prstDash val="solid"/>
          </a:ln>
        </p:spPr>
        <p:txBody>
          <a:bodyPr wrap="square" lIns="0" tIns="0" rIns="0" bIns="0" anchor="ctr">
            <a:noAutofit/>
          </a:bodyPr>
          <a:lstStyle>
            <a:defPPr algn="l">
              <a:defRPr sz="1800" b="0">
                <a:solidFill>
                  <a:srgbClr val="637368"/>
                </a:solidFill>
                <a:latin typeface="Segoe UI"/>
                <a:ea typeface="Segoe UI"/>
                <a:cs typeface="Segoe UI"/>
              </a:defRPr>
            </a:defPPr>
          </a:lstStyle>
          <a:p>
            <a:pPr algn="l">
              <a:defRPr sz="1800" b="0">
                <a:solidFill>
                  <a:srgbClr val="637368"/>
                </a:solidFill>
                <a:latin typeface="Segoe UI"/>
                <a:ea typeface="Segoe UI"/>
                <a:cs typeface="Segoe UI"/>
              </a:defRPr>
            </a:pPr>
            <a:r>
              <a:rPr sz="1800" b="0">
                <a:solidFill>
                  <a:srgbClr val="637368"/>
                </a:solidFill>
                <a:latin typeface="Segoe UI"/>
                <a:ea typeface="Segoe UI"/>
                <a:cs typeface="Segoe UI"/>
              </a:rPr>
              <a:t>Valeur saisie</a:t>
            </a:r>
          </a:p>
        </p:txBody>
      </p:sp>
      <p:sp>
        <p:nvSpPr>
          <p:cNvPr id="17" name="input_field">
            <a:extLst>
              <a:ext uri="{FF2B5EF4-FFF2-40B4-BE49-F238E27FC236}">
                <a16:creationId xmlns:a16="http://schemas.microsoft.com/office/drawing/2014/main" id="{B84C3402-45B8-42FC-A10A-A638459D9A33}"/>
              </a:ext>
            </a:extLst>
          </p:cNvPr>
          <p:cNvSpPr>
            <a:spLocks/>
          </p:cNvSpPr>
          <p:nvPr/>
        </p:nvSpPr>
        <p:spPr>
          <a:xfrm>
            <a:off x="6477000" y="4191000"/>
            <a:ext cx="2571750" cy="619125"/>
          </a:xfrm>
          <a:prstGeom prst="rect">
            <a:avLst/>
          </a:prstGeom>
          <a:solidFill>
            <a:srgbClr val="F4F1E9"/>
          </a:solidFill>
          <a:ln w="9525">
            <a:solidFill>
              <a:srgbClr val="BFCABE"/>
            </a:solidFill>
            <a:prstDash val="solid"/>
          </a:ln>
        </p:spPr>
      </p:sp>
      <p:sp>
        <p:nvSpPr>
          <p:cNvPr id="18" name="php_caption">
            <a:extLst>
              <a:ext uri="{FF2B5EF4-FFF2-40B4-BE49-F238E27FC236}">
                <a16:creationId xmlns:a16="http://schemas.microsoft.com/office/drawing/2014/main" id="{76FF9824-5BA2-439D-A953-A4436D403CAE}"/>
              </a:ext>
            </a:extLst>
          </p:cNvPr>
          <p:cNvSpPr>
            <a:spLocks/>
          </p:cNvSpPr>
          <p:nvPr/>
        </p:nvSpPr>
        <p:spPr>
          <a:xfrm>
            <a:off x="10620375" y="2133600"/>
            <a:ext cx="3238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APPLICATION PHP</a:t>
            </a:r>
          </a:p>
        </p:txBody>
      </p:sp>
      <p:sp>
        <p:nvSpPr>
          <p:cNvPr id="19" name="app_frame">
            <a:extLst>
              <a:ext uri="{FF2B5EF4-FFF2-40B4-BE49-F238E27FC236}">
                <a16:creationId xmlns:a16="http://schemas.microsoft.com/office/drawing/2014/main" id="{C266B748-143A-4900-B358-E0EEB603BFB5}"/>
              </a:ext>
            </a:extLst>
          </p:cNvPr>
          <p:cNvSpPr>
            <a:spLocks/>
          </p:cNvSpPr>
          <p:nvPr/>
        </p:nvSpPr>
        <p:spPr>
          <a:xfrm>
            <a:off x="10620375" y="2952750"/>
            <a:ext cx="3143250" cy="2324100"/>
          </a:xfrm>
          <a:prstGeom prst="rect">
            <a:avLst/>
          </a:prstGeom>
          <a:solidFill>
            <a:srgbClr val="FBF9F3"/>
          </a:solidFill>
          <a:ln w="19050">
            <a:solidFill>
              <a:srgbClr val="285C4D"/>
            </a:solidFill>
            <a:prstDash val="solid"/>
          </a:ln>
        </p:spPr>
      </p:sp>
      <p:sp>
        <p:nvSpPr>
          <p:cNvPr id="20" name="db_caption">
            <a:extLst>
              <a:ext uri="{FF2B5EF4-FFF2-40B4-BE49-F238E27FC236}">
                <a16:creationId xmlns:a16="http://schemas.microsoft.com/office/drawing/2014/main" id="{46EBE6AA-B85F-4FCB-83ED-C13B06708F0D}"/>
              </a:ext>
            </a:extLst>
          </p:cNvPr>
          <p:cNvSpPr>
            <a:spLocks/>
          </p:cNvSpPr>
          <p:nvPr/>
        </p:nvSpPr>
        <p:spPr>
          <a:xfrm>
            <a:off x="15240000" y="2133600"/>
            <a:ext cx="2095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MARIADB</a:t>
            </a:r>
          </a:p>
        </p:txBody>
      </p:sp>
      <p:sp>
        <p:nvSpPr>
          <p:cNvPr id="21" name="db_body">
            <a:extLst>
              <a:ext uri="{FF2B5EF4-FFF2-40B4-BE49-F238E27FC236}">
                <a16:creationId xmlns:a16="http://schemas.microsoft.com/office/drawing/2014/main" id="{43E004D0-A922-49C0-8D93-88F06F77091C}"/>
              </a:ext>
            </a:extLst>
          </p:cNvPr>
          <p:cNvSpPr>
            <a:spLocks/>
          </p:cNvSpPr>
          <p:nvPr/>
        </p:nvSpPr>
        <p:spPr>
          <a:xfrm>
            <a:off x="15287625" y="3152775"/>
            <a:ext cx="2095500" cy="1962150"/>
          </a:xfrm>
          <a:prstGeom prst="can">
            <a:avLst/>
          </a:prstGeom>
          <a:solidFill>
            <a:srgbClr val="FBF9F3"/>
          </a:solidFill>
          <a:ln w="19050">
            <a:solidFill>
              <a:srgbClr val="BFCABE"/>
            </a:solidFill>
            <a:prstDash val="solid"/>
          </a:ln>
        </p:spPr>
      </p:sp>
      <p:sp>
        <p:nvSpPr>
          <p:cNvPr id="22" name="db_label">
            <a:extLst>
              <a:ext uri="{FF2B5EF4-FFF2-40B4-BE49-F238E27FC236}">
                <a16:creationId xmlns:a16="http://schemas.microsoft.com/office/drawing/2014/main" id="{FC9BC548-3765-42F0-924B-3E5788D132A7}"/>
              </a:ext>
            </a:extLst>
          </p:cNvPr>
          <p:cNvSpPr>
            <a:spLocks/>
          </p:cNvSpPr>
          <p:nvPr/>
        </p:nvSpPr>
        <p:spPr>
          <a:xfrm>
            <a:off x="15430500" y="3667125"/>
            <a:ext cx="1809750" cy="904875"/>
          </a:xfrm>
          <a:prstGeom prst="rect">
            <a:avLst/>
          </a:prstGeom>
          <a:noFill/>
          <a:ln w="9525">
            <a:noFill/>
            <a:prstDash val="solid"/>
          </a:ln>
        </p:spPr>
        <p:txBody>
          <a:bodyPr wrap="square" lIns="0" tIns="0" rIns="0" bIns="0" anchor="ctr">
            <a:noAutofit/>
          </a:bodyPr>
          <a:lstStyle>
            <a:defPPr algn="ctr">
              <a:defRPr sz="2100" b="1">
                <a:solidFill>
                  <a:srgbClr val="637368"/>
                </a:solidFill>
                <a:latin typeface="Segoe UI"/>
                <a:ea typeface="Segoe UI"/>
                <a:cs typeface="Segoe UI"/>
              </a:defRPr>
            </a:defPPr>
          </a:lstStyle>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Base de</a:t>
            </a:r>
          </a:p>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données</a:t>
            </a:r>
          </a:p>
        </p:txBody>
      </p:sp>
      <p:sp>
        <p:nvSpPr>
          <p:cNvPr id="23" name="http_rail">
            <a:extLst>
              <a:ext uri="{FF2B5EF4-FFF2-40B4-BE49-F238E27FC236}">
                <a16:creationId xmlns:a16="http://schemas.microsoft.com/office/drawing/2014/main" id="{16186A09-C8D1-4CB7-97F3-1B0C3455202B}"/>
              </a:ext>
            </a:extLst>
          </p:cNvPr>
          <p:cNvSpPr>
            <a:spLocks/>
          </p:cNvSpPr>
          <p:nvPr/>
        </p:nvSpPr>
        <p:spPr>
          <a:xfrm>
            <a:off x="9391650" y="4276725"/>
            <a:ext cx="1057275" cy="133350"/>
          </a:xfrm>
          <a:prstGeom prst="rightArrow">
            <a:avLst/>
          </a:prstGeom>
          <a:solidFill>
            <a:srgbClr val="BFCABE"/>
          </a:solidFill>
          <a:ln w="9525">
            <a:noFill/>
            <a:prstDash val="solid"/>
          </a:ln>
        </p:spPr>
      </p:sp>
      <p:sp>
        <p:nvSpPr>
          <p:cNvPr id="24" name="http_caption">
            <a:extLst>
              <a:ext uri="{FF2B5EF4-FFF2-40B4-BE49-F238E27FC236}">
                <a16:creationId xmlns:a16="http://schemas.microsoft.com/office/drawing/2014/main" id="{35C831A9-765A-4F06-BF7E-4396C793CE8F}"/>
              </a:ext>
            </a:extLst>
          </p:cNvPr>
          <p:cNvSpPr>
            <a:spLocks/>
          </p:cNvSpPr>
          <p:nvPr/>
        </p:nvSpPr>
        <p:spPr>
          <a:xfrm>
            <a:off x="9315450" y="3800475"/>
            <a:ext cx="11906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HTTP</a:t>
            </a:r>
          </a:p>
        </p:txBody>
      </p:sp>
      <p:sp>
        <p:nvSpPr>
          <p:cNvPr id="25" name="app_title">
            <a:extLst>
              <a:ext uri="{FF2B5EF4-FFF2-40B4-BE49-F238E27FC236}">
                <a16:creationId xmlns:a16="http://schemas.microsoft.com/office/drawing/2014/main" id="{5BF4A804-08B5-472C-A0CC-199FE125A6B5}"/>
              </a:ext>
            </a:extLst>
          </p:cNvPr>
          <p:cNvSpPr>
            <a:spLocks/>
          </p:cNvSpPr>
          <p:nvPr/>
        </p:nvSpPr>
        <p:spPr>
          <a:xfrm>
            <a:off x="10820400" y="3143250"/>
            <a:ext cx="2743200" cy="476250"/>
          </a:xfrm>
          <a:prstGeom prst="rect">
            <a:avLst/>
          </a:prstGeom>
          <a:noFill/>
          <a:ln w="9525">
            <a:noFill/>
            <a:prstDash val="solid"/>
          </a:ln>
        </p:spPr>
        <p:txBody>
          <a:bodyPr wrap="square" lIns="0" tIns="0" rIns="0" bIns="0" anchor="ctr">
            <a:noAutofit/>
          </a:bodyPr>
          <a:lstStyle>
            <a:defPPr algn="ctr">
              <a:defRPr sz="2325" b="1">
                <a:solidFill>
                  <a:srgbClr val="285C4D"/>
                </a:solidFill>
                <a:latin typeface="Segoe UI"/>
                <a:ea typeface="Segoe UI"/>
                <a:cs typeface="Segoe UI"/>
              </a:defRPr>
            </a:defPPr>
          </a:lstStyle>
          <a:p>
            <a:pPr algn="ctr">
              <a:defRPr sz="2325" b="1">
                <a:solidFill>
                  <a:srgbClr val="285C4D"/>
                </a:solidFill>
                <a:latin typeface="Segoe UI"/>
                <a:ea typeface="Segoe UI"/>
                <a:cs typeface="Segoe UI"/>
              </a:defRPr>
            </a:pPr>
            <a:r>
              <a:rPr sz="2325" b="1">
                <a:solidFill>
                  <a:srgbClr val="285C4D"/>
                </a:solidFill>
                <a:latin typeface="Segoe UI"/>
                <a:ea typeface="Segoe UI"/>
                <a:cs typeface="Segoe UI"/>
              </a:rPr>
              <a:t>CyberShield</a:t>
            </a:r>
          </a:p>
        </p:txBody>
      </p:sp>
      <p:sp>
        <p:nvSpPr>
          <p:cNvPr id="26" name="app_sub">
            <a:extLst>
              <a:ext uri="{FF2B5EF4-FFF2-40B4-BE49-F238E27FC236}">
                <a16:creationId xmlns:a16="http://schemas.microsoft.com/office/drawing/2014/main" id="{B1AD36B6-AAD4-45E0-A008-221A33A858F1}"/>
              </a:ext>
            </a:extLst>
          </p:cNvPr>
          <p:cNvSpPr>
            <a:spLocks/>
          </p:cNvSpPr>
          <p:nvPr/>
        </p:nvSpPr>
        <p:spPr>
          <a:xfrm>
            <a:off x="10839450" y="3790950"/>
            <a:ext cx="2705100" cy="685800"/>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Analyse ciblée</a:t>
            </a:r>
          </a:p>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et bornée.</a:t>
            </a:r>
          </a:p>
        </p:txBody>
      </p:sp>
      <p:sp>
        <p:nvSpPr>
          <p:cNvPr id="27" name="anim_payload">
            <a:extLst>
              <a:ext uri="{FF2B5EF4-FFF2-40B4-BE49-F238E27FC236}">
                <a16:creationId xmlns:a16="http://schemas.microsoft.com/office/drawing/2014/main" id="{7F6D4ED3-9D0C-4A28-8B5A-976D3BBC3714}"/>
              </a:ext>
            </a:extLst>
          </p:cNvPr>
          <p:cNvSpPr>
            <a:spLocks/>
          </p:cNvSpPr>
          <p:nvPr/>
        </p:nvSpPr>
        <p:spPr>
          <a:xfrm>
            <a:off x="6572250" y="4305300"/>
            <a:ext cx="2438400" cy="400050"/>
          </a:xfrm>
          <a:prstGeom prst="rect">
            <a:avLst/>
          </a:prstGeom>
          <a:noFill/>
          <a:ln w="9525">
            <a:noFill/>
            <a:prstDash val="solid"/>
          </a:ln>
        </p:spPr>
        <p:txBody>
          <a:bodyPr wrap="square" lIns="0" tIns="0" rIns="0" bIns="0" anchor="ctr">
            <a:noAutofit/>
          </a:bodyPr>
          <a:lstStyle>
            <a:defPPr algn="l">
              <a:defRPr sz="1725" b="1">
                <a:solidFill>
                  <a:srgbClr val="A64035"/>
                </a:solidFill>
                <a:latin typeface="Consolas"/>
                <a:ea typeface="Consolas"/>
                <a:cs typeface="Consolas"/>
              </a:defRPr>
            </a:defPPr>
          </a:lstStyle>
          <a:p>
            <a:pPr algn="l">
              <a:defRPr sz="1725" b="1">
                <a:solidFill>
                  <a:srgbClr val="A64035"/>
                </a:solidFill>
                <a:latin typeface="Consolas"/>
                <a:ea typeface="Consolas"/>
                <a:cs typeface="Consolas"/>
              </a:defRPr>
            </a:pPr>
            <a:r>
              <a:rPr sz="1725" b="1">
                <a:solidFill>
                  <a:srgbClr val="A64035"/>
                </a:solidFill>
                <a:latin typeface="Consolas"/>
                <a:ea typeface="Consolas"/>
                <a:cs typeface="Consolas"/>
              </a:rPr>
              <a:t>' OR 'b' &gt; 'a' -- </a:t>
            </a:r>
          </a:p>
        </p:txBody>
      </p:sp>
      <p:sp>
        <p:nvSpPr>
          <p:cNvPr id="28" name="anim_http_packet">
            <a:extLst>
              <a:ext uri="{FF2B5EF4-FFF2-40B4-BE49-F238E27FC236}">
                <a16:creationId xmlns:a16="http://schemas.microsoft.com/office/drawing/2014/main" id="{5CF54D47-A435-4C6C-A822-67AD10BF3236}"/>
              </a:ext>
            </a:extLst>
          </p:cNvPr>
          <p:cNvSpPr>
            <a:spLocks/>
          </p:cNvSpPr>
          <p:nvPr/>
        </p:nvSpPr>
        <p:spPr>
          <a:xfrm>
            <a:off x="9353550" y="4105275"/>
            <a:ext cx="105727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HTTP</a:t>
            </a:r>
          </a:p>
        </p:txBody>
      </p:sp>
      <p:sp>
        <p:nvSpPr>
          <p:cNvPr id="29" name="anim_review">
            <a:extLst>
              <a:ext uri="{FF2B5EF4-FFF2-40B4-BE49-F238E27FC236}">
                <a16:creationId xmlns:a16="http://schemas.microsoft.com/office/drawing/2014/main" id="{2D944575-090B-4DE8-A49C-EBE4F2830A79}"/>
              </a:ext>
            </a:extLst>
          </p:cNvPr>
          <p:cNvSpPr>
            <a:spLocks/>
          </p:cNvSpPr>
          <p:nvPr/>
        </p:nvSpPr>
        <p:spPr>
          <a:xfrm>
            <a:off x="10744200" y="4752975"/>
            <a:ext cx="2886075" cy="409575"/>
          </a:xfrm>
          <a:prstGeom prst="rect">
            <a:avLst/>
          </a:prstGeom>
          <a:noFill/>
          <a:ln w="9525">
            <a:noFill/>
            <a:prstDash val="solid"/>
          </a:ln>
        </p:spPr>
        <p:txBody>
          <a:bodyPr wrap="square" lIns="0" tIns="0" rIns="0" bIns="0" anchor="ctr">
            <a:noAutofit/>
          </a:bodyPr>
          <a:lstStyle>
            <a:defPPr algn="ctr">
              <a:defRPr sz="1875" b="1">
                <a:solidFill>
                  <a:srgbClr val="876027"/>
                </a:solidFill>
                <a:latin typeface="Segoe UI"/>
                <a:ea typeface="Segoe UI"/>
                <a:cs typeface="Segoe UI"/>
              </a:defRPr>
            </a:defPPr>
          </a:lstStyle>
          <a:p>
            <a:pPr algn="ctr">
              <a:defRPr sz="1875" b="1">
                <a:solidFill>
                  <a:srgbClr val="876027"/>
                </a:solidFill>
                <a:latin typeface="Segoe UI"/>
                <a:ea typeface="Segoe UI"/>
                <a:cs typeface="Segoe UI"/>
              </a:defRPr>
            </a:pPr>
            <a:r>
              <a:rPr sz="1875" b="1">
                <a:solidFill>
                  <a:srgbClr val="876027"/>
                </a:solidFill>
                <a:latin typeface="Segoe UI"/>
                <a:ea typeface="Segoe UI"/>
                <a:cs typeface="Segoe UI"/>
              </a:rPr>
              <a:t>Cas à examiner</a:t>
            </a:r>
          </a:p>
        </p:txBody>
      </p:sp>
      <p:grpSp>
        <p:nvGrpSpPr>
          <p:cNvPr id="54" name="anim_mlp">
            <a:extLst>
              <a:ext uri="{FF2B5EF4-FFF2-40B4-BE49-F238E27FC236}">
                <a16:creationId xmlns:a16="http://schemas.microsoft.com/office/drawing/2014/main" id="{66B059FF-5772-C553-8F41-920D4F2BF585}"/>
              </a:ext>
            </a:extLst>
          </p:cNvPr>
          <p:cNvGrpSpPr/>
          <p:nvPr/>
        </p:nvGrpSpPr>
        <p:grpSpPr>
          <a:xfrm>
            <a:off x="10429875" y="5476875"/>
            <a:ext cx="2762250" cy="2038350"/>
            <a:chOff x="10429875" y="5476875"/>
            <a:chExt cx="2762250" cy="2038350"/>
          </a:xfrm>
        </p:grpSpPr>
        <p:sp>
          <p:nvSpPr>
            <p:cNvPr id="30" name="mlp_body">
              <a:extLst>
                <a:ext uri="{FF2B5EF4-FFF2-40B4-BE49-F238E27FC236}">
                  <a16:creationId xmlns:a16="http://schemas.microsoft.com/office/drawing/2014/main" id="{862EDC7E-4AB1-4348-9D08-27AAC0A6690E}"/>
                </a:ext>
              </a:extLst>
            </p:cNvPr>
            <p:cNvSpPr>
              <a:spLocks/>
            </p:cNvSpPr>
            <p:nvPr/>
          </p:nvSpPr>
          <p:spPr>
            <a:xfrm>
              <a:off x="10429875" y="6343650"/>
              <a:ext cx="2762250" cy="1171575"/>
            </a:xfrm>
            <a:prstGeom prst="rect">
              <a:avLst/>
            </a:prstGeom>
            <a:solidFill>
              <a:srgbClr val="E1EAE1"/>
            </a:solidFill>
            <a:ln w="19050">
              <a:solidFill>
                <a:srgbClr val="285C4D"/>
              </a:solidFill>
              <a:prstDash val="solid"/>
            </a:ln>
          </p:spPr>
        </p:sp>
        <p:sp>
          <p:nvSpPr>
            <p:cNvPr id="31" name="mlp_title">
              <a:extLst>
                <a:ext uri="{FF2B5EF4-FFF2-40B4-BE49-F238E27FC236}">
                  <a16:creationId xmlns:a16="http://schemas.microsoft.com/office/drawing/2014/main" id="{6E7A2819-8DC9-40A2-B2F6-5F1DFB7D5E11}"/>
                </a:ext>
              </a:extLst>
            </p:cNvPr>
            <p:cNvSpPr>
              <a:spLocks/>
            </p:cNvSpPr>
            <p:nvPr/>
          </p:nvSpPr>
          <p:spPr>
            <a:xfrm>
              <a:off x="10620375" y="6486525"/>
              <a:ext cx="2381250" cy="476250"/>
            </a:xfrm>
            <a:prstGeom prst="rect">
              <a:avLst/>
            </a:prstGeom>
            <a:noFill/>
            <a:ln w="9525">
              <a:noFill/>
              <a:prstDash val="solid"/>
            </a:ln>
          </p:spPr>
          <p:txBody>
            <a:bodyPr wrap="square" lIns="0" tIns="0" rIns="0" bIns="0" anchor="ctr">
              <a:noAutofit/>
            </a:bodyPr>
            <a:lstStyle>
              <a:defPPr algn="ctr">
                <a:defRPr sz="2175" b="1">
                  <a:solidFill>
                    <a:srgbClr val="285C4D"/>
                  </a:solidFill>
                  <a:latin typeface="Segoe UI"/>
                  <a:ea typeface="Segoe UI"/>
                  <a:cs typeface="Segoe UI"/>
                </a:defRPr>
              </a:defPPr>
            </a:lstStyle>
            <a:p>
              <a:pPr algn="ctr">
                <a:defRPr sz="2175" b="1">
                  <a:solidFill>
                    <a:srgbClr val="285C4D"/>
                  </a:solidFill>
                  <a:latin typeface="Segoe UI"/>
                  <a:ea typeface="Segoe UI"/>
                  <a:cs typeface="Segoe UI"/>
                </a:defRPr>
              </a:pPr>
              <a:r>
                <a:rPr sz="2175" b="1">
                  <a:solidFill>
                    <a:srgbClr val="285C4D"/>
                  </a:solidFill>
                  <a:latin typeface="Segoe UI"/>
                  <a:ea typeface="Segoe UI"/>
                  <a:cs typeface="Segoe UI"/>
                </a:rPr>
                <a:t>MLP local</a:t>
              </a:r>
            </a:p>
          </p:txBody>
        </p:sp>
        <p:sp>
          <p:nvSpPr>
            <p:cNvPr id="32" name="mlp_sub">
              <a:extLst>
                <a:ext uri="{FF2B5EF4-FFF2-40B4-BE49-F238E27FC236}">
                  <a16:creationId xmlns:a16="http://schemas.microsoft.com/office/drawing/2014/main" id="{A769D2B5-DC4C-41C0-BBAE-999AABF04E17}"/>
                </a:ext>
              </a:extLst>
            </p:cNvPr>
            <p:cNvSpPr>
              <a:spLocks/>
            </p:cNvSpPr>
            <p:nvPr/>
          </p:nvSpPr>
          <p:spPr>
            <a:xfrm>
              <a:off x="10572750" y="6991350"/>
              <a:ext cx="2476500" cy="43815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Analyse de la saisie</a:t>
              </a:r>
            </a:p>
          </p:txBody>
        </p:sp>
        <p:sp>
          <p:nvSpPr>
            <p:cNvPr id="33" name="mlp_input">
              <a:extLst>
                <a:ext uri="{FF2B5EF4-FFF2-40B4-BE49-F238E27FC236}">
                  <a16:creationId xmlns:a16="http://schemas.microsoft.com/office/drawing/2014/main" id="{F74A736A-9786-494C-863B-6A36D98CA53C}"/>
                </a:ext>
              </a:extLst>
            </p:cNvPr>
            <p:cNvSpPr>
              <a:spLocks/>
            </p:cNvSpPr>
            <p:nvPr/>
          </p:nvSpPr>
          <p:spPr>
            <a:xfrm>
              <a:off x="12077700" y="5476875"/>
              <a:ext cx="152400" cy="619125"/>
            </a:xfrm>
            <a:prstGeom prst="downArrow">
              <a:avLst/>
            </a:prstGeom>
            <a:solidFill>
              <a:srgbClr val="285C4D"/>
            </a:solidFill>
            <a:ln w="9525">
              <a:noFill/>
              <a:prstDash val="solid"/>
            </a:ln>
          </p:spPr>
        </p:sp>
      </p:grpSp>
      <p:sp>
        <p:nvSpPr>
          <p:cNvPr id="34" name="anim_score_packet">
            <a:extLst>
              <a:ext uri="{FF2B5EF4-FFF2-40B4-BE49-F238E27FC236}">
                <a16:creationId xmlns:a16="http://schemas.microsoft.com/office/drawing/2014/main" id="{F190BCBD-A26B-4851-AE3E-F90E213DC287}"/>
              </a:ext>
            </a:extLst>
          </p:cNvPr>
          <p:cNvSpPr>
            <a:spLocks/>
          </p:cNvSpPr>
          <p:nvPr/>
        </p:nvSpPr>
        <p:spPr>
          <a:xfrm>
            <a:off x="13287375" y="6686550"/>
            <a:ext cx="895350" cy="457200"/>
          </a:xfrm>
          <a:prstGeom prst="rect">
            <a:avLst/>
          </a:prstGeom>
          <a:solidFill>
            <a:srgbClr val="FBF9F3"/>
          </a:solidFill>
          <a:ln w="14288">
            <a:solidFill>
              <a:srgbClr val="285C4D"/>
            </a:solidFill>
            <a:prstDash val="solid"/>
          </a:ln>
        </p:spPr>
        <p:txBody>
          <a:bodyPr wrap="square" lIns="47625" tIns="47625" rIns="47625" bIns="47625" anchor="ctr">
            <a:noAutofit/>
          </a:bodyPr>
          <a:lstStyle>
            <a:defPPr algn="ctr">
              <a:defRPr sz="1725" b="1">
                <a:solidFill>
                  <a:srgbClr val="285C4D"/>
                </a:solidFill>
                <a:latin typeface="Segoe UI"/>
                <a:ea typeface="Segoe UI"/>
                <a:cs typeface="Segoe UI"/>
              </a:defRPr>
            </a:defPPr>
          </a:lstStyle>
          <a:p>
            <a:pPr algn="ctr">
              <a:defRPr sz="1725" b="1">
                <a:solidFill>
                  <a:srgbClr val="285C4D"/>
                </a:solidFill>
                <a:latin typeface="Segoe UI"/>
                <a:ea typeface="Segoe UI"/>
                <a:cs typeface="Segoe UI"/>
              </a:defRPr>
            </a:pPr>
            <a:r>
              <a:rPr sz="1725" b="1">
                <a:solidFill>
                  <a:srgbClr val="285C4D"/>
                </a:solidFill>
                <a:latin typeface="Segoe UI"/>
                <a:ea typeface="Segoe UI"/>
                <a:cs typeface="Segoe UI"/>
              </a:rPr>
              <a:t>Score</a:t>
            </a:r>
          </a:p>
        </p:txBody>
      </p:sp>
      <p:grpSp>
        <p:nvGrpSpPr>
          <p:cNvPr id="55" name="anim_criterion">
            <a:extLst>
              <a:ext uri="{FF2B5EF4-FFF2-40B4-BE49-F238E27FC236}">
                <a16:creationId xmlns:a16="http://schemas.microsoft.com/office/drawing/2014/main" id="{2F71C261-B650-8C72-81FC-B39AD425F35F}"/>
              </a:ext>
            </a:extLst>
          </p:cNvPr>
          <p:cNvGrpSpPr/>
          <p:nvPr/>
        </p:nvGrpSpPr>
        <p:grpSpPr>
          <a:xfrm>
            <a:off x="14382750" y="6162675"/>
            <a:ext cx="2133600" cy="1657350"/>
            <a:chOff x="14382750" y="6162675"/>
            <a:chExt cx="2133600" cy="1657350"/>
          </a:xfrm>
        </p:grpSpPr>
        <p:sp>
          <p:nvSpPr>
            <p:cNvPr id="35" name="criterion">
              <a:extLst>
                <a:ext uri="{FF2B5EF4-FFF2-40B4-BE49-F238E27FC236}">
                  <a16:creationId xmlns:a16="http://schemas.microsoft.com/office/drawing/2014/main" id="{0B8F82F5-7432-4812-AE16-22DDFFC4FF44}"/>
                </a:ext>
              </a:extLst>
            </p:cNvPr>
            <p:cNvSpPr>
              <a:spLocks/>
            </p:cNvSpPr>
            <p:nvPr/>
          </p:nvSpPr>
          <p:spPr>
            <a:xfrm>
              <a:off x="14382750" y="6162675"/>
              <a:ext cx="2133600" cy="1657350"/>
            </a:xfrm>
            <a:prstGeom prst="diamond">
              <a:avLst/>
            </a:prstGeom>
            <a:solidFill>
              <a:srgbClr val="FBF9F3"/>
            </a:solidFill>
            <a:ln w="19050">
              <a:solidFill>
                <a:srgbClr val="285C4D"/>
              </a:solidFill>
              <a:prstDash val="solid"/>
            </a:ln>
          </p:spPr>
        </p:sp>
        <p:sp>
          <p:nvSpPr>
            <p:cNvPr id="36" name="criterion_text">
              <a:extLst>
                <a:ext uri="{FF2B5EF4-FFF2-40B4-BE49-F238E27FC236}">
                  <a16:creationId xmlns:a16="http://schemas.microsoft.com/office/drawing/2014/main" id="{81B0752E-F20F-4118-AD14-591607F69BA6}"/>
                </a:ext>
              </a:extLst>
            </p:cNvPr>
            <p:cNvSpPr>
              <a:spLocks/>
            </p:cNvSpPr>
            <p:nvPr/>
          </p:nvSpPr>
          <p:spPr>
            <a:xfrm>
              <a:off x="14592300" y="6524625"/>
              <a:ext cx="1724025" cy="981075"/>
            </a:xfrm>
            <a:prstGeom prst="rect">
              <a:avLst/>
            </a:prstGeom>
            <a:noFill/>
            <a:ln w="9525">
              <a:noFill/>
              <a:prstDash val="solid"/>
            </a:ln>
          </p:spPr>
          <p:txBody>
            <a:bodyPr wrap="square" lIns="0" tIns="0" rIns="0" bIns="0" anchor="ctr">
              <a:noAutofit/>
            </a:bodyPr>
            <a:lstStyle>
              <a:defPPr algn="ctr">
                <a:defRPr sz="1950" b="1">
                  <a:solidFill>
                    <a:srgbClr val="285C4D"/>
                  </a:solidFill>
                  <a:latin typeface="Segoe UI"/>
                  <a:ea typeface="Segoe UI"/>
                  <a:cs typeface="Segoe UI"/>
                </a:defRPr>
              </a:defPPr>
            </a:lstStyle>
            <a:p>
              <a:pPr algn="ctr">
                <a:defRPr sz="1950" b="1">
                  <a:solidFill>
                    <a:srgbClr val="285C4D"/>
                  </a:solidFill>
                  <a:latin typeface="Segoe UI"/>
                  <a:ea typeface="Segoe UI"/>
                  <a:cs typeface="Segoe UI"/>
                </a:defRPr>
              </a:pPr>
              <a:r>
                <a:rPr sz="1950" b="1">
                  <a:solidFill>
                    <a:srgbClr val="285C4D"/>
                  </a:solidFill>
                  <a:latin typeface="Segoe UI"/>
                  <a:ea typeface="Segoe UI"/>
                  <a:cs typeface="Segoe UI"/>
                </a:rPr>
                <a:t>Score MLP</a:t>
              </a:r>
            </a:p>
            <a:p>
              <a:pPr algn="ctr">
                <a:defRPr sz="1950" b="1">
                  <a:solidFill>
                    <a:srgbClr val="285C4D"/>
                  </a:solidFill>
                  <a:latin typeface="Segoe UI"/>
                  <a:ea typeface="Segoe UI"/>
                  <a:cs typeface="Segoe UI"/>
                </a:defRPr>
              </a:pPr>
              <a:r>
                <a:rPr sz="1950" b="1">
                  <a:solidFill>
                    <a:srgbClr val="285C4D"/>
                  </a:solidFill>
                  <a:latin typeface="Segoe UI"/>
                  <a:ea typeface="Segoe UI"/>
                  <a:cs typeface="Segoe UI"/>
                </a:rPr>
                <a:t>≥ 0,75 ?</a:t>
              </a:r>
            </a:p>
          </p:txBody>
        </p:sp>
      </p:grpSp>
      <p:grpSp>
        <p:nvGrpSpPr>
          <p:cNvPr id="56" name="anim_yes_branch">
            <a:extLst>
              <a:ext uri="{FF2B5EF4-FFF2-40B4-BE49-F238E27FC236}">
                <a16:creationId xmlns:a16="http://schemas.microsoft.com/office/drawing/2014/main" id="{1C164B5A-AD96-8727-3302-BB55AD643114}"/>
              </a:ext>
            </a:extLst>
          </p:cNvPr>
          <p:cNvGrpSpPr/>
          <p:nvPr/>
        </p:nvGrpSpPr>
        <p:grpSpPr>
          <a:xfrm>
            <a:off x="14468475" y="7800975"/>
            <a:ext cx="2581275" cy="1076325"/>
            <a:chOff x="14468475" y="7800975"/>
            <a:chExt cx="2581275" cy="1076325"/>
          </a:xfrm>
        </p:grpSpPr>
        <p:sp>
          <p:nvSpPr>
            <p:cNvPr id="37" name="yes_vertical">
              <a:extLst>
                <a:ext uri="{FF2B5EF4-FFF2-40B4-BE49-F238E27FC236}">
                  <a16:creationId xmlns:a16="http://schemas.microsoft.com/office/drawing/2014/main" id="{A14FBD09-3DDA-49A1-971B-AEA0065620D4}"/>
                </a:ext>
              </a:extLst>
            </p:cNvPr>
            <p:cNvSpPr>
              <a:spLocks/>
            </p:cNvSpPr>
            <p:nvPr/>
          </p:nvSpPr>
          <p:spPr>
            <a:xfrm>
              <a:off x="15440025" y="7829550"/>
              <a:ext cx="0" cy="400050"/>
            </a:xfrm>
            <a:prstGeom prst="line">
              <a:avLst/>
            </a:prstGeom>
            <a:noFill/>
            <a:ln w="19050">
              <a:solidFill>
                <a:srgbClr val="A64035"/>
              </a:solidFill>
              <a:prstDash val="solid"/>
            </a:ln>
          </p:spPr>
        </p:sp>
        <p:sp>
          <p:nvSpPr>
            <p:cNvPr id="38" name="yes_label">
              <a:extLst>
                <a:ext uri="{FF2B5EF4-FFF2-40B4-BE49-F238E27FC236}">
                  <a16:creationId xmlns:a16="http://schemas.microsoft.com/office/drawing/2014/main" id="{38E25671-4752-493C-93C0-A88F09526431}"/>
                </a:ext>
              </a:extLst>
            </p:cNvPr>
            <p:cNvSpPr>
              <a:spLocks/>
            </p:cNvSpPr>
            <p:nvPr/>
          </p:nvSpPr>
          <p:spPr>
            <a:xfrm>
              <a:off x="15716250" y="7800975"/>
              <a:ext cx="619125" cy="361950"/>
            </a:xfrm>
            <a:prstGeom prst="rect">
              <a:avLst/>
            </a:prstGeom>
            <a:noFill/>
            <a:ln w="9525">
              <a:noFill/>
              <a:prstDash val="solid"/>
            </a:ln>
          </p:spPr>
          <p:txBody>
            <a:bodyPr wrap="square" lIns="0" tIns="0" rIns="0" bIns="0" anchor="ctr">
              <a:noAutofit/>
            </a:bodyPr>
            <a:lstStyle>
              <a:defPPr algn="l">
                <a:defRPr sz="1725" b="1">
                  <a:solidFill>
                    <a:srgbClr val="A64035"/>
                  </a:solidFill>
                  <a:latin typeface="Segoe UI"/>
                  <a:ea typeface="Segoe UI"/>
                  <a:cs typeface="Segoe UI"/>
                </a:defRPr>
              </a:defPPr>
            </a:lstStyle>
            <a:p>
              <a:pPr algn="l">
                <a:defRPr sz="1725" b="1">
                  <a:solidFill>
                    <a:srgbClr val="A64035"/>
                  </a:solidFill>
                  <a:latin typeface="Segoe UI"/>
                  <a:ea typeface="Segoe UI"/>
                  <a:cs typeface="Segoe UI"/>
                </a:defRPr>
              </a:pPr>
              <a:r>
                <a:rPr sz="1725" b="1">
                  <a:solidFill>
                    <a:srgbClr val="A64035"/>
                  </a:solidFill>
                  <a:latin typeface="Segoe UI"/>
                  <a:ea typeface="Segoe UI"/>
                  <a:cs typeface="Segoe UI"/>
                </a:rPr>
                <a:t>Oui</a:t>
              </a:r>
            </a:p>
          </p:txBody>
        </p:sp>
        <p:sp>
          <p:nvSpPr>
            <p:cNvPr id="39" name="yes_result">
              <a:extLst>
                <a:ext uri="{FF2B5EF4-FFF2-40B4-BE49-F238E27FC236}">
                  <a16:creationId xmlns:a16="http://schemas.microsoft.com/office/drawing/2014/main" id="{63EBCF6C-E2D5-465C-8066-880AA7D20513}"/>
                </a:ext>
              </a:extLst>
            </p:cNvPr>
            <p:cNvSpPr>
              <a:spLocks/>
            </p:cNvSpPr>
            <p:nvPr/>
          </p:nvSpPr>
          <p:spPr>
            <a:xfrm>
              <a:off x="14468475" y="8382000"/>
              <a:ext cx="2581275" cy="495300"/>
            </a:xfrm>
            <a:prstGeom prst="rect">
              <a:avLst/>
            </a:prstGeom>
            <a:noFill/>
            <a:ln w="9525">
              <a:noFill/>
              <a:prstDash val="solid"/>
            </a:ln>
          </p:spPr>
          <p:txBody>
            <a:bodyPr wrap="square" lIns="0" tIns="0" rIns="0" bIns="0" anchor="ctr">
              <a:noAutofit/>
            </a:bodyPr>
            <a:lstStyle>
              <a:defPPr algn="ctr">
                <a:defRPr sz="2550" b="1">
                  <a:solidFill>
                    <a:srgbClr val="A64035"/>
                  </a:solidFill>
                  <a:latin typeface="Segoe UI"/>
                  <a:ea typeface="Segoe UI"/>
                  <a:cs typeface="Segoe UI"/>
                </a:defRPr>
              </a:defPPr>
            </a:lstStyle>
            <a:p>
              <a:pPr algn="ctr">
                <a:defRPr sz="2550" b="1">
                  <a:solidFill>
                    <a:srgbClr val="A64035"/>
                  </a:solidFill>
                  <a:latin typeface="Segoe UI"/>
                  <a:ea typeface="Segoe UI"/>
                  <a:cs typeface="Segoe UI"/>
                </a:defRPr>
              </a:pPr>
              <a:r>
                <a:rPr sz="2550" b="1">
                  <a:solidFill>
                    <a:srgbClr val="A64035"/>
                  </a:solidFill>
                  <a:latin typeface="Segoe UI"/>
                  <a:ea typeface="Segoe UI"/>
                  <a:cs typeface="Segoe UI"/>
                </a:rPr>
                <a:t>HTTP 403</a:t>
              </a:r>
            </a:p>
          </p:txBody>
        </p:sp>
      </p:grpSp>
      <p:grpSp>
        <p:nvGrpSpPr>
          <p:cNvPr id="57" name="anim_no_branch">
            <a:extLst>
              <a:ext uri="{FF2B5EF4-FFF2-40B4-BE49-F238E27FC236}">
                <a16:creationId xmlns:a16="http://schemas.microsoft.com/office/drawing/2014/main" id="{3B84ECA0-AF6B-8847-3E47-BF8A3E755AD6}"/>
              </a:ext>
            </a:extLst>
          </p:cNvPr>
          <p:cNvGrpSpPr/>
          <p:nvPr/>
        </p:nvGrpSpPr>
        <p:grpSpPr>
          <a:xfrm>
            <a:off x="14363700" y="5257800"/>
            <a:ext cx="2971800" cy="904875"/>
            <a:chOff x="14363700" y="5257800"/>
            <a:chExt cx="2971800" cy="904875"/>
          </a:xfrm>
        </p:grpSpPr>
        <p:sp>
          <p:nvSpPr>
            <p:cNvPr id="40" name="no_vertical">
              <a:extLst>
                <a:ext uri="{FF2B5EF4-FFF2-40B4-BE49-F238E27FC236}">
                  <a16:creationId xmlns:a16="http://schemas.microsoft.com/office/drawing/2014/main" id="{80924D66-5047-4F97-8B53-D1D559BC926C}"/>
                </a:ext>
              </a:extLst>
            </p:cNvPr>
            <p:cNvSpPr>
              <a:spLocks/>
            </p:cNvSpPr>
            <p:nvPr/>
          </p:nvSpPr>
          <p:spPr>
            <a:xfrm>
              <a:off x="15440025" y="5534025"/>
              <a:ext cx="0" cy="628650"/>
            </a:xfrm>
            <a:prstGeom prst="line">
              <a:avLst/>
            </a:prstGeom>
            <a:noFill/>
            <a:ln w="19050">
              <a:solidFill>
                <a:srgbClr val="285C4D"/>
              </a:solidFill>
              <a:prstDash val="solid"/>
            </a:ln>
          </p:spPr>
        </p:sp>
        <p:sp>
          <p:nvSpPr>
            <p:cNvPr id="41" name="no_label">
              <a:extLst>
                <a:ext uri="{FF2B5EF4-FFF2-40B4-BE49-F238E27FC236}">
                  <a16:creationId xmlns:a16="http://schemas.microsoft.com/office/drawing/2014/main" id="{EE47BE05-CD37-442D-890B-0CD1C8E817D8}"/>
                </a:ext>
              </a:extLst>
            </p:cNvPr>
            <p:cNvSpPr>
              <a:spLocks/>
            </p:cNvSpPr>
            <p:nvPr/>
          </p:nvSpPr>
          <p:spPr>
            <a:xfrm>
              <a:off x="15754350" y="5676900"/>
              <a:ext cx="695325" cy="342900"/>
            </a:xfrm>
            <a:prstGeom prst="rect">
              <a:avLst/>
            </a:prstGeom>
            <a:noFill/>
            <a:ln w="9525">
              <a:noFill/>
              <a:prstDash val="solid"/>
            </a:ln>
          </p:spPr>
          <p:txBody>
            <a:bodyPr wrap="square" lIns="0" tIns="0" rIns="0" bIns="0" anchor="ctr">
              <a:noAutofit/>
            </a:bodyPr>
            <a:lstStyle>
              <a:defPPr algn="l">
                <a:defRPr sz="1725" b="1">
                  <a:solidFill>
                    <a:srgbClr val="285C4D"/>
                  </a:solidFill>
                  <a:latin typeface="Segoe UI"/>
                  <a:ea typeface="Segoe UI"/>
                  <a:cs typeface="Segoe UI"/>
                </a:defRPr>
              </a:defPPr>
            </a:lstStyle>
            <a:p>
              <a:pPr algn="l">
                <a:defRPr sz="1725" b="1">
                  <a:solidFill>
                    <a:srgbClr val="285C4D"/>
                  </a:solidFill>
                  <a:latin typeface="Segoe UI"/>
                  <a:ea typeface="Segoe UI"/>
                  <a:cs typeface="Segoe UI"/>
                </a:defRPr>
              </a:pPr>
              <a:r>
                <a:rPr sz="1725" b="1">
                  <a:solidFill>
                    <a:srgbClr val="285C4D"/>
                  </a:solidFill>
                  <a:latin typeface="Segoe UI"/>
                  <a:ea typeface="Segoe UI"/>
                  <a:cs typeface="Segoe UI"/>
                </a:rPr>
                <a:t>Non</a:t>
              </a:r>
            </a:p>
          </p:txBody>
        </p:sp>
        <p:sp>
          <p:nvSpPr>
            <p:cNvPr id="42" name="prepared">
              <a:extLst>
                <a:ext uri="{FF2B5EF4-FFF2-40B4-BE49-F238E27FC236}">
                  <a16:creationId xmlns:a16="http://schemas.microsoft.com/office/drawing/2014/main" id="{F2E35A29-3B9E-42DF-BC3E-5D9F4488994C}"/>
                </a:ext>
              </a:extLst>
            </p:cNvPr>
            <p:cNvSpPr>
              <a:spLocks/>
            </p:cNvSpPr>
            <p:nvPr/>
          </p:nvSpPr>
          <p:spPr>
            <a:xfrm>
              <a:off x="14363700" y="5257800"/>
              <a:ext cx="2971800" cy="381000"/>
            </a:xfrm>
            <a:prstGeom prst="rect">
              <a:avLst/>
            </a:prstGeom>
            <a:noFill/>
            <a:ln w="9525">
              <a:noFill/>
              <a:prstDash val="solid"/>
            </a:ln>
          </p:spPr>
          <p:txBody>
            <a:bodyPr wrap="square" lIns="0" tIns="0" rIns="0" bIns="0" anchor="ctr">
              <a:noAutofit/>
            </a:bodyPr>
            <a:lstStyle>
              <a:defPPr algn="ctr">
                <a:defRPr sz="1875" b="1">
                  <a:solidFill>
                    <a:srgbClr val="285C4D"/>
                  </a:solidFill>
                  <a:latin typeface="Segoe UI"/>
                  <a:ea typeface="Segoe UI"/>
                  <a:cs typeface="Segoe UI"/>
                </a:defRPr>
              </a:defPPr>
            </a:lstStyle>
            <a:p>
              <a:pPr algn="ctr">
                <a:defRPr sz="1875" b="1">
                  <a:solidFill>
                    <a:srgbClr val="285C4D"/>
                  </a:solidFill>
                  <a:latin typeface="Segoe UI"/>
                  <a:ea typeface="Segoe UI"/>
                  <a:cs typeface="Segoe UI"/>
                </a:defRPr>
              </a:pPr>
              <a:r>
                <a:rPr sz="1875" b="1">
                  <a:solidFill>
                    <a:srgbClr val="285C4D"/>
                  </a:solidFill>
                  <a:latin typeface="Segoe UI"/>
                  <a:ea typeface="Segoe UI"/>
                  <a:cs typeface="Segoe UI"/>
                </a:rPr>
                <a:t>Requête préparée</a:t>
              </a:r>
            </a:p>
          </p:txBody>
        </p:sp>
      </p:grpSp>
      <p:sp>
        <p:nvSpPr>
          <p:cNvPr id="43" name="anim_result">
            <a:extLst>
              <a:ext uri="{FF2B5EF4-FFF2-40B4-BE49-F238E27FC236}">
                <a16:creationId xmlns:a16="http://schemas.microsoft.com/office/drawing/2014/main" id="{EB4B5890-FB6B-4C7B-A233-17100E1C0953}"/>
              </a:ext>
            </a:extLst>
          </p:cNvPr>
          <p:cNvSpPr>
            <a:spLocks/>
          </p:cNvSpPr>
          <p:nvPr/>
        </p:nvSpPr>
        <p:spPr>
          <a:xfrm>
            <a:off x="6429375" y="8572500"/>
            <a:ext cx="7381875" cy="533400"/>
          </a:xfrm>
          <a:prstGeom prst="rect">
            <a:avLst/>
          </a:prstGeom>
          <a:noFill/>
          <a:ln w="9525">
            <a:noFill/>
            <a:prstDash val="solid"/>
          </a:ln>
        </p:spPr>
        <p:txBody>
          <a:bodyPr wrap="square" lIns="0" tIns="0" rIns="0" bIns="0" anchor="ctr">
            <a:noAutofit/>
          </a:bodyPr>
          <a:lstStyle>
            <a:defPPr algn="l">
              <a:defRPr sz="2400" b="1">
                <a:solidFill>
                  <a:srgbClr val="285C4D"/>
                </a:solidFill>
                <a:latin typeface="Segoe UI"/>
                <a:ea typeface="Segoe UI"/>
                <a:cs typeface="Segoe UI"/>
              </a:defRPr>
            </a:defPPr>
          </a:lstStyle>
          <a:p>
            <a:pPr algn="l">
              <a:defRPr sz="2400" b="1">
                <a:solidFill>
                  <a:srgbClr val="285C4D"/>
                </a:solidFill>
                <a:latin typeface="Segoe UI"/>
                <a:ea typeface="Segoe UI"/>
                <a:cs typeface="Segoe UI"/>
              </a:defRPr>
            </a:pPr>
            <a:r>
              <a:rPr sz="2400" b="1">
                <a:solidFill>
                  <a:srgbClr val="285C4D"/>
                </a:solidFill>
                <a:latin typeface="Segoe UI"/>
                <a:ea typeface="Segoe UI"/>
                <a:cs typeface="Segoe UI"/>
              </a:rPr>
              <a:t>SQL et valeurs restent séparés.</a:t>
            </a:r>
          </a:p>
        </p:txBody>
      </p:sp>
      <p:grpSp>
        <p:nvGrpSpPr>
          <p:cNvPr id="58" name="anim_step_1">
            <a:extLst>
              <a:ext uri="{FF2B5EF4-FFF2-40B4-BE49-F238E27FC236}">
                <a16:creationId xmlns:a16="http://schemas.microsoft.com/office/drawing/2014/main" id="{EA707087-CD51-AB5D-A0A8-96F9FF009909}"/>
              </a:ext>
            </a:extLst>
          </p:cNvPr>
          <p:cNvGrpSpPr/>
          <p:nvPr/>
        </p:nvGrpSpPr>
        <p:grpSpPr>
          <a:xfrm>
            <a:off x="1000125" y="6210300"/>
            <a:ext cx="4562475" cy="476250"/>
            <a:chOff x="1000125" y="6210300"/>
            <a:chExt cx="4562475" cy="476250"/>
          </a:xfrm>
        </p:grpSpPr>
        <p:sp>
          <p:nvSpPr>
            <p:cNvPr id="44" name="step_1_number">
              <a:extLst>
                <a:ext uri="{FF2B5EF4-FFF2-40B4-BE49-F238E27FC236}">
                  <a16:creationId xmlns:a16="http://schemas.microsoft.com/office/drawing/2014/main" id="{346A1297-C41B-45D4-894C-8CDED4A5FD59}"/>
                </a:ext>
              </a:extLst>
            </p:cNvPr>
            <p:cNvSpPr>
              <a:spLocks/>
            </p:cNvSpPr>
            <p:nvPr/>
          </p:nvSpPr>
          <p:spPr>
            <a:xfrm>
              <a:off x="1000125" y="62293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01</a:t>
              </a:r>
            </a:p>
          </p:txBody>
        </p:sp>
        <p:sp>
          <p:nvSpPr>
            <p:cNvPr id="45" name="step_1_text">
              <a:extLst>
                <a:ext uri="{FF2B5EF4-FFF2-40B4-BE49-F238E27FC236}">
                  <a16:creationId xmlns:a16="http://schemas.microsoft.com/office/drawing/2014/main" id="{A225F9FB-C0AD-4CC2-BFFA-062A3517219C}"/>
                </a:ext>
              </a:extLst>
            </p:cNvPr>
            <p:cNvSpPr>
              <a:spLocks/>
            </p:cNvSpPr>
            <p:nvPr/>
          </p:nvSpPr>
          <p:spPr>
            <a:xfrm>
              <a:off x="1704975" y="62103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Saisie</a:t>
              </a:r>
            </a:p>
          </p:txBody>
        </p:sp>
      </p:grpSp>
      <p:grpSp>
        <p:nvGrpSpPr>
          <p:cNvPr id="59" name="anim_step_2">
            <a:extLst>
              <a:ext uri="{FF2B5EF4-FFF2-40B4-BE49-F238E27FC236}">
                <a16:creationId xmlns:a16="http://schemas.microsoft.com/office/drawing/2014/main" id="{FE8C3FD9-9390-A117-6B82-0685099835A0}"/>
              </a:ext>
            </a:extLst>
          </p:cNvPr>
          <p:cNvGrpSpPr/>
          <p:nvPr/>
        </p:nvGrpSpPr>
        <p:grpSpPr>
          <a:xfrm>
            <a:off x="1000125" y="6896100"/>
            <a:ext cx="4562475" cy="476250"/>
            <a:chOff x="1000125" y="6896100"/>
            <a:chExt cx="4562475" cy="476250"/>
          </a:xfrm>
        </p:grpSpPr>
        <p:sp>
          <p:nvSpPr>
            <p:cNvPr id="46" name="step_2_number">
              <a:extLst>
                <a:ext uri="{FF2B5EF4-FFF2-40B4-BE49-F238E27FC236}">
                  <a16:creationId xmlns:a16="http://schemas.microsoft.com/office/drawing/2014/main" id="{2477AB11-2328-455F-AE35-499A9288AEEB}"/>
                </a:ext>
              </a:extLst>
            </p:cNvPr>
            <p:cNvSpPr>
              <a:spLocks/>
            </p:cNvSpPr>
            <p:nvPr/>
          </p:nvSpPr>
          <p:spPr>
            <a:xfrm>
              <a:off x="1000125" y="69151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02</a:t>
              </a:r>
            </a:p>
          </p:txBody>
        </p:sp>
        <p:sp>
          <p:nvSpPr>
            <p:cNvPr id="47" name="step_2_text">
              <a:extLst>
                <a:ext uri="{FF2B5EF4-FFF2-40B4-BE49-F238E27FC236}">
                  <a16:creationId xmlns:a16="http://schemas.microsoft.com/office/drawing/2014/main" id="{515D167A-1740-4A43-B64E-6EA670BA46EC}"/>
                </a:ext>
              </a:extLst>
            </p:cNvPr>
            <p:cNvSpPr>
              <a:spLocks/>
            </p:cNvSpPr>
            <p:nvPr/>
          </p:nvSpPr>
          <p:spPr>
            <a:xfrm>
              <a:off x="1704975" y="68961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Analyse ciblée</a:t>
              </a:r>
            </a:p>
          </p:txBody>
        </p:sp>
      </p:grpSp>
      <p:grpSp>
        <p:nvGrpSpPr>
          <p:cNvPr id="60" name="anim_step_3">
            <a:extLst>
              <a:ext uri="{FF2B5EF4-FFF2-40B4-BE49-F238E27FC236}">
                <a16:creationId xmlns:a16="http://schemas.microsoft.com/office/drawing/2014/main" id="{4FA6E86B-7C08-8332-2CCC-DAB4E8FB3815}"/>
              </a:ext>
            </a:extLst>
          </p:cNvPr>
          <p:cNvGrpSpPr/>
          <p:nvPr/>
        </p:nvGrpSpPr>
        <p:grpSpPr>
          <a:xfrm>
            <a:off x="1000125" y="7581900"/>
            <a:ext cx="4562475" cy="476250"/>
            <a:chOff x="1000125" y="7581900"/>
            <a:chExt cx="4562475" cy="476250"/>
          </a:xfrm>
        </p:grpSpPr>
        <p:sp>
          <p:nvSpPr>
            <p:cNvPr id="48" name="step_3_number">
              <a:extLst>
                <a:ext uri="{FF2B5EF4-FFF2-40B4-BE49-F238E27FC236}">
                  <a16:creationId xmlns:a16="http://schemas.microsoft.com/office/drawing/2014/main" id="{0B91AF30-B182-49E3-B24A-DF9A9CB97FAD}"/>
                </a:ext>
              </a:extLst>
            </p:cNvPr>
            <p:cNvSpPr>
              <a:spLocks/>
            </p:cNvSpPr>
            <p:nvPr/>
          </p:nvSpPr>
          <p:spPr>
            <a:xfrm>
              <a:off x="1000125" y="76009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03</a:t>
              </a:r>
            </a:p>
          </p:txBody>
        </p:sp>
        <p:sp>
          <p:nvSpPr>
            <p:cNvPr id="49" name="step_3_text">
              <a:extLst>
                <a:ext uri="{FF2B5EF4-FFF2-40B4-BE49-F238E27FC236}">
                  <a16:creationId xmlns:a16="http://schemas.microsoft.com/office/drawing/2014/main" id="{2C2A0DC5-EBD4-4F93-B3EF-4DC47BDCF850}"/>
                </a:ext>
              </a:extLst>
            </p:cNvPr>
            <p:cNvSpPr>
              <a:spLocks/>
            </p:cNvSpPr>
            <p:nvPr/>
          </p:nvSpPr>
          <p:spPr>
            <a:xfrm>
              <a:off x="1704975" y="75819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Retour du score</a:t>
              </a:r>
            </a:p>
          </p:txBody>
        </p:sp>
      </p:grpSp>
      <p:grpSp>
        <p:nvGrpSpPr>
          <p:cNvPr id="61" name="anim_step_4">
            <a:extLst>
              <a:ext uri="{FF2B5EF4-FFF2-40B4-BE49-F238E27FC236}">
                <a16:creationId xmlns:a16="http://schemas.microsoft.com/office/drawing/2014/main" id="{C3992A4E-9616-AA3B-A348-6E9A3BA15F9F}"/>
              </a:ext>
            </a:extLst>
          </p:cNvPr>
          <p:cNvGrpSpPr/>
          <p:nvPr/>
        </p:nvGrpSpPr>
        <p:grpSpPr>
          <a:xfrm>
            <a:off x="1000125" y="8267700"/>
            <a:ext cx="4562475" cy="476250"/>
            <a:chOff x="1000125" y="8267700"/>
            <a:chExt cx="4562475" cy="476250"/>
          </a:xfrm>
        </p:grpSpPr>
        <p:sp>
          <p:nvSpPr>
            <p:cNvPr id="50" name="step_4_number">
              <a:extLst>
                <a:ext uri="{FF2B5EF4-FFF2-40B4-BE49-F238E27FC236}">
                  <a16:creationId xmlns:a16="http://schemas.microsoft.com/office/drawing/2014/main" id="{CE870C46-8520-4C38-91E7-4666AD9CC76F}"/>
                </a:ext>
              </a:extLst>
            </p:cNvPr>
            <p:cNvSpPr>
              <a:spLocks/>
            </p:cNvSpPr>
            <p:nvPr/>
          </p:nvSpPr>
          <p:spPr>
            <a:xfrm>
              <a:off x="1000125" y="82867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04</a:t>
              </a:r>
            </a:p>
          </p:txBody>
        </p:sp>
        <p:sp>
          <p:nvSpPr>
            <p:cNvPr id="51" name="step_4_text">
              <a:extLst>
                <a:ext uri="{FF2B5EF4-FFF2-40B4-BE49-F238E27FC236}">
                  <a16:creationId xmlns:a16="http://schemas.microsoft.com/office/drawing/2014/main" id="{58D352A0-B974-4093-822D-F36F41BAFBCA}"/>
                </a:ext>
              </a:extLst>
            </p:cNvPr>
            <p:cNvSpPr>
              <a:spLocks/>
            </p:cNvSpPr>
            <p:nvPr/>
          </p:nvSpPr>
          <p:spPr>
            <a:xfrm>
              <a:off x="1704975" y="82677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Deux issues possibles</a:t>
              </a:r>
            </a:p>
          </p:txBody>
        </p:sp>
      </p:grpSp>
      <p:sp>
        <p:nvSpPr>
          <p:cNvPr id="62" name="nav_architecture" descr="Revenir au schéma de l'architecture">
            <a:hlinkClick r:id="rId4" action="ppaction://hlinksldjump" tooltip="Revenir au schéma de l'architecture" highlightClick="1"/>
            <a:extLst>
              <a:ext uri="{FF2B5EF4-FFF2-40B4-BE49-F238E27FC236}">
                <a16:creationId xmlns:a16="http://schemas.microsoft.com/office/drawing/2014/main" id="{F05A5730-C8B7-3B37-2EF4-4BC4BB3814F3}"/>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63" name="nav_demonstrations" descr="Ouvrir la comparaison des parcours">
            <a:hlinkClick r:id="rId5" action="ppaction://hlinksldjump" tooltip="Ouvrir la comparaison des parcours" highlightClick="1"/>
            <a:extLst>
              <a:ext uri="{FF2B5EF4-FFF2-40B4-BE49-F238E27FC236}">
                <a16:creationId xmlns:a16="http://schemas.microsoft.com/office/drawing/2014/main" id="{7724002D-1560-4F62-38A4-3A8673CBBC31}"/>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64" name="nav_results" descr="Ouvrir les résultats et leurs limites">
            <a:hlinkClick r:id="rId6" action="ppaction://hlinksldjump" tooltip="Ouvrir les résultats et leurs limites" highlightClick="1"/>
            <a:extLst>
              <a:ext uri="{FF2B5EF4-FFF2-40B4-BE49-F238E27FC236}">
                <a16:creationId xmlns:a16="http://schemas.microsoft.com/office/drawing/2014/main" id="{3E38D73A-5C8A-807B-5D34-D438B1D804B8}"/>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extLst>
      <p:ext uri="{BB962C8B-B14F-4D97-AF65-F5344CB8AC3E}">
        <p14:creationId xmlns:p14="http://schemas.microsoft.com/office/powerpoint/2010/main" val="1622230802"/>
      </p:ext>
    </p:extLst>
  </p:cSld>
  <p:clrMapOvr>
    <a:masterClrMapping/>
  </p:clrMapOvr>
  <mc:AlternateContent xmlns:mc="http://schemas.openxmlformats.org/markup-compatibility/2006">
    <mc:Choice xmlns:p14="http://schemas.microsoft.com/office/powerpoint/2010/main" Requires="p14">
      <p:transition p14:dur="4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400"/>
                                        <p:tgtEl>
                                          <p:spTgt spid="53"/>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53"/>
                                        </p:tgtEl>
                                        <p:attrNameLst>
                                          <p:attrName>style.visibility</p:attrName>
                                        </p:attrNameLst>
                                      </p:cBhvr>
                                      <p:to>
                                        <p:strVal val="visible"/>
                                      </p:to>
                                    </p:set>
                                    <p:animMotion origin="layout" path="M 0 0.01296296 L 0 0 E" pathEditMode="relative">
                                      <p:cBhvr from="" to="">
                                        <p:cTn id="10" dur="500" fill="hold">
                                          <p:stCondLst>
                                            <p:cond delay="0"/>
                                          </p:stCondLst>
                                        </p:cTn>
                                        <p:tgtEl>
                                          <p:spTgt spid="53"/>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iterate type="lt">
                                    <p:tmPct val="10000"/>
                                  </p:iterate>
                                  <p:childTnLst>
                                    <p:set>
                                      <p:cBhvr>
                                        <p:cTn id="14" dur="1" fill="hold">
                                          <p:stCondLst>
                                            <p:cond delay="0"/>
                                          </p:stCondLst>
                                        </p:cTn>
                                        <p:tgtEl>
                                          <p:spTgt spid="27"/>
                                        </p:tgtEl>
                                        <p:attrNameLst>
                                          <p:attrName>style.visibility</p:attrName>
                                        </p:attrNameLst>
                                      </p:cBhvr>
                                      <p:to>
                                        <p:strVal val="visible"/>
                                      </p:to>
                                    </p:set>
                                    <p:animEffect transition="in" filter="fade">
                                      <p:cBhvr>
                                        <p:cTn id="15" dur="650"/>
                                        <p:tgtEl>
                                          <p:spTgt spid="27"/>
                                        </p:tgtEl>
                                      </p:cBhvr>
                                    </p:animEffect>
                                  </p:childTnLst>
                                </p:cTn>
                              </p:par>
                              <p:par>
                                <p:cTn id="16" presetID="10" presetClass="entr" presetSubtype="0" fill="hold" nodeType="withEffect">
                                  <p:stCondLst>
                                    <p:cond delay="0"/>
                                  </p:stCondLst>
                                  <p:childTnLst>
                                    <p:set>
                                      <p:cBhvr>
                                        <p:cTn id="17" dur="1" fill="hold">
                                          <p:stCondLst>
                                            <p:cond delay="0"/>
                                          </p:stCondLst>
                                        </p:cTn>
                                        <p:tgtEl>
                                          <p:spTgt spid="58"/>
                                        </p:tgtEl>
                                        <p:attrNameLst>
                                          <p:attrName>style.visibility</p:attrName>
                                        </p:attrNameLst>
                                      </p:cBhvr>
                                      <p:to>
                                        <p:strVal val="visible"/>
                                      </p:to>
                                    </p:set>
                                    <p:animEffect transition="in" filter="fade">
                                      <p:cBhvr>
                                        <p:cTn id="18" dur="350"/>
                                        <p:tgtEl>
                                          <p:spTgt spid="58"/>
                                        </p:tgtEl>
                                      </p:cBhvr>
                                    </p:animEffect>
                                  </p:childTnLst>
                                </p:cTn>
                              </p:par>
                              <p:par>
                                <p:cTn id="19" presetID="0" presetClass="entr" presetSubtype="0" accel="22000" decel="25000" fill="hold" nodeType="withEffect">
                                  <p:stCondLst>
                                    <p:cond delay="0"/>
                                  </p:stCondLst>
                                  <p:childTnLst>
                                    <p:set>
                                      <p:cBhvr>
                                        <p:cTn id="20" dur="1" fill="hold">
                                          <p:stCondLst>
                                            <p:cond delay="449"/>
                                          </p:stCondLst>
                                        </p:cTn>
                                        <p:tgtEl>
                                          <p:spTgt spid="58"/>
                                        </p:tgtEl>
                                        <p:attrNameLst>
                                          <p:attrName>style.visibility</p:attrName>
                                        </p:attrNameLst>
                                      </p:cBhvr>
                                      <p:to>
                                        <p:strVal val="visible"/>
                                      </p:to>
                                    </p:set>
                                    <p:animMotion origin="layout" path="M 0 0.01296296 L 0 0 E" pathEditMode="relative">
                                      <p:cBhvr from="" to="">
                                        <p:cTn id="21" dur="450" fill="hold">
                                          <p:stCondLst>
                                            <p:cond delay="0"/>
                                          </p:stCondLst>
                                        </p:cTn>
                                        <p:tgtEl>
                                          <p:spTgt spid="58"/>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300"/>
                                        <p:tgtEl>
                                          <p:spTgt spid="28"/>
                                        </p:tgtEl>
                                      </p:cBhvr>
                                    </p:animEffect>
                                  </p:childTnLst>
                                </p:cTn>
                              </p:par>
                            </p:childTnLst>
                          </p:cTn>
                        </p:par>
                        <p:par>
                          <p:cTn id="27" fill="hold">
                            <p:stCondLst>
                              <p:cond delay="300"/>
                            </p:stCondLst>
                            <p:childTnLst>
                              <p:par>
                                <p:cTn id="28" presetID="0" presetClass="entr" presetSubtype="0" accel="22000" decel="25000" fill="hold" grpId="1" nodeType="afterEffect">
                                  <p:stCondLst>
                                    <p:cond delay="0"/>
                                  </p:stCondLst>
                                  <p:childTnLst>
                                    <p:set>
                                      <p:cBhvr>
                                        <p:cTn id="29" dur="1" fill="hold">
                                          <p:stCondLst>
                                            <p:cond delay="719"/>
                                          </p:stCondLst>
                                        </p:cTn>
                                        <p:tgtEl>
                                          <p:spTgt spid="28"/>
                                        </p:tgtEl>
                                        <p:attrNameLst>
                                          <p:attrName>style.visibility</p:attrName>
                                        </p:attrNameLst>
                                      </p:cBhvr>
                                      <p:to>
                                        <p:strVal val="visible"/>
                                      </p:to>
                                    </p:set>
                                    <p:animMotion origin="layout" path="M 0 0 L 0.06041667 0 E" pathEditMode="relative">
                                      <p:cBhvr from="" to="">
                                        <p:cTn id="30" dur="720" fill="hold">
                                          <p:stCondLst>
                                            <p:cond delay="0"/>
                                          </p:stCondLst>
                                        </p:cTn>
                                        <p:tgtEl>
                                          <p:spTgt spid="28"/>
                                        </p:tgtEl>
                                        <p:attrNameLst>
                                          <p:attrName>ppt_x</p:attrName>
                                          <p:attrName>ppt_y</p:attrName>
                                        </p:attrNameLst>
                                      </p:cBhvr>
                                    </p:animMotion>
                                  </p:childTnLst>
                                </p:cTn>
                              </p:par>
                            </p:childTnLst>
                          </p:cTn>
                        </p:par>
                        <p:par>
                          <p:cTn id="31" fill="hold">
                            <p:stCondLst>
                              <p:cond delay="1020"/>
                            </p:stCondLst>
                            <p:childTnLst>
                              <p:par>
                                <p:cTn id="32" presetID="10" presetClass="exit" presetSubtype="0" fill="hold" grpId="2" nodeType="afterEffect">
                                  <p:stCondLst>
                                    <p:cond delay="0"/>
                                  </p:stCondLst>
                                  <p:childTnLst>
                                    <p:animEffect transition="out" filter="fade">
                                      <p:cBhvr>
                                        <p:cTn id="33" dur="500"/>
                                        <p:tgtEl>
                                          <p:spTgt spid="28"/>
                                        </p:tgtEl>
                                      </p:cBhvr>
                                    </p:animEffect>
                                    <p:set>
                                      <p:cBhvr>
                                        <p:cTn id="34" dur="1" fill="hold">
                                          <p:stCondLst>
                                            <p:cond delay="499"/>
                                          </p:stCondLst>
                                        </p:cTn>
                                        <p:tgtEl>
                                          <p:spTgt spid="28"/>
                                        </p:tgtEl>
                                        <p:attrNameLst>
                                          <p:attrName>style.visibility</p:attrName>
                                        </p:attrNameLst>
                                      </p:cBhvr>
                                      <p:to>
                                        <p:strVal val="hidden"/>
                                      </p:to>
                                    </p:set>
                                  </p:childTnLst>
                                </p:cTn>
                              </p:par>
                            </p:childTnLst>
                          </p:cTn>
                        </p:par>
                        <p:par>
                          <p:cTn id="35" fill="hold">
                            <p:stCondLst>
                              <p:cond delay="1520"/>
                            </p:stCondLst>
                            <p:childTnLst>
                              <p:par>
                                <p:cTn id="36" presetID="10" presetClass="entr" presetSubtype="0" fill="hold" grpId="0" nodeType="after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350"/>
                                        <p:tgtEl>
                                          <p:spTgt spid="29"/>
                                        </p:tgtEl>
                                      </p:cBhvr>
                                    </p:animEffect>
                                  </p:childTnLst>
                                </p:cTn>
                              </p:par>
                              <p:par>
                                <p:cTn id="39" presetID="0" presetClass="entr" presetSubtype="0" accel="22000" decel="25000" fill="hold" grpId="1" nodeType="withEffect">
                                  <p:stCondLst>
                                    <p:cond delay="0"/>
                                  </p:stCondLst>
                                  <p:childTnLst>
                                    <p:set>
                                      <p:cBhvr>
                                        <p:cTn id="40" dur="1" fill="hold">
                                          <p:stCondLst>
                                            <p:cond delay="449"/>
                                          </p:stCondLst>
                                        </p:cTn>
                                        <p:tgtEl>
                                          <p:spTgt spid="29"/>
                                        </p:tgtEl>
                                        <p:attrNameLst>
                                          <p:attrName>style.visibility</p:attrName>
                                        </p:attrNameLst>
                                      </p:cBhvr>
                                      <p:to>
                                        <p:strVal val="visible"/>
                                      </p:to>
                                    </p:set>
                                    <p:animMotion origin="layout" path="M 0 0.01296296 L 0 0 E" pathEditMode="relative">
                                      <p:cBhvr from="" to="">
                                        <p:cTn id="41" dur="450" fill="hold">
                                          <p:stCondLst>
                                            <p:cond delay="0"/>
                                          </p:stCondLst>
                                        </p:cTn>
                                        <p:tgtEl>
                                          <p:spTgt spid="29"/>
                                        </p:tgtEl>
                                        <p:attrNameLst>
                                          <p:attrName>ppt_x</p:attrName>
                                          <p:attrName>ppt_y</p:attrName>
                                        </p:attrNameLst>
                                      </p:cBhvr>
                                    </p:animMotion>
                                  </p:childTnLst>
                                </p:cTn>
                              </p:par>
                            </p:childTnLst>
                          </p:cTn>
                        </p:par>
                        <p:par>
                          <p:cTn id="42" fill="hold">
                            <p:stCondLst>
                              <p:cond delay="1970"/>
                            </p:stCondLst>
                            <p:childTnLst>
                              <p:par>
                                <p:cTn id="43" presetID="22" presetClass="entr" presetSubtype="4" fill="hold" nodeType="after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wipe(down)">
                                      <p:cBhvr>
                                        <p:cTn id="45" dur="500"/>
                                        <p:tgtEl>
                                          <p:spTgt spid="54"/>
                                        </p:tgtEl>
                                      </p:cBhvr>
                                    </p:animEffect>
                                  </p:childTnLst>
                                </p:cTn>
                              </p:par>
                              <p:par>
                                <p:cTn id="46" presetID="10" presetClass="entr" presetSubtype="0" fill="hold" nodeType="withEffect">
                                  <p:stCondLst>
                                    <p:cond delay="0"/>
                                  </p:stCondLst>
                                  <p:childTnLst>
                                    <p:set>
                                      <p:cBhvr>
                                        <p:cTn id="47" dur="1" fill="hold">
                                          <p:stCondLst>
                                            <p:cond delay="0"/>
                                          </p:stCondLst>
                                        </p:cTn>
                                        <p:tgtEl>
                                          <p:spTgt spid="59"/>
                                        </p:tgtEl>
                                        <p:attrNameLst>
                                          <p:attrName>style.visibility</p:attrName>
                                        </p:attrNameLst>
                                      </p:cBhvr>
                                      <p:to>
                                        <p:strVal val="visible"/>
                                      </p:to>
                                    </p:set>
                                    <p:animEffect transition="in" filter="fade">
                                      <p:cBhvr>
                                        <p:cTn id="48" dur="350"/>
                                        <p:tgtEl>
                                          <p:spTgt spid="59"/>
                                        </p:tgtEl>
                                      </p:cBhvr>
                                    </p:animEffect>
                                  </p:childTnLst>
                                </p:cTn>
                              </p:par>
                              <p:par>
                                <p:cTn id="49" presetID="0" presetClass="entr" presetSubtype="0" accel="22000" decel="25000" fill="hold" nodeType="withEffect">
                                  <p:stCondLst>
                                    <p:cond delay="0"/>
                                  </p:stCondLst>
                                  <p:childTnLst>
                                    <p:set>
                                      <p:cBhvr>
                                        <p:cTn id="50" dur="1" fill="hold">
                                          <p:stCondLst>
                                            <p:cond delay="449"/>
                                          </p:stCondLst>
                                        </p:cTn>
                                        <p:tgtEl>
                                          <p:spTgt spid="59"/>
                                        </p:tgtEl>
                                        <p:attrNameLst>
                                          <p:attrName>style.visibility</p:attrName>
                                        </p:attrNameLst>
                                      </p:cBhvr>
                                      <p:to>
                                        <p:strVal val="visible"/>
                                      </p:to>
                                    </p:set>
                                    <p:animMotion origin="layout" path="M 0 0.01296296 L 0 0 E" pathEditMode="relative">
                                      <p:cBhvr from="" to="">
                                        <p:cTn id="51" dur="450" fill="hold">
                                          <p:stCondLst>
                                            <p:cond delay="0"/>
                                          </p:stCondLst>
                                        </p:cTn>
                                        <p:tgtEl>
                                          <p:spTgt spid="59"/>
                                        </p:tgtEl>
                                        <p:attrNameLst>
                                          <p:attrName>ppt_x</p:attrName>
                                          <p:attrName>ppt_y</p:attrName>
                                        </p:attrNameLst>
                                      </p:cBhvr>
                                    </p:animMotion>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300"/>
                                        <p:tgtEl>
                                          <p:spTgt spid="34"/>
                                        </p:tgtEl>
                                      </p:cBhvr>
                                    </p:animEffect>
                                  </p:childTnLst>
                                </p:cTn>
                              </p:par>
                            </p:childTnLst>
                          </p:cTn>
                        </p:par>
                        <p:par>
                          <p:cTn id="57" fill="hold">
                            <p:stCondLst>
                              <p:cond delay="300"/>
                            </p:stCondLst>
                            <p:childTnLst>
                              <p:par>
                                <p:cTn id="58" presetID="0" presetClass="entr" presetSubtype="0" accel="22000" decel="25000" fill="hold" grpId="1" nodeType="afterEffect">
                                  <p:stCondLst>
                                    <p:cond delay="0"/>
                                  </p:stCondLst>
                                  <p:childTnLst>
                                    <p:set>
                                      <p:cBhvr>
                                        <p:cTn id="59" dur="1" fill="hold">
                                          <p:stCondLst>
                                            <p:cond delay="649"/>
                                          </p:stCondLst>
                                        </p:cTn>
                                        <p:tgtEl>
                                          <p:spTgt spid="34"/>
                                        </p:tgtEl>
                                        <p:attrNameLst>
                                          <p:attrName>style.visibility</p:attrName>
                                        </p:attrNameLst>
                                      </p:cBhvr>
                                      <p:to>
                                        <p:strVal val="visible"/>
                                      </p:to>
                                    </p:set>
                                    <p:animMotion origin="layout" path="M 0 0 L 0.05208333 0 E" pathEditMode="relative">
                                      <p:cBhvr from="" to="">
                                        <p:cTn id="60" dur="650" fill="hold">
                                          <p:stCondLst>
                                            <p:cond delay="0"/>
                                          </p:stCondLst>
                                        </p:cTn>
                                        <p:tgtEl>
                                          <p:spTgt spid="34"/>
                                        </p:tgtEl>
                                        <p:attrNameLst>
                                          <p:attrName>ppt_x</p:attrName>
                                          <p:attrName>ppt_y</p:attrName>
                                        </p:attrNameLst>
                                      </p:cBhvr>
                                    </p:animMotion>
                                  </p:childTnLst>
                                </p:cTn>
                              </p:par>
                            </p:childTnLst>
                          </p:cTn>
                        </p:par>
                        <p:par>
                          <p:cTn id="61" fill="hold">
                            <p:stCondLst>
                              <p:cond delay="950"/>
                            </p:stCondLst>
                            <p:childTnLst>
                              <p:par>
                                <p:cTn id="62" presetID="10" presetClass="exit" presetSubtype="0" fill="hold" grpId="2" nodeType="afterEffect">
                                  <p:stCondLst>
                                    <p:cond delay="0"/>
                                  </p:stCondLst>
                                  <p:childTnLst>
                                    <p:animEffect transition="out" filter="fade">
                                      <p:cBhvr>
                                        <p:cTn id="63" dur="500"/>
                                        <p:tgtEl>
                                          <p:spTgt spid="34"/>
                                        </p:tgtEl>
                                      </p:cBhvr>
                                    </p:animEffect>
                                    <p:set>
                                      <p:cBhvr>
                                        <p:cTn id="64" dur="1" fill="hold">
                                          <p:stCondLst>
                                            <p:cond delay="499"/>
                                          </p:stCondLst>
                                        </p:cTn>
                                        <p:tgtEl>
                                          <p:spTgt spid="34"/>
                                        </p:tgtEl>
                                        <p:attrNameLst>
                                          <p:attrName>style.visibility</p:attrName>
                                        </p:attrNameLst>
                                      </p:cBhvr>
                                      <p:to>
                                        <p:strVal val="hidden"/>
                                      </p:to>
                                    </p:set>
                                  </p:childTnLst>
                                </p:cTn>
                              </p:par>
                            </p:childTnLst>
                          </p:cTn>
                        </p:par>
                        <p:par>
                          <p:cTn id="65" fill="hold">
                            <p:stCondLst>
                              <p:cond delay="1450"/>
                            </p:stCondLst>
                            <p:childTnLst>
                              <p:par>
                                <p:cTn id="66" presetID="10" presetClass="entr" presetSubtype="0" fill="hold" nodeType="after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fade">
                                      <p:cBhvr>
                                        <p:cTn id="68" dur="350"/>
                                        <p:tgtEl>
                                          <p:spTgt spid="55"/>
                                        </p:tgtEl>
                                      </p:cBhvr>
                                    </p:animEffect>
                                  </p:childTnLst>
                                </p:cTn>
                              </p:par>
                              <p:par>
                                <p:cTn id="69" presetID="0" presetClass="entr" presetSubtype="0" accel="22000" decel="25000" fill="hold" nodeType="withEffect">
                                  <p:stCondLst>
                                    <p:cond delay="0"/>
                                  </p:stCondLst>
                                  <p:childTnLst>
                                    <p:set>
                                      <p:cBhvr>
                                        <p:cTn id="70" dur="1" fill="hold">
                                          <p:stCondLst>
                                            <p:cond delay="449"/>
                                          </p:stCondLst>
                                        </p:cTn>
                                        <p:tgtEl>
                                          <p:spTgt spid="55"/>
                                        </p:tgtEl>
                                        <p:attrNameLst>
                                          <p:attrName>style.visibility</p:attrName>
                                        </p:attrNameLst>
                                      </p:cBhvr>
                                      <p:to>
                                        <p:strVal val="visible"/>
                                      </p:to>
                                    </p:set>
                                    <p:animMotion origin="layout" path="M 0 0.01296296 L 0 0 E" pathEditMode="relative">
                                      <p:cBhvr from="" to="">
                                        <p:cTn id="71" dur="450" fill="hold">
                                          <p:stCondLst>
                                            <p:cond delay="0"/>
                                          </p:stCondLst>
                                        </p:cTn>
                                        <p:tgtEl>
                                          <p:spTgt spid="55"/>
                                        </p:tgtEl>
                                        <p:attrNameLst>
                                          <p:attrName>ppt_x</p:attrName>
                                          <p:attrName>ppt_y</p:attrName>
                                        </p:attrNameLst>
                                      </p:cBhvr>
                                    </p:animMotion>
                                  </p:childTnLst>
                                </p:cTn>
                              </p:par>
                              <p:par>
                                <p:cTn id="72" presetID="10" presetClass="entr" presetSubtype="0" fill="hold" nodeType="withEffect">
                                  <p:stCondLst>
                                    <p:cond delay="0"/>
                                  </p:stCondLst>
                                  <p:childTnLst>
                                    <p:set>
                                      <p:cBhvr>
                                        <p:cTn id="73" dur="1" fill="hold">
                                          <p:stCondLst>
                                            <p:cond delay="0"/>
                                          </p:stCondLst>
                                        </p:cTn>
                                        <p:tgtEl>
                                          <p:spTgt spid="60"/>
                                        </p:tgtEl>
                                        <p:attrNameLst>
                                          <p:attrName>style.visibility</p:attrName>
                                        </p:attrNameLst>
                                      </p:cBhvr>
                                      <p:to>
                                        <p:strVal val="visible"/>
                                      </p:to>
                                    </p:set>
                                    <p:animEffect transition="in" filter="fade">
                                      <p:cBhvr>
                                        <p:cTn id="74" dur="350"/>
                                        <p:tgtEl>
                                          <p:spTgt spid="60"/>
                                        </p:tgtEl>
                                      </p:cBhvr>
                                    </p:animEffect>
                                  </p:childTnLst>
                                </p:cTn>
                              </p:par>
                              <p:par>
                                <p:cTn id="75" presetID="0" presetClass="entr" presetSubtype="0" accel="22000" decel="25000" fill="hold" nodeType="withEffect">
                                  <p:stCondLst>
                                    <p:cond delay="0"/>
                                  </p:stCondLst>
                                  <p:childTnLst>
                                    <p:set>
                                      <p:cBhvr>
                                        <p:cTn id="76" dur="1" fill="hold">
                                          <p:stCondLst>
                                            <p:cond delay="449"/>
                                          </p:stCondLst>
                                        </p:cTn>
                                        <p:tgtEl>
                                          <p:spTgt spid="60"/>
                                        </p:tgtEl>
                                        <p:attrNameLst>
                                          <p:attrName>style.visibility</p:attrName>
                                        </p:attrNameLst>
                                      </p:cBhvr>
                                      <p:to>
                                        <p:strVal val="visible"/>
                                      </p:to>
                                    </p:set>
                                    <p:animMotion origin="layout" path="M 0 0.01296296 L 0 0 E" pathEditMode="relative">
                                      <p:cBhvr from="" to="">
                                        <p:cTn id="77" dur="450" fill="hold">
                                          <p:stCondLst>
                                            <p:cond delay="0"/>
                                          </p:stCondLst>
                                        </p:cTn>
                                        <p:tgtEl>
                                          <p:spTgt spid="60"/>
                                        </p:tgtEl>
                                        <p:attrNameLst>
                                          <p:attrName>ppt_x</p:attrName>
                                          <p:attrName>ppt_y</p:attrName>
                                        </p:attrNameLst>
                                      </p:cBhvr>
                                    </p:animMotion>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wipe(down)">
                                      <p:cBhvr>
                                        <p:cTn id="82" dur="500"/>
                                        <p:tgtEl>
                                          <p:spTgt spid="56"/>
                                        </p:tgtEl>
                                      </p:cBhvr>
                                    </p:animEffect>
                                  </p:childTnLst>
                                </p:cTn>
                              </p:par>
                              <p:par>
                                <p:cTn id="83" presetID="22" presetClass="entr" presetSubtype="1" fill="hold" nodeType="with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wipe(up)">
                                      <p:cBhvr>
                                        <p:cTn id="85" dur="500"/>
                                        <p:tgtEl>
                                          <p:spTgt spid="57"/>
                                        </p:tgtEl>
                                      </p:cBhvr>
                                    </p:animEffect>
                                  </p:childTnLst>
                                </p:cTn>
                              </p:par>
                            </p:childTnLst>
                          </p:cTn>
                        </p:par>
                        <p:par>
                          <p:cTn id="86" fill="hold">
                            <p:stCondLst>
                              <p:cond delay="500"/>
                            </p:stCondLst>
                            <p:childTnLst>
                              <p:par>
                                <p:cTn id="87" presetID="10" presetClass="entr" presetSubtype="0" fill="hold" grpId="0" nodeType="after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fade">
                                      <p:cBhvr>
                                        <p:cTn id="89" dur="350"/>
                                        <p:tgtEl>
                                          <p:spTgt spid="43"/>
                                        </p:tgtEl>
                                      </p:cBhvr>
                                    </p:animEffect>
                                  </p:childTnLst>
                                </p:cTn>
                              </p:par>
                              <p:par>
                                <p:cTn id="90" presetID="0" presetClass="entr" presetSubtype="0" accel="22000" decel="25000" fill="hold" grpId="1" nodeType="withEffect">
                                  <p:stCondLst>
                                    <p:cond delay="0"/>
                                  </p:stCondLst>
                                  <p:childTnLst>
                                    <p:set>
                                      <p:cBhvr>
                                        <p:cTn id="91" dur="1" fill="hold">
                                          <p:stCondLst>
                                            <p:cond delay="449"/>
                                          </p:stCondLst>
                                        </p:cTn>
                                        <p:tgtEl>
                                          <p:spTgt spid="43"/>
                                        </p:tgtEl>
                                        <p:attrNameLst>
                                          <p:attrName>style.visibility</p:attrName>
                                        </p:attrNameLst>
                                      </p:cBhvr>
                                      <p:to>
                                        <p:strVal val="visible"/>
                                      </p:to>
                                    </p:set>
                                    <p:animMotion origin="layout" path="M 0 0.01296296 L 0 0 E" pathEditMode="relative">
                                      <p:cBhvr from="" to="">
                                        <p:cTn id="92" dur="450" fill="hold">
                                          <p:stCondLst>
                                            <p:cond delay="0"/>
                                          </p:stCondLst>
                                        </p:cTn>
                                        <p:tgtEl>
                                          <p:spTgt spid="43"/>
                                        </p:tgtEl>
                                        <p:attrNameLst>
                                          <p:attrName>ppt_x</p:attrName>
                                          <p:attrName>ppt_y</p:attrName>
                                        </p:attrNameLst>
                                      </p:cBhvr>
                                    </p:animMotion>
                                  </p:childTnLst>
                                </p:cTn>
                              </p:par>
                              <p:par>
                                <p:cTn id="93" presetID="10" presetClass="entr" presetSubtype="0" fill="hold" nodeType="withEffect">
                                  <p:stCondLst>
                                    <p:cond delay="0"/>
                                  </p:stCondLst>
                                  <p:childTnLst>
                                    <p:set>
                                      <p:cBhvr>
                                        <p:cTn id="94" dur="1" fill="hold">
                                          <p:stCondLst>
                                            <p:cond delay="0"/>
                                          </p:stCondLst>
                                        </p:cTn>
                                        <p:tgtEl>
                                          <p:spTgt spid="61"/>
                                        </p:tgtEl>
                                        <p:attrNameLst>
                                          <p:attrName>style.visibility</p:attrName>
                                        </p:attrNameLst>
                                      </p:cBhvr>
                                      <p:to>
                                        <p:strVal val="visible"/>
                                      </p:to>
                                    </p:set>
                                    <p:animEffect transition="in" filter="fade">
                                      <p:cBhvr>
                                        <p:cTn id="95" dur="350"/>
                                        <p:tgtEl>
                                          <p:spTgt spid="61"/>
                                        </p:tgtEl>
                                      </p:cBhvr>
                                    </p:animEffect>
                                  </p:childTnLst>
                                </p:cTn>
                              </p:par>
                              <p:par>
                                <p:cTn id="96" presetID="0" presetClass="entr" presetSubtype="0" accel="22000" decel="25000" fill="hold" nodeType="withEffect">
                                  <p:stCondLst>
                                    <p:cond delay="0"/>
                                  </p:stCondLst>
                                  <p:childTnLst>
                                    <p:set>
                                      <p:cBhvr>
                                        <p:cTn id="97" dur="1" fill="hold">
                                          <p:stCondLst>
                                            <p:cond delay="449"/>
                                          </p:stCondLst>
                                        </p:cTn>
                                        <p:tgtEl>
                                          <p:spTgt spid="61"/>
                                        </p:tgtEl>
                                        <p:attrNameLst>
                                          <p:attrName>style.visibility</p:attrName>
                                        </p:attrNameLst>
                                      </p:cBhvr>
                                      <p:to>
                                        <p:strVal val="visible"/>
                                      </p:to>
                                    </p:set>
                                    <p:animMotion origin="layout" path="M 0 0.01296296 L 0 0 E" pathEditMode="relative">
                                      <p:cBhvr from="" to="">
                                        <p:cTn id="98" dur="450" fill="hold">
                                          <p:stCondLst>
                                            <p:cond delay="0"/>
                                          </p:stCondLst>
                                        </p:cTn>
                                        <p:tgtEl>
                                          <p:spTgt spid="6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P spid="28" grpId="1" animBg="1"/>
      <p:bldP spid="28" grpId="2" animBg="1"/>
      <p:bldP spid="29" grpId="0"/>
      <p:bldP spid="29" grpId="1"/>
      <p:bldP spid="34" grpId="0" animBg="1"/>
      <p:bldP spid="34" grpId="1" animBg="1"/>
      <p:bldP spid="34" grpId="2" animBg="1"/>
      <p:bldP spid="43" grpId="0"/>
      <p:bldP spid="43"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0" name="top_band">
            <a:extLst>
              <a:ext uri="{FF2B5EF4-FFF2-40B4-BE49-F238E27FC236}">
                <a16:creationId xmlns:a16="http://schemas.microsoft.com/office/drawing/2014/main" id="{4BA30FA8-4ACB-485B-B81F-06E88110613B}"/>
              </a:ext>
            </a:extLst>
          </p:cNvPr>
          <p:cNvSpPr>
            <a:spLocks/>
          </p:cNvSpPr>
          <p:nvPr/>
        </p:nvSpPr>
        <p:spPr>
          <a:xfrm>
            <a:off x="0" y="0"/>
            <a:ext cx="18288000" cy="114300"/>
          </a:xfrm>
          <a:prstGeom prst="rect">
            <a:avLst/>
          </a:prstGeom>
          <a:solidFill>
            <a:srgbClr val="285C4D"/>
          </a:solidFill>
          <a:ln w="9525">
            <a:noFill/>
            <a:prstDash val="solid"/>
          </a:ln>
        </p:spPr>
      </p:sp>
      <p:sp>
        <p:nvSpPr>
          <p:cNvPr id="2" name="brand">
            <a:hlinkClick r:id="rId3" action="ppaction://hlinksldjump" tooltip="Retour à l'accueil JNC" highlightClick="1"/>
            <a:extLst>
              <a:ext uri="{FF2B5EF4-FFF2-40B4-BE49-F238E27FC236}">
                <a16:creationId xmlns:a16="http://schemas.microsoft.com/office/drawing/2014/main" id="{D663F53A-A19F-4A7B-A8B7-382CAB0447A6}"/>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7B53351E-0554-4F7C-B7C4-2A241DBFF938}"/>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ÉVALUATION</a:t>
            </a:r>
          </a:p>
        </p:txBody>
      </p:sp>
      <p:sp>
        <p:nvSpPr>
          <p:cNvPr id="4" name="folio">
            <a:extLst>
              <a:ext uri="{FF2B5EF4-FFF2-40B4-BE49-F238E27FC236}">
                <a16:creationId xmlns:a16="http://schemas.microsoft.com/office/drawing/2014/main" id="{EF7D01E8-DC07-41AF-881A-88CD0F68060E}"/>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8 / 9</a:t>
            </a:r>
          </a:p>
        </p:txBody>
      </p:sp>
      <p:grpSp>
        <p:nvGrpSpPr>
          <p:cNvPr id="21" name="anim_heading">
            <a:extLst>
              <a:ext uri="{FF2B5EF4-FFF2-40B4-BE49-F238E27FC236}">
                <a16:creationId xmlns:a16="http://schemas.microsoft.com/office/drawing/2014/main" id="{31C541A6-7165-6904-46BC-ED018E12986C}"/>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A5066ED7-DE9B-47DE-8A01-88BFDE0C4D4D}"/>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Résultats</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et limites</a:t>
              </a:r>
            </a:p>
          </p:txBody>
        </p:sp>
        <p:sp>
          <p:nvSpPr>
            <p:cNvPr id="6" name="summary">
              <a:extLst>
                <a:ext uri="{FF2B5EF4-FFF2-40B4-BE49-F238E27FC236}">
                  <a16:creationId xmlns:a16="http://schemas.microsoft.com/office/drawing/2014/main" id="{F3ADA8EE-FED5-4630-B5F8-AC91F037DC35}"/>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Une mesure reproductible sur une capture précise. Une validation indépendante reste nécessaire.</a:t>
              </a:r>
            </a:p>
          </p:txBody>
        </p:sp>
      </p:grpSp>
      <p:sp>
        <p:nvSpPr>
          <p:cNvPr id="7" name="footer_rule">
            <a:extLst>
              <a:ext uri="{FF2B5EF4-FFF2-40B4-BE49-F238E27FC236}">
                <a16:creationId xmlns:a16="http://schemas.microsoft.com/office/drawing/2014/main" id="{328C1264-738F-4AB8-BE08-A6F6FE40FBB5}"/>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4D1AD946-DBB0-47C0-AAAC-4B759F46E42A}"/>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Rapport du modèle v2 livré. SR-BH 2020, un honeypot sur 12 jours. Ces résultats ne garantissent pas une efficacité en production.</a:t>
            </a:r>
          </a:p>
        </p:txBody>
      </p:sp>
      <p:grpSp>
        <p:nvGrpSpPr>
          <p:cNvPr id="22" name="anim_capture">
            <a:extLst>
              <a:ext uri="{FF2B5EF4-FFF2-40B4-BE49-F238E27FC236}">
                <a16:creationId xmlns:a16="http://schemas.microsoft.com/office/drawing/2014/main" id="{30EA7F48-2581-B44B-1609-BE950236F521}"/>
              </a:ext>
            </a:extLst>
          </p:cNvPr>
          <p:cNvGrpSpPr/>
          <p:nvPr/>
        </p:nvGrpSpPr>
        <p:grpSpPr>
          <a:xfrm>
            <a:off x="6572250" y="1905000"/>
            <a:ext cx="10572750" cy="2266950"/>
            <a:chOff x="6572250" y="1905000"/>
            <a:chExt cx="10572750" cy="2266950"/>
          </a:xfrm>
        </p:grpSpPr>
        <p:sp>
          <p:nvSpPr>
            <p:cNvPr id="9" name="capture_n">
              <a:extLst>
                <a:ext uri="{FF2B5EF4-FFF2-40B4-BE49-F238E27FC236}">
                  <a16:creationId xmlns:a16="http://schemas.microsoft.com/office/drawing/2014/main" id="{C48355F7-C163-4CA8-B8D7-8BFF130FEF80}"/>
                </a:ext>
              </a:extLst>
            </p:cNvPr>
            <p:cNvSpPr>
              <a:spLocks/>
            </p:cNvSpPr>
            <p:nvPr/>
          </p:nvSpPr>
          <p:spPr>
            <a:xfrm>
              <a:off x="6572250" y="1905000"/>
              <a:ext cx="10572750" cy="1685925"/>
            </a:xfrm>
            <a:prstGeom prst="rect">
              <a:avLst/>
            </a:prstGeom>
            <a:noFill/>
            <a:ln w="9525">
              <a:noFill/>
              <a:prstDash val="solid"/>
            </a:ln>
          </p:spPr>
          <p:txBody>
            <a:bodyPr wrap="square" lIns="0" tIns="0" rIns="0" bIns="0" anchor="ctr">
              <a:noAutofit/>
            </a:bodyPr>
            <a:lstStyle>
              <a:defPPr algn="l">
                <a:defRPr sz="10950" b="1">
                  <a:solidFill>
                    <a:srgbClr val="285C4D"/>
                  </a:solidFill>
                  <a:latin typeface="Century Gothic"/>
                  <a:ea typeface="Century Gothic"/>
                  <a:cs typeface="Century Gothic"/>
                </a:defRPr>
              </a:defPPr>
            </a:lstStyle>
            <a:p>
              <a:pPr algn="l">
                <a:defRPr sz="10950" b="1">
                  <a:solidFill>
                    <a:srgbClr val="285C4D"/>
                  </a:solidFill>
                  <a:latin typeface="Century Gothic"/>
                  <a:ea typeface="Century Gothic"/>
                  <a:cs typeface="Century Gothic"/>
                </a:defRPr>
              </a:pPr>
              <a:r>
                <a:rPr sz="10950" b="1">
                  <a:solidFill>
                    <a:srgbClr val="285C4D"/>
                  </a:solidFill>
                  <a:latin typeface="Century Gothic"/>
                  <a:ea typeface="Century Gothic"/>
                  <a:cs typeface="Century Gothic"/>
                </a:rPr>
                <a:t>775 506</a:t>
              </a:r>
            </a:p>
          </p:txBody>
        </p:sp>
        <p:sp>
          <p:nvSpPr>
            <p:cNvPr id="10" name="capture_label">
              <a:extLst>
                <a:ext uri="{FF2B5EF4-FFF2-40B4-BE49-F238E27FC236}">
                  <a16:creationId xmlns:a16="http://schemas.microsoft.com/office/drawing/2014/main" id="{FCAFD3F6-F9AC-475D-9FDC-8D3D3FCA6400}"/>
                </a:ext>
              </a:extLst>
            </p:cNvPr>
            <p:cNvSpPr>
              <a:spLocks/>
            </p:cNvSpPr>
            <p:nvPr/>
          </p:nvSpPr>
          <p:spPr>
            <a:xfrm>
              <a:off x="6638925" y="3638550"/>
              <a:ext cx="10477500" cy="533400"/>
            </a:xfrm>
            <a:prstGeom prst="rect">
              <a:avLst/>
            </a:prstGeom>
            <a:noFill/>
            <a:ln w="9525">
              <a:noFill/>
              <a:prstDash val="solid"/>
            </a:ln>
          </p:spPr>
          <p:txBody>
            <a:bodyPr wrap="square" lIns="0" tIns="0" rIns="0" bIns="0" anchor="ctr">
              <a:noAutofit/>
            </a:bodyPr>
            <a:lstStyle>
              <a:defPPr algn="l">
                <a:defRPr sz="2550" b="0">
                  <a:solidFill>
                    <a:srgbClr val="637368"/>
                  </a:solidFill>
                  <a:latin typeface="Segoe UI"/>
                  <a:ea typeface="Segoe UI"/>
                  <a:cs typeface="Segoe UI"/>
                </a:defRPr>
              </a:defPPr>
            </a:lstStyle>
            <a:p>
              <a:pPr algn="l">
                <a:defRPr sz="2550" b="0">
                  <a:solidFill>
                    <a:srgbClr val="637368"/>
                  </a:solidFill>
                  <a:latin typeface="Segoe UI"/>
                  <a:ea typeface="Segoe UI"/>
                  <a:cs typeface="Segoe UI"/>
                </a:defRPr>
              </a:pPr>
              <a:r>
                <a:rPr sz="2550" b="0">
                  <a:solidFill>
                    <a:srgbClr val="637368"/>
                  </a:solidFill>
                  <a:latin typeface="Segoe UI"/>
                  <a:ea typeface="Segoe UI"/>
                  <a:cs typeface="Segoe UI"/>
                </a:rPr>
                <a:t>requêtes normales ou SQLi évaluées</a:t>
              </a:r>
            </a:p>
          </p:txBody>
        </p:sp>
      </p:grpSp>
      <p:grpSp>
        <p:nvGrpSpPr>
          <p:cNvPr id="23" name="anim_metrics">
            <a:extLst>
              <a:ext uri="{FF2B5EF4-FFF2-40B4-BE49-F238E27FC236}">
                <a16:creationId xmlns:a16="http://schemas.microsoft.com/office/drawing/2014/main" id="{1C56FCFF-09F5-8B11-D06B-8B3743FA371F}"/>
              </a:ext>
            </a:extLst>
          </p:cNvPr>
          <p:cNvGrpSpPr/>
          <p:nvPr/>
        </p:nvGrpSpPr>
        <p:grpSpPr>
          <a:xfrm>
            <a:off x="6572250" y="4619625"/>
            <a:ext cx="10572750" cy="1866900"/>
            <a:chOff x="6572250" y="4619625"/>
            <a:chExt cx="10572750" cy="1866900"/>
          </a:xfrm>
        </p:grpSpPr>
        <p:sp>
          <p:nvSpPr>
            <p:cNvPr id="11" name="f1_value">
              <a:extLst>
                <a:ext uri="{FF2B5EF4-FFF2-40B4-BE49-F238E27FC236}">
                  <a16:creationId xmlns:a16="http://schemas.microsoft.com/office/drawing/2014/main" id="{5B8FA97B-A15E-41D7-9BD6-27FB4E760BE0}"/>
                </a:ext>
              </a:extLst>
            </p:cNvPr>
            <p:cNvSpPr>
              <a:spLocks/>
            </p:cNvSpPr>
            <p:nvPr/>
          </p:nvSpPr>
          <p:spPr>
            <a:xfrm>
              <a:off x="6572250" y="4619625"/>
              <a:ext cx="4810125" cy="1238250"/>
            </a:xfrm>
            <a:prstGeom prst="rect">
              <a:avLst/>
            </a:prstGeom>
            <a:noFill/>
            <a:ln w="9525">
              <a:noFill/>
              <a:prstDash val="solid"/>
            </a:ln>
          </p:spPr>
          <p:txBody>
            <a:bodyPr wrap="square" lIns="0" tIns="0" rIns="0" bIns="0" anchor="ctr">
              <a:noAutofit/>
            </a:bodyPr>
            <a:lstStyle>
              <a:defPPr algn="l">
                <a:defRPr sz="8250" b="1">
                  <a:solidFill>
                    <a:srgbClr val="285C4D"/>
                  </a:solidFill>
                  <a:latin typeface="Century Gothic"/>
                  <a:ea typeface="Century Gothic"/>
                  <a:cs typeface="Century Gothic"/>
                </a:defRPr>
              </a:defPPr>
            </a:lstStyle>
            <a:p>
              <a:pPr algn="l">
                <a:defRPr sz="8250" b="1">
                  <a:solidFill>
                    <a:srgbClr val="285C4D"/>
                  </a:solidFill>
                  <a:latin typeface="Century Gothic"/>
                  <a:ea typeface="Century Gothic"/>
                  <a:cs typeface="Century Gothic"/>
                </a:defRPr>
              </a:pPr>
              <a:r>
                <a:rPr sz="8250" b="1">
                  <a:solidFill>
                    <a:srgbClr val="285C4D"/>
                  </a:solidFill>
                  <a:latin typeface="Century Gothic"/>
                  <a:ea typeface="Century Gothic"/>
                  <a:cs typeface="Century Gothic"/>
                </a:rPr>
                <a:t>0,862</a:t>
              </a:r>
            </a:p>
          </p:txBody>
        </p:sp>
        <p:sp>
          <p:nvSpPr>
            <p:cNvPr id="12" name="f1_label">
              <a:extLst>
                <a:ext uri="{FF2B5EF4-FFF2-40B4-BE49-F238E27FC236}">
                  <a16:creationId xmlns:a16="http://schemas.microsoft.com/office/drawing/2014/main" id="{5AD0F8EF-8C69-43F9-8305-FD636AFB582D}"/>
                </a:ext>
              </a:extLst>
            </p:cNvPr>
            <p:cNvSpPr>
              <a:spLocks/>
            </p:cNvSpPr>
            <p:nvPr/>
          </p:nvSpPr>
          <p:spPr>
            <a:xfrm>
              <a:off x="6667500" y="6010275"/>
              <a:ext cx="4552950" cy="476250"/>
            </a:xfrm>
            <a:prstGeom prst="rect">
              <a:avLst/>
            </a:prstGeom>
            <a:noFill/>
            <a:ln w="9525">
              <a:noFill/>
              <a:prstDash val="solid"/>
            </a:ln>
          </p:spPr>
          <p:txBody>
            <a:bodyPr wrap="square" lIns="0" tIns="0" rIns="0" bIns="0" anchor="ctr">
              <a:noAutofit/>
            </a:bodyPr>
            <a:lstStyle>
              <a:defPPr algn="l">
                <a:defRPr sz="2325" b="1">
                  <a:solidFill>
                    <a:srgbClr val="213D30"/>
                  </a:solidFill>
                  <a:latin typeface="Segoe UI"/>
                  <a:ea typeface="Segoe UI"/>
                  <a:cs typeface="Segoe UI"/>
                </a:defRPr>
              </a:defPPr>
            </a:lstStyle>
            <a:p>
              <a:pPr algn="l">
                <a:defRPr sz="2325" b="1">
                  <a:solidFill>
                    <a:srgbClr val="213D30"/>
                  </a:solidFill>
                  <a:latin typeface="Segoe UI"/>
                  <a:ea typeface="Segoe UI"/>
                  <a:cs typeface="Segoe UI"/>
                </a:defRPr>
              </a:pPr>
              <a:r>
                <a:rPr sz="2325" b="1">
                  <a:solidFill>
                    <a:srgbClr val="213D30"/>
                  </a:solidFill>
                  <a:latin typeface="Segoe UI"/>
                  <a:ea typeface="Segoe UI"/>
                  <a:cs typeface="Segoe UI"/>
                </a:rPr>
                <a:t>F1 du MLP seul</a:t>
              </a:r>
            </a:p>
          </p:txBody>
        </p:sp>
        <p:sp>
          <p:nvSpPr>
            <p:cNvPr id="13" name="recall_value">
              <a:extLst>
                <a:ext uri="{FF2B5EF4-FFF2-40B4-BE49-F238E27FC236}">
                  <a16:creationId xmlns:a16="http://schemas.microsoft.com/office/drawing/2014/main" id="{A7BB345C-899C-4F0D-A576-C3D665C0C5C2}"/>
                </a:ext>
              </a:extLst>
            </p:cNvPr>
            <p:cNvSpPr>
              <a:spLocks/>
            </p:cNvSpPr>
            <p:nvPr/>
          </p:nvSpPr>
          <p:spPr>
            <a:xfrm>
              <a:off x="12287250" y="4619625"/>
              <a:ext cx="4762500" cy="1238250"/>
            </a:xfrm>
            <a:prstGeom prst="rect">
              <a:avLst/>
            </a:prstGeom>
            <a:noFill/>
            <a:ln w="9525">
              <a:noFill/>
              <a:prstDash val="solid"/>
            </a:ln>
          </p:spPr>
          <p:txBody>
            <a:bodyPr wrap="square" lIns="0" tIns="0" rIns="0" bIns="0" anchor="ctr">
              <a:noAutofit/>
            </a:bodyPr>
            <a:lstStyle>
              <a:defPPr algn="l">
                <a:defRPr sz="8250" b="1">
                  <a:solidFill>
                    <a:srgbClr val="285C4D"/>
                  </a:solidFill>
                  <a:latin typeface="Century Gothic"/>
                  <a:ea typeface="Century Gothic"/>
                  <a:cs typeface="Century Gothic"/>
                </a:defRPr>
              </a:defPPr>
            </a:lstStyle>
            <a:p>
              <a:pPr algn="l">
                <a:defRPr sz="8250" b="1">
                  <a:solidFill>
                    <a:srgbClr val="285C4D"/>
                  </a:solidFill>
                  <a:latin typeface="Century Gothic"/>
                  <a:ea typeface="Century Gothic"/>
                  <a:cs typeface="Century Gothic"/>
                </a:defRPr>
              </a:pPr>
              <a:r>
                <a:rPr sz="8250" b="1">
                  <a:solidFill>
                    <a:srgbClr val="285C4D"/>
                  </a:solidFill>
                  <a:latin typeface="Century Gothic"/>
                  <a:ea typeface="Century Gothic"/>
                  <a:cs typeface="Century Gothic"/>
                </a:rPr>
                <a:t>0,859</a:t>
              </a:r>
            </a:p>
          </p:txBody>
        </p:sp>
        <p:sp>
          <p:nvSpPr>
            <p:cNvPr id="14" name="recall_label">
              <a:extLst>
                <a:ext uri="{FF2B5EF4-FFF2-40B4-BE49-F238E27FC236}">
                  <a16:creationId xmlns:a16="http://schemas.microsoft.com/office/drawing/2014/main" id="{E9FA8521-1240-4A1F-8B86-AB5BCD28DA46}"/>
                </a:ext>
              </a:extLst>
            </p:cNvPr>
            <p:cNvSpPr>
              <a:spLocks/>
            </p:cNvSpPr>
            <p:nvPr/>
          </p:nvSpPr>
          <p:spPr>
            <a:xfrm>
              <a:off x="12382500" y="6010275"/>
              <a:ext cx="4762500" cy="476250"/>
            </a:xfrm>
            <a:prstGeom prst="rect">
              <a:avLst/>
            </a:prstGeom>
            <a:noFill/>
            <a:ln w="9525">
              <a:noFill/>
              <a:prstDash val="solid"/>
            </a:ln>
          </p:spPr>
          <p:txBody>
            <a:bodyPr wrap="square" lIns="0" tIns="0" rIns="0" bIns="0" anchor="ctr">
              <a:noAutofit/>
            </a:bodyPr>
            <a:lstStyle>
              <a:defPPr algn="l">
                <a:defRPr sz="2325" b="1">
                  <a:solidFill>
                    <a:srgbClr val="213D30"/>
                  </a:solidFill>
                  <a:latin typeface="Segoe UI"/>
                  <a:ea typeface="Segoe UI"/>
                  <a:cs typeface="Segoe UI"/>
                </a:defRPr>
              </a:defPPr>
            </a:lstStyle>
            <a:p>
              <a:pPr algn="l">
                <a:defRPr sz="2325" b="1">
                  <a:solidFill>
                    <a:srgbClr val="213D30"/>
                  </a:solidFill>
                  <a:latin typeface="Segoe UI"/>
                  <a:ea typeface="Segoe UI"/>
                  <a:cs typeface="Segoe UI"/>
                </a:defRPr>
              </a:pPr>
              <a:r>
                <a:rPr sz="2325" b="1">
                  <a:solidFill>
                    <a:srgbClr val="213D30"/>
                  </a:solidFill>
                  <a:latin typeface="Segoe UI"/>
                  <a:ea typeface="Segoe UI"/>
                  <a:cs typeface="Segoe UI"/>
                </a:rPr>
                <a:t>Rappel du MLP seul</a:t>
              </a:r>
            </a:p>
          </p:txBody>
        </p:sp>
        <p:sp>
          <p:nvSpPr>
            <p:cNvPr id="15" name="metrics_divider">
              <a:extLst>
                <a:ext uri="{FF2B5EF4-FFF2-40B4-BE49-F238E27FC236}">
                  <a16:creationId xmlns:a16="http://schemas.microsoft.com/office/drawing/2014/main" id="{90F8B84F-EB9D-4253-8D94-1B4A44950039}"/>
                </a:ext>
              </a:extLst>
            </p:cNvPr>
            <p:cNvSpPr>
              <a:spLocks/>
            </p:cNvSpPr>
            <p:nvPr/>
          </p:nvSpPr>
          <p:spPr>
            <a:xfrm>
              <a:off x="11715750" y="4857750"/>
              <a:ext cx="0" cy="1524000"/>
            </a:xfrm>
            <a:prstGeom prst="line">
              <a:avLst/>
            </a:prstGeom>
            <a:noFill/>
            <a:ln w="14288">
              <a:solidFill>
                <a:srgbClr val="BFCABE"/>
              </a:solidFill>
              <a:prstDash val="solid"/>
            </a:ln>
          </p:spPr>
        </p:sp>
      </p:grpSp>
      <p:grpSp>
        <p:nvGrpSpPr>
          <p:cNvPr id="24" name="anim_limits">
            <a:extLst>
              <a:ext uri="{FF2B5EF4-FFF2-40B4-BE49-F238E27FC236}">
                <a16:creationId xmlns:a16="http://schemas.microsoft.com/office/drawing/2014/main" id="{C6DD0D68-BB15-8C9F-A284-0B807C0F8239}"/>
              </a:ext>
            </a:extLst>
          </p:cNvPr>
          <p:cNvGrpSpPr/>
          <p:nvPr/>
        </p:nvGrpSpPr>
        <p:grpSpPr>
          <a:xfrm>
            <a:off x="6600825" y="7038975"/>
            <a:ext cx="11068050" cy="1990725"/>
            <a:chOff x="6600825" y="7038975"/>
            <a:chExt cx="11068050" cy="1990725"/>
          </a:xfrm>
        </p:grpSpPr>
        <p:sp>
          <p:nvSpPr>
            <p:cNvPr id="16" name="confusion">
              <a:extLst>
                <a:ext uri="{FF2B5EF4-FFF2-40B4-BE49-F238E27FC236}">
                  <a16:creationId xmlns:a16="http://schemas.microsoft.com/office/drawing/2014/main" id="{7A4B1A2E-587D-4571-891D-A89972CB2A7A}"/>
                </a:ext>
              </a:extLst>
            </p:cNvPr>
            <p:cNvSpPr>
              <a:spLocks/>
            </p:cNvSpPr>
            <p:nvPr/>
          </p:nvSpPr>
          <p:spPr>
            <a:xfrm>
              <a:off x="6619875" y="7038975"/>
              <a:ext cx="10953750" cy="504825"/>
            </a:xfrm>
            <a:prstGeom prst="rect">
              <a:avLst/>
            </a:prstGeom>
            <a:noFill/>
            <a:ln w="9525">
              <a:noFill/>
              <a:prstDash val="solid"/>
            </a:ln>
          </p:spPr>
          <p:txBody>
            <a:bodyPr wrap="square" lIns="0" tIns="0" rIns="0" bIns="0" anchor="ctr">
              <a:noAutofit/>
            </a:bodyPr>
            <a:lstStyle>
              <a:defPPr algn="l">
                <a:defRPr sz="2250" b="1">
                  <a:solidFill>
                    <a:srgbClr val="876027"/>
                  </a:solidFill>
                  <a:latin typeface="Segoe UI"/>
                  <a:ea typeface="Segoe UI"/>
                  <a:cs typeface="Segoe UI"/>
                </a:defRPr>
              </a:defPPr>
            </a:lstStyle>
            <a:p>
              <a:pPr algn="l">
                <a:defRPr sz="2250" b="1">
                  <a:solidFill>
                    <a:srgbClr val="876027"/>
                  </a:solidFill>
                  <a:latin typeface="Segoe UI"/>
                  <a:ea typeface="Segoe UI"/>
                  <a:cs typeface="Segoe UI"/>
                </a:defRPr>
              </a:pPr>
              <a:r>
                <a:rPr sz="2250" b="1">
                  <a:solidFill>
                    <a:srgbClr val="876027"/>
                  </a:solidFill>
                  <a:latin typeface="Segoe UI"/>
                  <a:ea typeface="Segoe UI"/>
                  <a:cs typeface="Segoe UI"/>
                </a:rPr>
                <a:t>33 518 faux positifs     35 252 faux négatifs</a:t>
              </a:r>
            </a:p>
          </p:txBody>
        </p:sp>
        <p:sp>
          <p:nvSpPr>
            <p:cNvPr id="17" name="limit_main">
              <a:extLst>
                <a:ext uri="{FF2B5EF4-FFF2-40B4-BE49-F238E27FC236}">
                  <a16:creationId xmlns:a16="http://schemas.microsoft.com/office/drawing/2014/main" id="{4EFB4802-6326-443E-AFDF-349FAB3F500A}"/>
                </a:ext>
              </a:extLst>
            </p:cNvPr>
            <p:cNvSpPr>
              <a:spLocks/>
            </p:cNvSpPr>
            <p:nvPr/>
          </p:nvSpPr>
          <p:spPr>
            <a:xfrm>
              <a:off x="6600825" y="7800975"/>
              <a:ext cx="10953750" cy="590550"/>
            </a:xfrm>
            <a:prstGeom prst="rect">
              <a:avLst/>
            </a:prstGeom>
            <a:noFill/>
            <a:ln w="9525">
              <a:noFill/>
              <a:prstDash val="solid"/>
            </a:ln>
          </p:spPr>
          <p:txBody>
            <a:bodyPr wrap="square" lIns="0" tIns="0" rIns="0" bIns="0" anchor="ctr">
              <a:noAutofit/>
            </a:bodyPr>
            <a:lstStyle>
              <a:defPPr algn="l">
                <a:defRPr sz="2700" b="1">
                  <a:solidFill>
                    <a:srgbClr val="213D30"/>
                  </a:solidFill>
                  <a:latin typeface="Segoe UI"/>
                  <a:ea typeface="Segoe UI"/>
                  <a:cs typeface="Segoe UI"/>
                </a:defRPr>
              </a:defPPr>
            </a:lstStyle>
            <a:p>
              <a:pPr algn="l">
                <a:defRPr sz="2700" b="1">
                  <a:solidFill>
                    <a:srgbClr val="213D30"/>
                  </a:solidFill>
                  <a:latin typeface="Segoe UI"/>
                  <a:ea typeface="Segoe UI"/>
                  <a:cs typeface="Segoe UI"/>
                </a:defRPr>
              </a:pPr>
              <a:r>
                <a:rPr sz="2700" b="1">
                  <a:solidFill>
                    <a:srgbClr val="213D30"/>
                  </a:solidFill>
                  <a:latin typeface="Segoe UI"/>
                  <a:ea typeface="Segoe UI"/>
                  <a:cs typeface="Segoe UI"/>
                </a:rPr>
                <a:t>Une capture ne valide pas tous les sites.</a:t>
              </a:r>
            </a:p>
          </p:txBody>
        </p:sp>
        <p:sp>
          <p:nvSpPr>
            <p:cNvPr id="18" name="limit_secondary">
              <a:extLst>
                <a:ext uri="{FF2B5EF4-FFF2-40B4-BE49-F238E27FC236}">
                  <a16:creationId xmlns:a16="http://schemas.microsoft.com/office/drawing/2014/main" id="{DD1B9E39-18C4-46E7-92E8-E68319C34E14}"/>
                </a:ext>
              </a:extLst>
            </p:cNvPr>
            <p:cNvSpPr>
              <a:spLocks/>
            </p:cNvSpPr>
            <p:nvPr/>
          </p:nvSpPr>
          <p:spPr>
            <a:xfrm>
              <a:off x="6619875" y="8553450"/>
              <a:ext cx="11049000" cy="476250"/>
            </a:xfrm>
            <a:prstGeom prst="rect">
              <a:avLst/>
            </a:prstGeom>
            <a:noFill/>
            <a:ln w="9525">
              <a:noFill/>
              <a:prstDash val="solid"/>
            </a:ln>
          </p:spPr>
          <p:txBody>
            <a:bodyPr wrap="square" lIns="0" tIns="0" rIns="0" bIns="0" anchor="ctr">
              <a:noAutofit/>
            </a:bodyPr>
            <a:lstStyle>
              <a:defPPr algn="l">
                <a:defRPr sz="2025" b="0">
                  <a:solidFill>
                    <a:srgbClr val="637368"/>
                  </a:solidFill>
                  <a:latin typeface="Segoe UI"/>
                  <a:ea typeface="Segoe UI"/>
                  <a:cs typeface="Segoe UI"/>
                </a:defRPr>
              </a:defPPr>
            </a:lstStyle>
            <a:p>
              <a:pPr algn="l">
                <a:defRPr sz="2025" b="0">
                  <a:solidFill>
                    <a:srgbClr val="637368"/>
                  </a:solidFill>
                  <a:latin typeface="Segoe UI"/>
                  <a:ea typeface="Segoe UI"/>
                  <a:cs typeface="Segoe UI"/>
                </a:defRPr>
              </a:pPr>
              <a:r>
                <a:rPr sz="2025" b="0">
                  <a:solidFill>
                    <a:srgbClr val="637368"/>
                  </a:solidFill>
                  <a:latin typeface="Segoe UI"/>
                  <a:ea typeface="Segoe UI"/>
                  <a:cs typeface="Segoe UI"/>
                </a:rPr>
                <a:t>Le pipeline hybride est évalué par rejeu de développement.</a:t>
              </a:r>
            </a:p>
          </p:txBody>
        </p:sp>
      </p:grpSp>
      <p:sp>
        <p:nvSpPr>
          <p:cNvPr id="19" name="iso">
            <a:extLst>
              <a:ext uri="{FF2B5EF4-FFF2-40B4-BE49-F238E27FC236}">
                <a16:creationId xmlns:a16="http://schemas.microsoft.com/office/drawing/2014/main" id="{3F1F0298-F515-414B-9835-3BCAEE51DD50}"/>
              </a:ext>
            </a:extLst>
          </p:cNvPr>
          <p:cNvSpPr>
            <a:spLocks/>
          </p:cNvSpPr>
          <p:nvPr/>
        </p:nvSpPr>
        <p:spPr>
          <a:xfrm>
            <a:off x="990600" y="7353300"/>
            <a:ext cx="4572000" cy="1285875"/>
          </a:xfrm>
          <a:prstGeom prst="rect">
            <a:avLst/>
          </a:prstGeom>
          <a:noFill/>
          <a:ln w="9525">
            <a:noFill/>
            <a:prstDash val="solid"/>
          </a:ln>
        </p:spPr>
        <p:txBody>
          <a:bodyPr wrap="square" lIns="0" tIns="0" rIns="0" bIns="0" anchor="ctr">
            <a:noAutofit/>
          </a:bodyPr>
          <a:lstStyle>
            <a:defPPr algn="l">
              <a:defRPr sz="1650" b="0">
                <a:solidFill>
                  <a:srgbClr val="637368"/>
                </a:solidFill>
                <a:latin typeface="Segoe UI"/>
                <a:ea typeface="Segoe UI"/>
                <a:cs typeface="Segoe UI"/>
              </a:defRPr>
            </a:defPPr>
          </a:lstStyle>
          <a:p>
            <a:pPr algn="l">
              <a:defRPr sz="1650" b="0">
                <a:solidFill>
                  <a:srgbClr val="637368"/>
                </a:solidFill>
                <a:latin typeface="Segoe UI"/>
                <a:ea typeface="Segoe UI"/>
                <a:cs typeface="Segoe UI"/>
              </a:defRPr>
            </a:pPr>
            <a:r>
              <a:rPr sz="1650" b="0">
                <a:solidFill>
                  <a:srgbClr val="637368"/>
                </a:solidFill>
                <a:latin typeface="Segoe UI"/>
                <a:ea typeface="Segoe UI"/>
                <a:cs typeface="Segoe UI"/>
              </a:rPr>
              <a:t>Repères ISO 9241-210 / 25010 / 27001 / 42001</a:t>
            </a:r>
          </a:p>
          <a:p>
            <a:pPr algn="l">
              <a:defRPr sz="1650" b="0">
                <a:solidFill>
                  <a:srgbClr val="637368"/>
                </a:solidFill>
                <a:latin typeface="Segoe UI"/>
                <a:ea typeface="Segoe UI"/>
                <a:cs typeface="Segoe UI"/>
              </a:defRPr>
            </a:pPr>
            <a:r>
              <a:rPr sz="1650" b="0">
                <a:solidFill>
                  <a:srgbClr val="637368"/>
                </a:solidFill>
                <a:latin typeface="Segoe UI"/>
                <a:ea typeface="Segoe UI"/>
                <a:cs typeface="Segoe UI"/>
              </a:rPr>
              <a:t>Aucune certification revendiquée.</a:t>
            </a:r>
          </a:p>
        </p:txBody>
      </p:sp>
      <p:sp>
        <p:nvSpPr>
          <p:cNvPr id="25" name="nav_architecture" descr="Revenir au schéma de l'architecture">
            <a:hlinkClick r:id="rId4" action="ppaction://hlinksldjump" tooltip="Revenir au schéma de l'architecture" highlightClick="1"/>
            <a:extLst>
              <a:ext uri="{FF2B5EF4-FFF2-40B4-BE49-F238E27FC236}">
                <a16:creationId xmlns:a16="http://schemas.microsoft.com/office/drawing/2014/main" id="{CE041D1F-E69B-ACE1-2EAA-88325C60CD60}"/>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26" name="nav_demonstrations" descr="Ouvrir la comparaison des parcours">
            <a:hlinkClick r:id="rId5" action="ppaction://hlinksldjump" tooltip="Ouvrir la comparaison des parcours" highlightClick="1"/>
            <a:extLst>
              <a:ext uri="{FF2B5EF4-FFF2-40B4-BE49-F238E27FC236}">
                <a16:creationId xmlns:a16="http://schemas.microsoft.com/office/drawing/2014/main" id="{2055F9E7-9A73-6326-8F24-252F19762307}"/>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27" name="nav_results" descr="Ouvrir les résultats et leurs limites">
            <a:hlinkClick r:id="rId6" action="ppaction://hlinksldjump" tooltip="Ouvrir les résultats et leurs limites" highlightClick="1"/>
            <a:extLst>
              <a:ext uri="{FF2B5EF4-FFF2-40B4-BE49-F238E27FC236}">
                <a16:creationId xmlns:a16="http://schemas.microsoft.com/office/drawing/2014/main" id="{0EB08F50-CB14-8EA7-74CA-D70BE708BB59}"/>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Tree>
    <p:extLst>
      <p:ext uri="{BB962C8B-B14F-4D97-AF65-F5344CB8AC3E}">
        <p14:creationId xmlns:p14="http://schemas.microsoft.com/office/powerpoint/2010/main" val="1340348295"/>
      </p:ext>
    </p:extLst>
  </p:cSld>
  <p:clrMapOvr>
    <a:masterClrMapping/>
  </p:clrMapOvr>
  <mc:AlternateContent xmlns:mc="http://schemas.openxmlformats.org/markup-compatibility/2006">
    <mc:Choice xmlns:p14="http://schemas.microsoft.com/office/powerpoint/2010/main" Requires="p14">
      <p:transition p14:dur="4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21"/>
                                        </p:tgtEl>
                                        <p:attrNameLst>
                                          <p:attrName>style.visibility</p:attrName>
                                        </p:attrNameLst>
                                      </p:cBhvr>
                                      <p:to>
                                        <p:strVal val="visible"/>
                                      </p:to>
                                    </p:set>
                                    <p:animMotion origin="layout" path="M 0 0.01296296 L 0 0 E" pathEditMode="relative">
                                      <p:cBhvr from="" to="">
                                        <p:cTn id="10" dur="500" fill="hold">
                                          <p:stCondLst>
                                            <p:cond delay="0"/>
                                          </p:stCondLst>
                                        </p:cTn>
                                        <p:tgtEl>
                                          <p:spTgt spid="21"/>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350"/>
                                        <p:tgtEl>
                                          <p:spTgt spid="22"/>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22"/>
                                        </p:tgtEl>
                                        <p:attrNameLst>
                                          <p:attrName>style.visibility</p:attrName>
                                        </p:attrNameLst>
                                      </p:cBhvr>
                                      <p:to>
                                        <p:strVal val="visible"/>
                                      </p:to>
                                    </p:set>
                                    <p:animMotion origin="layout" path="M 0 0.01296296 L 0 0 E" pathEditMode="relative">
                                      <p:cBhvr from="" to="">
                                        <p:cTn id="18" dur="450" fill="hold">
                                          <p:stCondLst>
                                            <p:cond delay="0"/>
                                          </p:stCondLst>
                                        </p:cTn>
                                        <p:tgtEl>
                                          <p:spTgt spid="22"/>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350"/>
                                        <p:tgtEl>
                                          <p:spTgt spid="23"/>
                                        </p:tgtEl>
                                      </p:cBhvr>
                                    </p:animEffect>
                                  </p:childTnLst>
                                </p:cTn>
                              </p:par>
                              <p:par>
                                <p:cTn id="24" presetID="0" presetClass="entr" presetSubtype="0" accel="22000" decel="25000" fill="hold" nodeType="withEffect">
                                  <p:stCondLst>
                                    <p:cond delay="0"/>
                                  </p:stCondLst>
                                  <p:childTnLst>
                                    <p:set>
                                      <p:cBhvr>
                                        <p:cTn id="25" dur="1" fill="hold">
                                          <p:stCondLst>
                                            <p:cond delay="449"/>
                                          </p:stCondLst>
                                        </p:cTn>
                                        <p:tgtEl>
                                          <p:spTgt spid="23"/>
                                        </p:tgtEl>
                                        <p:attrNameLst>
                                          <p:attrName>style.visibility</p:attrName>
                                        </p:attrNameLst>
                                      </p:cBhvr>
                                      <p:to>
                                        <p:strVal val="visible"/>
                                      </p:to>
                                    </p:set>
                                    <p:animMotion origin="layout" path="M 0 0.01296296 L 0 0 E" pathEditMode="relative">
                                      <p:cBhvr from="" to="">
                                        <p:cTn id="26" dur="450" fill="hold">
                                          <p:stCondLst>
                                            <p:cond delay="0"/>
                                          </p:stCondLst>
                                        </p:cTn>
                                        <p:tgtEl>
                                          <p:spTgt spid="23"/>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350"/>
                                        <p:tgtEl>
                                          <p:spTgt spid="24"/>
                                        </p:tgtEl>
                                      </p:cBhvr>
                                    </p:animEffect>
                                  </p:childTnLst>
                                </p:cTn>
                              </p:par>
                              <p:par>
                                <p:cTn id="32" presetID="0" presetClass="entr" presetSubtype="0" accel="22000" decel="25000" fill="hold" nodeType="withEffect">
                                  <p:stCondLst>
                                    <p:cond delay="0"/>
                                  </p:stCondLst>
                                  <p:childTnLst>
                                    <p:set>
                                      <p:cBhvr>
                                        <p:cTn id="33" dur="1" fill="hold">
                                          <p:stCondLst>
                                            <p:cond delay="449"/>
                                          </p:stCondLst>
                                        </p:cTn>
                                        <p:tgtEl>
                                          <p:spTgt spid="24"/>
                                        </p:tgtEl>
                                        <p:attrNameLst>
                                          <p:attrName>style.visibility</p:attrName>
                                        </p:attrNameLst>
                                      </p:cBhvr>
                                      <p:to>
                                        <p:strVal val="visible"/>
                                      </p:to>
                                    </p:set>
                                    <p:animMotion origin="layout" path="M 0 0.01296296 L 0 0 E" pathEditMode="relative">
                                      <p:cBhvr from="" to="">
                                        <p:cTn id="34" dur="450" fill="hold">
                                          <p:stCondLst>
                                            <p:cond delay="0"/>
                                          </p:stCondLst>
                                        </p:cTn>
                                        <p:tgtEl>
                                          <p:spTgt spid="2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4" name="top_band">
            <a:extLst>
              <a:ext uri="{FF2B5EF4-FFF2-40B4-BE49-F238E27FC236}">
                <a16:creationId xmlns:a16="http://schemas.microsoft.com/office/drawing/2014/main" id="{B9D53226-4033-4D72-A35B-38C2BFF0E774}"/>
              </a:ext>
            </a:extLst>
          </p:cNvPr>
          <p:cNvSpPr>
            <a:spLocks/>
          </p:cNvSpPr>
          <p:nvPr/>
        </p:nvSpPr>
        <p:spPr>
          <a:xfrm>
            <a:off x="0" y="0"/>
            <a:ext cx="18288000" cy="114300"/>
          </a:xfrm>
          <a:prstGeom prst="rect">
            <a:avLst/>
          </a:prstGeom>
          <a:solidFill>
            <a:srgbClr val="285C4D"/>
          </a:solidFill>
          <a:ln w="9525">
            <a:noFill/>
            <a:prstDash val="solid"/>
          </a:ln>
        </p:spPr>
      </p:sp>
      <p:sp>
        <p:nvSpPr>
          <p:cNvPr id="2" name="brand">
            <a:hlinkClick r:id="rId3" action="ppaction://hlinksldjump" tooltip="Retour à l'accueil JNC" highlightClick="1"/>
            <a:extLst>
              <a:ext uri="{FF2B5EF4-FFF2-40B4-BE49-F238E27FC236}">
                <a16:creationId xmlns:a16="http://schemas.microsoft.com/office/drawing/2014/main" id="{F07DDA9D-65D9-49BE-B9F6-1124D8221EA3}"/>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2134D2D0-8146-45F7-90E0-AAFE39EBC405}"/>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PROCHAINE ÉTAPE</a:t>
            </a:r>
          </a:p>
        </p:txBody>
      </p:sp>
      <p:sp>
        <p:nvSpPr>
          <p:cNvPr id="4" name="folio">
            <a:extLst>
              <a:ext uri="{FF2B5EF4-FFF2-40B4-BE49-F238E27FC236}">
                <a16:creationId xmlns:a16="http://schemas.microsoft.com/office/drawing/2014/main" id="{5B228592-4868-4ED7-AF70-37F28E7744EE}"/>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9 / 9</a:t>
            </a:r>
          </a:p>
        </p:txBody>
      </p:sp>
      <p:grpSp>
        <p:nvGrpSpPr>
          <p:cNvPr id="25" name="anim_heading">
            <a:extLst>
              <a:ext uri="{FF2B5EF4-FFF2-40B4-BE49-F238E27FC236}">
                <a16:creationId xmlns:a16="http://schemas.microsoft.com/office/drawing/2014/main" id="{44C141C8-FE12-BA0F-1901-8FF1BEFFBA25}"/>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990BBC8D-1582-4B39-9759-13AC66E50D3A}"/>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Un premier</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terrain pilote</a:t>
              </a:r>
            </a:p>
          </p:txBody>
        </p:sp>
        <p:sp>
          <p:nvSpPr>
            <p:cNvPr id="6" name="summary">
              <a:extLst>
                <a:ext uri="{FF2B5EF4-FFF2-40B4-BE49-F238E27FC236}">
                  <a16:creationId xmlns:a16="http://schemas.microsoft.com/office/drawing/2014/main" id="{C7431FF9-5461-4A95-A804-BA64E7ACA08A}"/>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Observer les signaux sur un système représentatif, puis vérifier la protection et ses effets.</a:t>
              </a:r>
            </a:p>
          </p:txBody>
        </p:sp>
      </p:grpSp>
      <p:sp>
        <p:nvSpPr>
          <p:cNvPr id="7" name="footer_rule">
            <a:extLst>
              <a:ext uri="{FF2B5EF4-FFF2-40B4-BE49-F238E27FC236}">
                <a16:creationId xmlns:a16="http://schemas.microsoft.com/office/drawing/2014/main" id="{7D120F46-6884-4573-B4E9-0F5AAFE02D14}"/>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642EDF36-7B98-4F50-B844-A9B08C9910FE}"/>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Étapes proposées, à valider avec un partenaire. Aucun client pilote ni déploiement de production n’est revendiqué ici.</a:t>
            </a:r>
          </a:p>
        </p:txBody>
      </p:sp>
      <p:grpSp>
        <p:nvGrpSpPr>
          <p:cNvPr id="26" name="anim_value">
            <a:extLst>
              <a:ext uri="{FF2B5EF4-FFF2-40B4-BE49-F238E27FC236}">
                <a16:creationId xmlns:a16="http://schemas.microsoft.com/office/drawing/2014/main" id="{604F86EA-EF59-8C49-149C-61361057093E}"/>
              </a:ext>
            </a:extLst>
          </p:cNvPr>
          <p:cNvGrpSpPr/>
          <p:nvPr/>
        </p:nvGrpSpPr>
        <p:grpSpPr>
          <a:xfrm>
            <a:off x="6667500" y="1962150"/>
            <a:ext cx="10610850" cy="1666875"/>
            <a:chOff x="6667500" y="1962150"/>
            <a:chExt cx="10610850" cy="1666875"/>
          </a:xfrm>
        </p:grpSpPr>
        <p:sp>
          <p:nvSpPr>
            <p:cNvPr id="9" name="value_title">
              <a:extLst>
                <a:ext uri="{FF2B5EF4-FFF2-40B4-BE49-F238E27FC236}">
                  <a16:creationId xmlns:a16="http://schemas.microsoft.com/office/drawing/2014/main" id="{C1368085-DE98-4179-A1D1-8098CB325DA2}"/>
                </a:ext>
              </a:extLst>
            </p:cNvPr>
            <p:cNvSpPr>
              <a:spLocks/>
            </p:cNvSpPr>
            <p:nvPr/>
          </p:nvSpPr>
          <p:spPr>
            <a:xfrm>
              <a:off x="6667500" y="1962150"/>
              <a:ext cx="10477500" cy="857250"/>
            </a:xfrm>
            <a:prstGeom prst="rect">
              <a:avLst/>
            </a:prstGeom>
            <a:noFill/>
            <a:ln w="9525">
              <a:noFill/>
              <a:prstDash val="solid"/>
            </a:ln>
          </p:spPr>
          <p:txBody>
            <a:bodyPr wrap="square" lIns="0" tIns="0" rIns="0" bIns="0" anchor="ctr">
              <a:noAutofit/>
            </a:bodyPr>
            <a:lstStyle>
              <a:defPPr algn="l">
                <a:defRPr sz="4650" b="1">
                  <a:solidFill>
                    <a:srgbClr val="285C4D"/>
                  </a:solidFill>
                  <a:latin typeface="Century Gothic"/>
                  <a:ea typeface="Century Gothic"/>
                  <a:cs typeface="Century Gothic"/>
                </a:defRPr>
              </a:defPPr>
            </a:lstStyle>
            <a:p>
              <a:pPr algn="l">
                <a:defRPr sz="4650" b="1">
                  <a:solidFill>
                    <a:srgbClr val="285C4D"/>
                  </a:solidFill>
                  <a:latin typeface="Century Gothic"/>
                  <a:ea typeface="Century Gothic"/>
                  <a:cs typeface="Century Gothic"/>
                </a:defRPr>
              </a:pPr>
              <a:r>
                <a:rPr sz="4650" b="1">
                  <a:solidFill>
                    <a:srgbClr val="285C4D"/>
                  </a:solidFill>
                  <a:latin typeface="Century Gothic"/>
                  <a:ea typeface="Century Gothic"/>
                  <a:cs typeface="Century Gothic"/>
                </a:rPr>
                <a:t>Une protection observable.</a:t>
              </a:r>
            </a:p>
          </p:txBody>
        </p:sp>
        <p:sp>
          <p:nvSpPr>
            <p:cNvPr id="10" name="value_text">
              <a:extLst>
                <a:ext uri="{FF2B5EF4-FFF2-40B4-BE49-F238E27FC236}">
                  <a16:creationId xmlns:a16="http://schemas.microsoft.com/office/drawing/2014/main" id="{834EA117-0D7F-4207-B90C-A918A911DF10}"/>
                </a:ext>
              </a:extLst>
            </p:cNvPr>
            <p:cNvSpPr>
              <a:spLocks/>
            </p:cNvSpPr>
            <p:nvPr/>
          </p:nvSpPr>
          <p:spPr>
            <a:xfrm>
              <a:off x="6705600" y="3009900"/>
              <a:ext cx="10572750" cy="619125"/>
            </a:xfrm>
            <a:prstGeom prst="rect">
              <a:avLst/>
            </a:prstGeom>
            <a:noFill/>
            <a:ln w="9525">
              <a:noFill/>
              <a:prstDash val="solid"/>
            </a:ln>
          </p:spPr>
          <p:txBody>
            <a:bodyPr wrap="square" lIns="0" tIns="0" rIns="0" bIns="0" anchor="ctr">
              <a:noAutofit/>
            </a:bodyPr>
            <a:lstStyle>
              <a:defPPr algn="l">
                <a:defRPr sz="2325" b="0">
                  <a:solidFill>
                    <a:srgbClr val="637368"/>
                  </a:solidFill>
                  <a:latin typeface="Segoe UI"/>
                  <a:ea typeface="Segoe UI"/>
                  <a:cs typeface="Segoe UI"/>
                </a:defRPr>
              </a:defPPr>
            </a:lstStyle>
            <a:p>
              <a:pPr algn="l">
                <a:defRPr sz="2325" b="0">
                  <a:solidFill>
                    <a:srgbClr val="637368"/>
                  </a:solidFill>
                  <a:latin typeface="Segoe UI"/>
                  <a:ea typeface="Segoe UI"/>
                  <a:cs typeface="Segoe UI"/>
                </a:defRPr>
              </a:pPr>
              <a:r>
                <a:rPr sz="2325" b="0">
                  <a:solidFill>
                    <a:srgbClr val="637368"/>
                  </a:solidFill>
                  <a:latin typeface="Segoe UI"/>
                  <a:ea typeface="Segoe UI"/>
                  <a:cs typeface="Segoe UI"/>
                </a:rPr>
                <a:t>Décisions explicables. Données traitées localement.</a:t>
              </a:r>
            </a:p>
          </p:txBody>
        </p:sp>
      </p:grpSp>
      <p:grpSp>
        <p:nvGrpSpPr>
          <p:cNvPr id="27" name="anim_pilot">
            <a:extLst>
              <a:ext uri="{FF2B5EF4-FFF2-40B4-BE49-F238E27FC236}">
                <a16:creationId xmlns:a16="http://schemas.microsoft.com/office/drawing/2014/main" id="{2B1F5FA5-81D9-164D-6746-8516A9DC52AE}"/>
              </a:ext>
            </a:extLst>
          </p:cNvPr>
          <p:cNvGrpSpPr/>
          <p:nvPr/>
        </p:nvGrpSpPr>
        <p:grpSpPr>
          <a:xfrm>
            <a:off x="6896100" y="4229100"/>
            <a:ext cx="10296525" cy="1190625"/>
            <a:chOff x="6896100" y="4229100"/>
            <a:chExt cx="10296525" cy="1190625"/>
          </a:xfrm>
        </p:grpSpPr>
        <p:sp>
          <p:nvSpPr>
            <p:cNvPr id="11" name="pilot_point">
              <a:extLst>
                <a:ext uri="{FF2B5EF4-FFF2-40B4-BE49-F238E27FC236}">
                  <a16:creationId xmlns:a16="http://schemas.microsoft.com/office/drawing/2014/main" id="{3F1DBA1F-9638-4C56-9036-81676A5C93A0}"/>
                </a:ext>
              </a:extLst>
            </p:cNvPr>
            <p:cNvSpPr>
              <a:spLocks/>
            </p:cNvSpPr>
            <p:nvPr/>
          </p:nvSpPr>
          <p:spPr>
            <a:xfrm>
              <a:off x="6896100" y="4457700"/>
              <a:ext cx="266700" cy="266700"/>
            </a:xfrm>
            <a:prstGeom prst="ellipse">
              <a:avLst/>
            </a:prstGeom>
            <a:solidFill>
              <a:srgbClr val="285C4D"/>
            </a:solidFill>
            <a:ln w="9525">
              <a:noFill/>
              <a:prstDash val="solid"/>
            </a:ln>
          </p:spPr>
        </p:sp>
        <p:sp>
          <p:nvSpPr>
            <p:cNvPr id="12" name="pilot_name">
              <a:extLst>
                <a:ext uri="{FF2B5EF4-FFF2-40B4-BE49-F238E27FC236}">
                  <a16:creationId xmlns:a16="http://schemas.microsoft.com/office/drawing/2014/main" id="{32E47682-149E-4389-B829-B87A37730B2E}"/>
                </a:ext>
              </a:extLst>
            </p:cNvPr>
            <p:cNvSpPr>
              <a:spLocks/>
            </p:cNvSpPr>
            <p:nvPr/>
          </p:nvSpPr>
          <p:spPr>
            <a:xfrm>
              <a:off x="7572375" y="4229100"/>
              <a:ext cx="9620250" cy="609600"/>
            </a:xfrm>
            <a:prstGeom prst="rect">
              <a:avLst/>
            </a:prstGeom>
            <a:noFill/>
            <a:ln w="9525">
              <a:noFill/>
              <a:prstDash val="solid"/>
            </a:ln>
          </p:spPr>
          <p:txBody>
            <a:bodyPr wrap="square" lIns="0" tIns="0" rIns="0" bIns="0" anchor="ctr">
              <a:noAutofit/>
            </a:bodyPr>
            <a:lstStyle>
              <a:defPPr algn="l">
                <a:defRPr sz="3000" b="1">
                  <a:solidFill>
                    <a:srgbClr val="213D30"/>
                  </a:solidFill>
                  <a:latin typeface="Segoe UI"/>
                  <a:ea typeface="Segoe UI"/>
                  <a:cs typeface="Segoe UI"/>
                </a:defRPr>
              </a:defPPr>
            </a:lstStyle>
            <a:p>
              <a:pPr algn="l">
                <a:defRPr sz="3000" b="1">
                  <a:solidFill>
                    <a:srgbClr val="213D30"/>
                  </a:solidFill>
                  <a:latin typeface="Segoe UI"/>
                  <a:ea typeface="Segoe UI"/>
                  <a:cs typeface="Segoe UI"/>
                </a:defRPr>
              </a:pPr>
              <a:r>
                <a:rPr sz="3000" b="1">
                  <a:solidFill>
                    <a:srgbClr val="213D30"/>
                  </a:solidFill>
                  <a:latin typeface="Segoe UI"/>
                  <a:ea typeface="Segoe UI"/>
                  <a:cs typeface="Segoe UI"/>
                </a:rPr>
                <a:t>Pilote en observation</a:t>
              </a:r>
            </a:p>
          </p:txBody>
        </p:sp>
        <p:sp>
          <p:nvSpPr>
            <p:cNvPr id="13" name="pilot_detail">
              <a:extLst>
                <a:ext uri="{FF2B5EF4-FFF2-40B4-BE49-F238E27FC236}">
                  <a16:creationId xmlns:a16="http://schemas.microsoft.com/office/drawing/2014/main" id="{A74C5A2B-8246-4D77-BDE6-F7A78998E3D5}"/>
                </a:ext>
              </a:extLst>
            </p:cNvPr>
            <p:cNvSpPr>
              <a:spLocks/>
            </p:cNvSpPr>
            <p:nvPr/>
          </p:nvSpPr>
          <p:spPr>
            <a:xfrm>
              <a:off x="7591425" y="4914900"/>
              <a:ext cx="9525000" cy="504825"/>
            </a:xfrm>
            <a:prstGeom prst="rect">
              <a:avLst/>
            </a:prstGeom>
            <a:noFill/>
            <a:ln w="9525">
              <a:noFill/>
              <a:prstDash val="solid"/>
            </a:ln>
          </p:spPr>
          <p:txBody>
            <a:bodyPr wrap="square" lIns="0" tIns="0" rIns="0" bIns="0" anchor="ctr">
              <a:noAutofit/>
            </a:bodyPr>
            <a:lstStyle>
              <a:defPPr algn="l">
                <a:defRPr sz="2100" b="0">
                  <a:solidFill>
                    <a:srgbClr val="637368"/>
                  </a:solidFill>
                  <a:latin typeface="Segoe UI"/>
                  <a:ea typeface="Segoe UI"/>
                  <a:cs typeface="Segoe UI"/>
                </a:defRPr>
              </a:defPPr>
            </a:lstStyle>
            <a:p>
              <a:pPr algn="l">
                <a:defRPr sz="2100" b="0">
                  <a:solidFill>
                    <a:srgbClr val="637368"/>
                  </a:solidFill>
                  <a:latin typeface="Segoe UI"/>
                  <a:ea typeface="Segoe UI"/>
                  <a:cs typeface="Segoe UI"/>
                </a:defRPr>
              </a:pPr>
              <a:r>
                <a:rPr sz="2100" b="0">
                  <a:solidFill>
                    <a:srgbClr val="637368"/>
                  </a:solidFill>
                  <a:latin typeface="Segoe UI"/>
                  <a:ea typeface="Segoe UI"/>
                  <a:cs typeface="Segoe UI"/>
                </a:rPr>
                <a:t>Mesurer les alertes et les faux positifs sans ce blocage SQLi.</a:t>
              </a:r>
            </a:p>
          </p:txBody>
        </p:sp>
      </p:grpSp>
      <p:grpSp>
        <p:nvGrpSpPr>
          <p:cNvPr id="28" name="anim_validation">
            <a:extLst>
              <a:ext uri="{FF2B5EF4-FFF2-40B4-BE49-F238E27FC236}">
                <a16:creationId xmlns:a16="http://schemas.microsoft.com/office/drawing/2014/main" id="{6AD1D924-E69A-50D7-0556-5664317E5985}"/>
              </a:ext>
            </a:extLst>
          </p:cNvPr>
          <p:cNvGrpSpPr/>
          <p:nvPr/>
        </p:nvGrpSpPr>
        <p:grpSpPr>
          <a:xfrm>
            <a:off x="6896100" y="4810125"/>
            <a:ext cx="10296525" cy="2219325"/>
            <a:chOff x="6896100" y="4810125"/>
            <a:chExt cx="10296525" cy="2219325"/>
          </a:xfrm>
        </p:grpSpPr>
        <p:sp>
          <p:nvSpPr>
            <p:cNvPr id="14" name="road_a">
              <a:extLst>
                <a:ext uri="{FF2B5EF4-FFF2-40B4-BE49-F238E27FC236}">
                  <a16:creationId xmlns:a16="http://schemas.microsoft.com/office/drawing/2014/main" id="{E665DFA6-A365-48E3-8368-A76B1B2D704A}"/>
                </a:ext>
              </a:extLst>
            </p:cNvPr>
            <p:cNvSpPr>
              <a:spLocks/>
            </p:cNvSpPr>
            <p:nvPr/>
          </p:nvSpPr>
          <p:spPr>
            <a:xfrm>
              <a:off x="7029450" y="4810125"/>
              <a:ext cx="0" cy="1219200"/>
            </a:xfrm>
            <a:prstGeom prst="line">
              <a:avLst/>
            </a:prstGeom>
            <a:noFill/>
            <a:ln w="19050">
              <a:solidFill>
                <a:srgbClr val="285C4D"/>
              </a:solidFill>
              <a:prstDash val="solid"/>
            </a:ln>
          </p:spPr>
        </p:sp>
        <p:sp>
          <p:nvSpPr>
            <p:cNvPr id="15" name="valid_point">
              <a:extLst>
                <a:ext uri="{FF2B5EF4-FFF2-40B4-BE49-F238E27FC236}">
                  <a16:creationId xmlns:a16="http://schemas.microsoft.com/office/drawing/2014/main" id="{A187D07C-FEE3-420E-BB06-B43CC5B20562}"/>
                </a:ext>
              </a:extLst>
            </p:cNvPr>
            <p:cNvSpPr>
              <a:spLocks/>
            </p:cNvSpPr>
            <p:nvPr/>
          </p:nvSpPr>
          <p:spPr>
            <a:xfrm>
              <a:off x="6896100" y="6067425"/>
              <a:ext cx="266700" cy="266700"/>
            </a:xfrm>
            <a:prstGeom prst="ellipse">
              <a:avLst/>
            </a:prstGeom>
            <a:solidFill>
              <a:srgbClr val="285C4D"/>
            </a:solidFill>
            <a:ln w="9525">
              <a:noFill/>
              <a:prstDash val="solid"/>
            </a:ln>
          </p:spPr>
        </p:sp>
        <p:sp>
          <p:nvSpPr>
            <p:cNvPr id="16" name="valid_name">
              <a:extLst>
                <a:ext uri="{FF2B5EF4-FFF2-40B4-BE49-F238E27FC236}">
                  <a16:creationId xmlns:a16="http://schemas.microsoft.com/office/drawing/2014/main" id="{B0DDC838-5C83-42A1-95A8-D33C80C50A4C}"/>
                </a:ext>
              </a:extLst>
            </p:cNvPr>
            <p:cNvSpPr>
              <a:spLocks/>
            </p:cNvSpPr>
            <p:nvPr/>
          </p:nvSpPr>
          <p:spPr>
            <a:xfrm>
              <a:off x="7572375" y="5838825"/>
              <a:ext cx="9620250" cy="609600"/>
            </a:xfrm>
            <a:prstGeom prst="rect">
              <a:avLst/>
            </a:prstGeom>
            <a:noFill/>
            <a:ln w="9525">
              <a:noFill/>
              <a:prstDash val="solid"/>
            </a:ln>
          </p:spPr>
          <p:txBody>
            <a:bodyPr wrap="square" lIns="0" tIns="0" rIns="0" bIns="0" anchor="ctr">
              <a:noAutofit/>
            </a:bodyPr>
            <a:lstStyle>
              <a:defPPr algn="l">
                <a:defRPr sz="3000" b="1">
                  <a:solidFill>
                    <a:srgbClr val="213D30"/>
                  </a:solidFill>
                  <a:latin typeface="Segoe UI"/>
                  <a:ea typeface="Segoe UI"/>
                  <a:cs typeface="Segoe UI"/>
                </a:defRPr>
              </a:defPPr>
            </a:lstStyle>
            <a:p>
              <a:pPr algn="l">
                <a:defRPr sz="3000" b="1">
                  <a:solidFill>
                    <a:srgbClr val="213D30"/>
                  </a:solidFill>
                  <a:latin typeface="Segoe UI"/>
                  <a:ea typeface="Segoe UI"/>
                  <a:cs typeface="Segoe UI"/>
                </a:defRPr>
              </a:pPr>
              <a:r>
                <a:rPr sz="3000" b="1">
                  <a:solidFill>
                    <a:srgbClr val="213D30"/>
                  </a:solidFill>
                  <a:latin typeface="Segoe UI"/>
                  <a:ea typeface="Segoe UI"/>
                  <a:cs typeface="Segoe UI"/>
                </a:rPr>
                <a:t>Validation indépendante</a:t>
              </a:r>
            </a:p>
          </p:txBody>
        </p:sp>
        <p:sp>
          <p:nvSpPr>
            <p:cNvPr id="17" name="valid_detail">
              <a:extLst>
                <a:ext uri="{FF2B5EF4-FFF2-40B4-BE49-F238E27FC236}">
                  <a16:creationId xmlns:a16="http://schemas.microsoft.com/office/drawing/2014/main" id="{8921889B-396A-40C1-9D48-509F23B89FDE}"/>
                </a:ext>
              </a:extLst>
            </p:cNvPr>
            <p:cNvSpPr>
              <a:spLocks/>
            </p:cNvSpPr>
            <p:nvPr/>
          </p:nvSpPr>
          <p:spPr>
            <a:xfrm>
              <a:off x="7591425" y="6524625"/>
              <a:ext cx="9525000" cy="504825"/>
            </a:xfrm>
            <a:prstGeom prst="rect">
              <a:avLst/>
            </a:prstGeom>
            <a:noFill/>
            <a:ln w="9525">
              <a:noFill/>
              <a:prstDash val="solid"/>
            </a:ln>
          </p:spPr>
          <p:txBody>
            <a:bodyPr wrap="square" lIns="0" tIns="0" rIns="0" bIns="0" anchor="ctr">
              <a:noAutofit/>
            </a:bodyPr>
            <a:lstStyle>
              <a:defPPr algn="l">
                <a:defRPr sz="2100" b="0">
                  <a:solidFill>
                    <a:srgbClr val="637368"/>
                  </a:solidFill>
                  <a:latin typeface="Segoe UI"/>
                  <a:ea typeface="Segoe UI"/>
                  <a:cs typeface="Segoe UI"/>
                </a:defRPr>
              </a:defPPr>
            </a:lstStyle>
            <a:p>
              <a:pPr algn="l">
                <a:defRPr sz="2100" b="0">
                  <a:solidFill>
                    <a:srgbClr val="637368"/>
                  </a:solidFill>
                  <a:latin typeface="Segoe UI"/>
                  <a:ea typeface="Segoe UI"/>
                  <a:cs typeface="Segoe UI"/>
                </a:defRPr>
              </a:pPr>
              <a:r>
                <a:rPr sz="2100" b="0">
                  <a:solidFill>
                    <a:srgbClr val="637368"/>
                  </a:solidFill>
                  <a:latin typeface="Segoe UI"/>
                  <a:ea typeface="Segoe UI"/>
                  <a:cs typeface="Segoe UI"/>
                </a:rPr>
                <a:t>Tester les données, les performances et le périmètre de protection.</a:t>
              </a:r>
            </a:p>
          </p:txBody>
        </p:sp>
      </p:grpSp>
      <p:grpSp>
        <p:nvGrpSpPr>
          <p:cNvPr id="29" name="anim_deployment">
            <a:extLst>
              <a:ext uri="{FF2B5EF4-FFF2-40B4-BE49-F238E27FC236}">
                <a16:creationId xmlns:a16="http://schemas.microsoft.com/office/drawing/2014/main" id="{C2A71736-755D-D71E-EB7C-1D16D70C77A5}"/>
              </a:ext>
            </a:extLst>
          </p:cNvPr>
          <p:cNvGrpSpPr/>
          <p:nvPr/>
        </p:nvGrpSpPr>
        <p:grpSpPr>
          <a:xfrm>
            <a:off x="6896100" y="6419850"/>
            <a:ext cx="10296525" cy="2219325"/>
            <a:chOff x="6896100" y="6419850"/>
            <a:chExt cx="10296525" cy="2219325"/>
          </a:xfrm>
        </p:grpSpPr>
        <p:sp>
          <p:nvSpPr>
            <p:cNvPr id="18" name="road_b">
              <a:extLst>
                <a:ext uri="{FF2B5EF4-FFF2-40B4-BE49-F238E27FC236}">
                  <a16:creationId xmlns:a16="http://schemas.microsoft.com/office/drawing/2014/main" id="{42EC3E0E-DD2B-46DE-82FF-6DD5EB7ED305}"/>
                </a:ext>
              </a:extLst>
            </p:cNvPr>
            <p:cNvSpPr>
              <a:spLocks/>
            </p:cNvSpPr>
            <p:nvPr/>
          </p:nvSpPr>
          <p:spPr>
            <a:xfrm>
              <a:off x="7029450" y="6419850"/>
              <a:ext cx="0" cy="1219200"/>
            </a:xfrm>
            <a:prstGeom prst="line">
              <a:avLst/>
            </a:prstGeom>
            <a:noFill/>
            <a:ln w="19050">
              <a:solidFill>
                <a:srgbClr val="285C4D"/>
              </a:solidFill>
              <a:prstDash val="solid"/>
            </a:ln>
          </p:spPr>
        </p:sp>
        <p:sp>
          <p:nvSpPr>
            <p:cNvPr id="19" name="deploy_point">
              <a:extLst>
                <a:ext uri="{FF2B5EF4-FFF2-40B4-BE49-F238E27FC236}">
                  <a16:creationId xmlns:a16="http://schemas.microsoft.com/office/drawing/2014/main" id="{6AC1956E-F913-4AA1-897E-D6F2B1D5E609}"/>
                </a:ext>
              </a:extLst>
            </p:cNvPr>
            <p:cNvSpPr>
              <a:spLocks/>
            </p:cNvSpPr>
            <p:nvPr/>
          </p:nvSpPr>
          <p:spPr>
            <a:xfrm>
              <a:off x="6896100" y="7677150"/>
              <a:ext cx="266700" cy="266700"/>
            </a:xfrm>
            <a:prstGeom prst="ellipse">
              <a:avLst/>
            </a:prstGeom>
            <a:solidFill>
              <a:srgbClr val="285C4D"/>
            </a:solidFill>
            <a:ln w="9525">
              <a:noFill/>
              <a:prstDash val="solid"/>
            </a:ln>
          </p:spPr>
        </p:sp>
        <p:sp>
          <p:nvSpPr>
            <p:cNvPr id="20" name="deploy_name">
              <a:extLst>
                <a:ext uri="{FF2B5EF4-FFF2-40B4-BE49-F238E27FC236}">
                  <a16:creationId xmlns:a16="http://schemas.microsoft.com/office/drawing/2014/main" id="{B9C1F35E-6F54-4EC6-9F74-FCCC228112C8}"/>
                </a:ext>
              </a:extLst>
            </p:cNvPr>
            <p:cNvSpPr>
              <a:spLocks/>
            </p:cNvSpPr>
            <p:nvPr/>
          </p:nvSpPr>
          <p:spPr>
            <a:xfrm>
              <a:off x="7572375" y="7448550"/>
              <a:ext cx="9620250" cy="609600"/>
            </a:xfrm>
            <a:prstGeom prst="rect">
              <a:avLst/>
            </a:prstGeom>
            <a:noFill/>
            <a:ln w="9525">
              <a:noFill/>
              <a:prstDash val="solid"/>
            </a:ln>
          </p:spPr>
          <p:txBody>
            <a:bodyPr wrap="square" lIns="0" tIns="0" rIns="0" bIns="0" anchor="ctr">
              <a:noAutofit/>
            </a:bodyPr>
            <a:lstStyle>
              <a:defPPr algn="l">
                <a:defRPr sz="3000" b="1">
                  <a:solidFill>
                    <a:srgbClr val="213D30"/>
                  </a:solidFill>
                  <a:latin typeface="Segoe UI"/>
                  <a:ea typeface="Segoe UI"/>
                  <a:cs typeface="Segoe UI"/>
                </a:defRPr>
              </a:defPPr>
            </a:lstStyle>
            <a:p>
              <a:pPr algn="l">
                <a:defRPr sz="3000" b="1">
                  <a:solidFill>
                    <a:srgbClr val="213D30"/>
                  </a:solidFill>
                  <a:latin typeface="Segoe UI"/>
                  <a:ea typeface="Segoe UI"/>
                  <a:cs typeface="Segoe UI"/>
                </a:defRPr>
              </a:pPr>
              <a:r>
                <a:rPr sz="3000" b="1">
                  <a:solidFill>
                    <a:srgbClr val="213D30"/>
                  </a:solidFill>
                  <a:latin typeface="Segoe UI"/>
                  <a:ea typeface="Segoe UI"/>
                  <a:cs typeface="Segoe UI"/>
                </a:rPr>
                <a:t>Déploiement encadré</a:t>
              </a:r>
            </a:p>
          </p:txBody>
        </p:sp>
        <p:sp>
          <p:nvSpPr>
            <p:cNvPr id="21" name="deploy_detail">
              <a:extLst>
                <a:ext uri="{FF2B5EF4-FFF2-40B4-BE49-F238E27FC236}">
                  <a16:creationId xmlns:a16="http://schemas.microsoft.com/office/drawing/2014/main" id="{D186D7F9-3901-4464-B79C-52064DD488F7}"/>
                </a:ext>
              </a:extLst>
            </p:cNvPr>
            <p:cNvSpPr>
              <a:spLocks/>
            </p:cNvSpPr>
            <p:nvPr/>
          </p:nvSpPr>
          <p:spPr>
            <a:xfrm>
              <a:off x="7591425" y="8134350"/>
              <a:ext cx="9525000" cy="504825"/>
            </a:xfrm>
            <a:prstGeom prst="rect">
              <a:avLst/>
            </a:prstGeom>
            <a:noFill/>
            <a:ln w="9525">
              <a:noFill/>
              <a:prstDash val="solid"/>
            </a:ln>
          </p:spPr>
          <p:txBody>
            <a:bodyPr wrap="square" lIns="0" tIns="0" rIns="0" bIns="0" anchor="ctr">
              <a:noAutofit/>
            </a:bodyPr>
            <a:lstStyle>
              <a:defPPr algn="l">
                <a:defRPr sz="2100" b="0">
                  <a:solidFill>
                    <a:srgbClr val="637368"/>
                  </a:solidFill>
                  <a:latin typeface="Segoe UI"/>
                  <a:ea typeface="Segoe UI"/>
                  <a:cs typeface="Segoe UI"/>
                </a:defRPr>
              </a:defPPr>
            </a:lstStyle>
            <a:p>
              <a:pPr algn="l">
                <a:defRPr sz="2100" b="0">
                  <a:solidFill>
                    <a:srgbClr val="637368"/>
                  </a:solidFill>
                  <a:latin typeface="Segoe UI"/>
                  <a:ea typeface="Segoe UI"/>
                  <a:cs typeface="Segoe UI"/>
                </a:defRPr>
              </a:pPr>
              <a:r>
                <a:rPr sz="2100" b="0">
                  <a:solidFill>
                    <a:srgbClr val="637368"/>
                  </a:solidFill>
                  <a:latin typeface="Segoe UI"/>
                  <a:ea typeface="Segoe UI"/>
                  <a:cs typeface="Segoe UI"/>
                </a:rPr>
                <a:t>Activer une politique adaptée, après acceptation des résultats.</a:t>
              </a:r>
            </a:p>
          </p:txBody>
        </p:sp>
      </p:grpSp>
      <p:grpSp>
        <p:nvGrpSpPr>
          <p:cNvPr id="30" name="anim_ask">
            <a:extLst>
              <a:ext uri="{FF2B5EF4-FFF2-40B4-BE49-F238E27FC236}">
                <a16:creationId xmlns:a16="http://schemas.microsoft.com/office/drawing/2014/main" id="{3396866C-CC21-5323-76E9-F9EABA789A31}"/>
              </a:ext>
            </a:extLst>
          </p:cNvPr>
          <p:cNvGrpSpPr/>
          <p:nvPr/>
        </p:nvGrpSpPr>
        <p:grpSpPr>
          <a:xfrm>
            <a:off x="1000125" y="6477000"/>
            <a:ext cx="4448175" cy="1933575"/>
            <a:chOff x="1000125" y="6477000"/>
            <a:chExt cx="4448175" cy="1933575"/>
          </a:xfrm>
        </p:grpSpPr>
        <p:sp>
          <p:nvSpPr>
            <p:cNvPr id="22" name="ask_rule">
              <a:extLst>
                <a:ext uri="{FF2B5EF4-FFF2-40B4-BE49-F238E27FC236}">
                  <a16:creationId xmlns:a16="http://schemas.microsoft.com/office/drawing/2014/main" id="{34706F4F-9602-4264-AC4A-1A9AD8126708}"/>
                </a:ext>
              </a:extLst>
            </p:cNvPr>
            <p:cNvSpPr>
              <a:spLocks/>
            </p:cNvSpPr>
            <p:nvPr/>
          </p:nvSpPr>
          <p:spPr>
            <a:xfrm>
              <a:off x="1000125" y="6477000"/>
              <a:ext cx="3943350" cy="0"/>
            </a:xfrm>
            <a:prstGeom prst="line">
              <a:avLst/>
            </a:prstGeom>
            <a:noFill/>
            <a:ln w="38100">
              <a:solidFill>
                <a:srgbClr val="285C4D"/>
              </a:solidFill>
              <a:prstDash val="solid"/>
            </a:ln>
          </p:spPr>
        </p:sp>
        <p:sp>
          <p:nvSpPr>
            <p:cNvPr id="23" name="ask">
              <a:extLst>
                <a:ext uri="{FF2B5EF4-FFF2-40B4-BE49-F238E27FC236}">
                  <a16:creationId xmlns:a16="http://schemas.microsoft.com/office/drawing/2014/main" id="{2D1B5CCA-D740-4251-A277-35D7E88A3418}"/>
                </a:ext>
              </a:extLst>
            </p:cNvPr>
            <p:cNvSpPr>
              <a:spLocks/>
            </p:cNvSpPr>
            <p:nvPr/>
          </p:nvSpPr>
          <p:spPr>
            <a:xfrm>
              <a:off x="1000125" y="6981825"/>
              <a:ext cx="4448175" cy="1428750"/>
            </a:xfrm>
            <a:prstGeom prst="rect">
              <a:avLst/>
            </a:prstGeom>
            <a:noFill/>
            <a:ln w="9525">
              <a:noFill/>
              <a:prstDash val="solid"/>
            </a:ln>
          </p:spPr>
          <p:txBody>
            <a:bodyPr wrap="square" lIns="0" tIns="0" rIns="0" bIns="0" anchor="ctr">
              <a:noAutofit/>
            </a:bodyPr>
            <a:lstStyle>
              <a:defPPr algn="l">
                <a:defRPr sz="2775" b="1">
                  <a:solidFill>
                    <a:srgbClr val="285C4D"/>
                  </a:solidFill>
                  <a:latin typeface="Segoe UI"/>
                  <a:ea typeface="Segoe UI"/>
                  <a:cs typeface="Segoe UI"/>
                </a:defRPr>
              </a:defPPr>
            </a:lstStyle>
            <a:p>
              <a:pPr algn="l">
                <a:defRPr sz="2775" b="1">
                  <a:solidFill>
                    <a:srgbClr val="285C4D"/>
                  </a:solidFill>
                  <a:latin typeface="Segoe UI"/>
                  <a:ea typeface="Segoe UI"/>
                  <a:cs typeface="Segoe UI"/>
                </a:defRPr>
              </a:pPr>
              <a:r>
                <a:rPr sz="2775" b="1">
                  <a:solidFill>
                    <a:srgbClr val="285C4D"/>
                  </a:solidFill>
                  <a:latin typeface="Segoe UI"/>
                  <a:ea typeface="Segoe UI"/>
                  <a:cs typeface="Segoe UI"/>
                </a:rPr>
                <a:t>Un partenaire</a:t>
              </a:r>
            </a:p>
            <a:p>
              <a:pPr algn="l">
                <a:defRPr sz="2775" b="1">
                  <a:solidFill>
                    <a:srgbClr val="285C4D"/>
                  </a:solidFill>
                  <a:latin typeface="Segoe UI"/>
                  <a:ea typeface="Segoe UI"/>
                  <a:cs typeface="Segoe UI"/>
                </a:defRPr>
              </a:pPr>
              <a:r>
                <a:rPr sz="2775" b="1">
                  <a:solidFill>
                    <a:srgbClr val="285C4D"/>
                  </a:solidFill>
                  <a:latin typeface="Segoe UI"/>
                  <a:ea typeface="Segoe UI"/>
                  <a:cs typeface="Segoe UI"/>
                </a:rPr>
                <a:t>pour un premier pilote.</a:t>
              </a:r>
            </a:p>
          </p:txBody>
        </p:sp>
      </p:grpSp>
      <p:sp>
        <p:nvSpPr>
          <p:cNvPr id="31" name="nav_architecture" descr="Revenir au schéma de l'architecture">
            <a:hlinkClick r:id="rId4" action="ppaction://hlinksldjump" tooltip="Revenir au schéma de l'architecture" highlightClick="1"/>
            <a:extLst>
              <a:ext uri="{FF2B5EF4-FFF2-40B4-BE49-F238E27FC236}">
                <a16:creationId xmlns:a16="http://schemas.microsoft.com/office/drawing/2014/main" id="{E2EEEB0D-DA33-A2CD-CBCE-0C99B93D61E8}"/>
              </a:ext>
            </a:extLst>
          </p:cNvPr>
          <p:cNvSpPr txBox="1"/>
          <p:nvPr/>
        </p:nvSpPr>
        <p:spPr>
          <a:xfrm>
            <a:off x="6191250" y="381000"/>
            <a:ext cx="1809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Architecture</a:t>
            </a:r>
          </a:p>
        </p:txBody>
      </p:sp>
      <p:sp>
        <p:nvSpPr>
          <p:cNvPr id="32" name="nav_demonstrations" descr="Ouvrir la comparaison des parcours">
            <a:hlinkClick r:id="rId5" action="ppaction://hlinksldjump" tooltip="Ouvrir la comparaison des parcours" highlightClick="1"/>
            <a:extLst>
              <a:ext uri="{FF2B5EF4-FFF2-40B4-BE49-F238E27FC236}">
                <a16:creationId xmlns:a16="http://schemas.microsoft.com/office/drawing/2014/main" id="{24211626-5E26-92F6-5A3C-38D5313DC93C}"/>
              </a:ext>
            </a:extLst>
          </p:cNvPr>
          <p:cNvSpPr txBox="1"/>
          <p:nvPr/>
        </p:nvSpPr>
        <p:spPr>
          <a:xfrm>
            <a:off x="8143875" y="381000"/>
            <a:ext cx="20002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Démonstrations</a:t>
            </a:r>
          </a:p>
        </p:txBody>
      </p:sp>
      <p:sp>
        <p:nvSpPr>
          <p:cNvPr id="33" name="nav_results" descr="Ouvrir les résultats et leurs limites">
            <a:hlinkClick r:id="rId6" action="ppaction://hlinksldjump" tooltip="Ouvrir les résultats et leurs limites" highlightClick="1"/>
            <a:extLst>
              <a:ext uri="{FF2B5EF4-FFF2-40B4-BE49-F238E27FC236}">
                <a16:creationId xmlns:a16="http://schemas.microsoft.com/office/drawing/2014/main" id="{C7E918BC-2D97-9D6B-4538-3C1AD102C1A6}"/>
              </a:ext>
            </a:extLst>
          </p:cNvPr>
          <p:cNvSpPr txBox="1"/>
          <p:nvPr/>
        </p:nvSpPr>
        <p:spPr>
          <a:xfrm>
            <a:off x="10287000" y="381000"/>
            <a:ext cx="1428750" cy="230832"/>
          </a:xfrm>
          <a:prstGeom prst="rect">
            <a:avLst/>
          </a:prstGeom>
          <a:noFill/>
        </p:spPr>
        <p:txBody>
          <a:bodyPr vert="horz" lIns="0" tIns="0" rIns="0" bIns="0" rtlCol="0">
            <a:spAutoFit/>
          </a:bodyPr>
          <a:lstStyle/>
          <a:p>
            <a:pPr algn="ctr"/>
            <a:r>
              <a:rPr lang="fr-FR" sz="1500">
                <a:solidFill>
                  <a:srgbClr val="285C4D"/>
                </a:solidFill>
                <a:latin typeface="Segoe UI" panose="020B0502040204020203" pitchFamily="34" charset="0"/>
              </a:rPr>
              <a:t>Résultats</a:t>
            </a:r>
          </a:p>
        </p:txBody>
      </p:sp>
      <p:sp>
        <p:nvSpPr>
          <p:cNvPr id="34" name="nav_local_app">
            <a:hlinkClick r:id="rId7" tooltip="Ouvrir le site local dans le navigateur, si Docker fonctionne"/>
            <a:extLst>
              <a:ext uri="{FF2B5EF4-FFF2-40B4-BE49-F238E27FC236}">
                <a16:creationId xmlns:a16="http://schemas.microsoft.com/office/drawing/2014/main" id="{B9513744-870D-63EF-9B80-F735F0BD73E5}"/>
              </a:ext>
            </a:extLst>
          </p:cNvPr>
          <p:cNvSpPr/>
          <p:nvPr/>
        </p:nvSpPr>
        <p:spPr>
          <a:xfrm>
            <a:off x="990600" y="8591550"/>
            <a:ext cx="4048125" cy="571500"/>
          </a:xfrm>
          <a:prstGeom prst="rect">
            <a:avLst/>
          </a:prstGeom>
          <a:solidFill>
            <a:srgbClr val="285C4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a:solidFill>
                  <a:srgbClr val="FBF9F3"/>
                </a:solidFill>
                <a:latin typeface="Segoe UI" panose="020B0502040204020203" pitchFamily="34" charset="0"/>
              </a:rPr>
              <a:t>Ouvrir l'application locale</a:t>
            </a:r>
          </a:p>
        </p:txBody>
      </p:sp>
    </p:spTree>
    <p:extLst>
      <p:ext uri="{BB962C8B-B14F-4D97-AF65-F5344CB8AC3E}">
        <p14:creationId xmlns:p14="http://schemas.microsoft.com/office/powerpoint/2010/main" val="1616506013"/>
      </p:ext>
    </p:extLst>
  </p:cSld>
  <p:clrMapOvr>
    <a:masterClrMapping/>
  </p:clrMapOvr>
  <mc:AlternateContent xmlns:mc="http://schemas.openxmlformats.org/markup-compatibility/2006">
    <mc:Choice xmlns:p14="http://schemas.microsoft.com/office/powerpoint/2010/main" Requires="p14">
      <p:transition p14:dur="4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25"/>
                                        </p:tgtEl>
                                        <p:attrNameLst>
                                          <p:attrName>style.visibility</p:attrName>
                                        </p:attrNameLst>
                                      </p:cBhvr>
                                      <p:to>
                                        <p:strVal val="visible"/>
                                      </p:to>
                                    </p:set>
                                    <p:animMotion origin="layout" path="M 0 0.01296296 L 0 0 E" pathEditMode="relative">
                                      <p:cBhvr from="" to="">
                                        <p:cTn id="10" dur="500" fill="hold">
                                          <p:stCondLst>
                                            <p:cond delay="0"/>
                                          </p:stCondLst>
                                        </p:cTn>
                                        <p:tgtEl>
                                          <p:spTgt spid="25"/>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350"/>
                                        <p:tgtEl>
                                          <p:spTgt spid="26"/>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26"/>
                                        </p:tgtEl>
                                        <p:attrNameLst>
                                          <p:attrName>style.visibility</p:attrName>
                                        </p:attrNameLst>
                                      </p:cBhvr>
                                      <p:to>
                                        <p:strVal val="visible"/>
                                      </p:to>
                                    </p:set>
                                    <p:animMotion origin="layout" path="M 0 0.01296296 L 0 0 E" pathEditMode="relative">
                                      <p:cBhvr from="" to="">
                                        <p:cTn id="18" dur="450" fill="hold">
                                          <p:stCondLst>
                                            <p:cond delay="0"/>
                                          </p:stCondLst>
                                        </p:cTn>
                                        <p:tgtEl>
                                          <p:spTgt spid="26"/>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350"/>
                                        <p:tgtEl>
                                          <p:spTgt spid="27"/>
                                        </p:tgtEl>
                                      </p:cBhvr>
                                    </p:animEffect>
                                  </p:childTnLst>
                                </p:cTn>
                              </p:par>
                              <p:par>
                                <p:cTn id="24" presetID="0" presetClass="entr" presetSubtype="0" accel="22000" decel="25000" fill="hold" nodeType="withEffect">
                                  <p:stCondLst>
                                    <p:cond delay="0"/>
                                  </p:stCondLst>
                                  <p:childTnLst>
                                    <p:set>
                                      <p:cBhvr>
                                        <p:cTn id="25" dur="1" fill="hold">
                                          <p:stCondLst>
                                            <p:cond delay="449"/>
                                          </p:stCondLst>
                                        </p:cTn>
                                        <p:tgtEl>
                                          <p:spTgt spid="27"/>
                                        </p:tgtEl>
                                        <p:attrNameLst>
                                          <p:attrName>style.visibility</p:attrName>
                                        </p:attrNameLst>
                                      </p:cBhvr>
                                      <p:to>
                                        <p:strVal val="visible"/>
                                      </p:to>
                                    </p:set>
                                    <p:animMotion origin="layout" path="M 0 0.01296296 L 0 0 E" pathEditMode="relative">
                                      <p:cBhvr from="" to="">
                                        <p:cTn id="26" dur="450" fill="hold">
                                          <p:stCondLst>
                                            <p:cond delay="0"/>
                                          </p:stCondLst>
                                        </p:cTn>
                                        <p:tgtEl>
                                          <p:spTgt spid="27"/>
                                        </p:tgtEl>
                                        <p:attrNameLst>
                                          <p:attrName>ppt_x</p:attrName>
                                          <p:attrName>ppt_y</p:attrName>
                                        </p:attrNameLst>
                                      </p:cBhvr>
                                    </p:animMotion>
                                  </p:childTnLst>
                                </p:cTn>
                              </p:par>
                            </p:childTnLst>
                          </p:cTn>
                        </p:par>
                        <p:par>
                          <p:cTn id="27" fill="hold">
                            <p:stCondLst>
                              <p:cond delay="450"/>
                            </p:stCondLst>
                            <p:childTnLst>
                              <p:par>
                                <p:cTn id="28" presetID="22" presetClass="entr" presetSubtype="4" fill="hold" nodeType="after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wipe(down)">
                                      <p:cBhvr>
                                        <p:cTn id="30" dur="500"/>
                                        <p:tgtEl>
                                          <p:spTgt spid="28"/>
                                        </p:tgtEl>
                                      </p:cBhvr>
                                    </p:animEffect>
                                  </p:childTnLst>
                                </p:cTn>
                              </p:par>
                            </p:childTnLst>
                          </p:cTn>
                        </p:par>
                        <p:par>
                          <p:cTn id="31" fill="hold">
                            <p:stCondLst>
                              <p:cond delay="950"/>
                            </p:stCondLst>
                            <p:childTnLst>
                              <p:par>
                                <p:cTn id="32" presetID="22" presetClass="entr" presetSubtype="4" fill="hold"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down)">
                                      <p:cBhvr>
                                        <p:cTn id="34" dur="50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350"/>
                                        <p:tgtEl>
                                          <p:spTgt spid="30"/>
                                        </p:tgtEl>
                                      </p:cBhvr>
                                    </p:animEffect>
                                  </p:childTnLst>
                                </p:cTn>
                              </p:par>
                              <p:par>
                                <p:cTn id="40" presetID="0" presetClass="entr" presetSubtype="0" accel="22000" decel="25000" fill="hold" nodeType="withEffect">
                                  <p:stCondLst>
                                    <p:cond delay="0"/>
                                  </p:stCondLst>
                                  <p:childTnLst>
                                    <p:set>
                                      <p:cBhvr>
                                        <p:cTn id="41" dur="1" fill="hold">
                                          <p:stCondLst>
                                            <p:cond delay="449"/>
                                          </p:stCondLst>
                                        </p:cTn>
                                        <p:tgtEl>
                                          <p:spTgt spid="30"/>
                                        </p:tgtEl>
                                        <p:attrNameLst>
                                          <p:attrName>style.visibility</p:attrName>
                                        </p:attrNameLst>
                                      </p:cBhvr>
                                      <p:to>
                                        <p:strVal val="visible"/>
                                      </p:to>
                                    </p:set>
                                    <p:animMotion origin="layout" path="M 0 0.01296296 L 0 0 E" pathEditMode="relative">
                                      <p:cBhvr from="" to="">
                                        <p:cTn id="42" dur="450" fill="hold">
                                          <p:stCondLst>
                                            <p:cond delay="0"/>
                                          </p:stCondLst>
                                        </p:cTn>
                                        <p:tgtEl>
                                          <p:spTgt spid="3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2306</Words>
  <Application>Microsoft Office PowerPoint</Application>
  <PresentationFormat>Personnalisé</PresentationFormat>
  <Paragraphs>287</Paragraphs>
  <Slides>9</Slides>
  <Notes>9</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9</vt:i4>
      </vt:variant>
    </vt:vector>
  </HeadingPairs>
  <TitlesOfParts>
    <vt:vector size="19" baseType="lpstr">
      <vt:lpstr>Century Gothic</vt:lpstr>
      <vt:lpstr>Open Sauce Medium</vt:lpstr>
      <vt:lpstr>Open Sauce Bold</vt:lpstr>
      <vt:lpstr>Open Sauce</vt:lpstr>
      <vt:lpstr>Consolas</vt:lpstr>
      <vt:lpstr>Segoe UI</vt:lpstr>
      <vt:lpstr>Calibri</vt:lpstr>
      <vt:lpstr>Arial</vt:lpstr>
      <vt:lpstr>Aptos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CyberShield AI</dc:title>
  <cp:lastModifiedBy>Doucoure Sékou</cp:lastModifiedBy>
  <cp:revision>4</cp:revision>
  <dcterms:created xsi:type="dcterms:W3CDTF">2006-08-16T00:00:00Z</dcterms:created>
  <dcterms:modified xsi:type="dcterms:W3CDTF">2026-10-19T14:58:55Z</dcterms:modified>
  <dc:identifier>DAHYMlsB8WM</dc:identifier>
</cp:coreProperties>
</file>